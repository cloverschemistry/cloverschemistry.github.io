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1"/>
  </p:notesMasterIdLst>
  <p:sldIdLst>
    <p:sldId id="257" r:id="rId2"/>
    <p:sldId id="364" r:id="rId3"/>
    <p:sldId id="365" r:id="rId4"/>
    <p:sldId id="367" r:id="rId5"/>
    <p:sldId id="369" r:id="rId6"/>
    <p:sldId id="294" r:id="rId7"/>
    <p:sldId id="269" r:id="rId8"/>
    <p:sldId id="304" r:id="rId9"/>
    <p:sldId id="373" r:id="rId10"/>
    <p:sldId id="302" r:id="rId11"/>
    <p:sldId id="308" r:id="rId12"/>
    <p:sldId id="283" r:id="rId13"/>
    <p:sldId id="381" r:id="rId14"/>
    <p:sldId id="293" r:id="rId15"/>
    <p:sldId id="380" r:id="rId16"/>
    <p:sldId id="313" r:id="rId17"/>
    <p:sldId id="314" r:id="rId18"/>
    <p:sldId id="315" r:id="rId19"/>
    <p:sldId id="376" r:id="rId20"/>
    <p:sldId id="395" r:id="rId21"/>
    <p:sldId id="396" r:id="rId22"/>
    <p:sldId id="340" r:id="rId23"/>
    <p:sldId id="398" r:id="rId24"/>
    <p:sldId id="345" r:id="rId25"/>
    <p:sldId id="341" r:id="rId26"/>
    <p:sldId id="342" r:id="rId27"/>
    <p:sldId id="399" r:id="rId28"/>
    <p:sldId id="382" r:id="rId29"/>
    <p:sldId id="393" r:id="rId30"/>
    <p:sldId id="357" r:id="rId31"/>
    <p:sldId id="355" r:id="rId32"/>
    <p:sldId id="387" r:id="rId33"/>
    <p:sldId id="378" r:id="rId34"/>
    <p:sldId id="379" r:id="rId35"/>
    <p:sldId id="347" r:id="rId36"/>
    <p:sldId id="353" r:id="rId37"/>
    <p:sldId id="358" r:id="rId38"/>
    <p:sldId id="386" r:id="rId39"/>
    <p:sldId id="274" r:id="rId4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44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292EED4-A14A-40D6-903E-8D1009754F8C}" v="580" dt="2024-01-08T00:06:09.21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13" autoAdjust="0"/>
    <p:restoredTop sz="89083" autoAdjust="0"/>
  </p:normalViewPr>
  <p:slideViewPr>
    <p:cSldViewPr snapToGrid="0">
      <p:cViewPr varScale="1">
        <p:scale>
          <a:sx n="95" d="100"/>
          <a:sy n="95" d="100"/>
        </p:scale>
        <p:origin x="378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47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microsoft.com/office/2016/11/relationships/changesInfo" Target="changesInfos/changesInfo1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exie Clover" userId="98a9d3d83e4a3356" providerId="LiveId" clId="{9292EED4-A14A-40D6-903E-8D1009754F8C}"/>
    <pc:docChg chg="undo custSel addSld delSld modSld sldOrd">
      <pc:chgData name="Alexie Clover" userId="98a9d3d83e4a3356" providerId="LiveId" clId="{9292EED4-A14A-40D6-903E-8D1009754F8C}" dt="2024-01-08T05:38:04.649" v="2527" actId="947"/>
      <pc:docMkLst>
        <pc:docMk/>
      </pc:docMkLst>
      <pc:sldChg chg="modSp mod">
        <pc:chgData name="Alexie Clover" userId="98a9d3d83e4a3356" providerId="LiveId" clId="{9292EED4-A14A-40D6-903E-8D1009754F8C}" dt="2024-01-07T22:47:17.331" v="1804" actId="1076"/>
        <pc:sldMkLst>
          <pc:docMk/>
          <pc:sldMk cId="655748843" sldId="257"/>
        </pc:sldMkLst>
        <pc:spChg chg="mod">
          <ac:chgData name="Alexie Clover" userId="98a9d3d83e4a3356" providerId="LiveId" clId="{9292EED4-A14A-40D6-903E-8D1009754F8C}" dt="2024-01-07T22:47:17.331" v="1804" actId="1076"/>
          <ac:spMkLst>
            <pc:docMk/>
            <pc:sldMk cId="655748843" sldId="257"/>
            <ac:spMk id="2" creationId="{46B536F8-7965-7E43-B00C-99F81C06E2E4}"/>
          </ac:spMkLst>
        </pc:spChg>
      </pc:sldChg>
      <pc:sldChg chg="del">
        <pc:chgData name="Alexie Clover" userId="98a9d3d83e4a3356" providerId="LiveId" clId="{9292EED4-A14A-40D6-903E-8D1009754F8C}" dt="2024-01-03T04:28:03.446" v="15" actId="47"/>
        <pc:sldMkLst>
          <pc:docMk/>
          <pc:sldMk cId="2859449061" sldId="258"/>
        </pc:sldMkLst>
      </pc:sldChg>
      <pc:sldChg chg="modSp mod ord">
        <pc:chgData name="Alexie Clover" userId="98a9d3d83e4a3356" providerId="LiveId" clId="{9292EED4-A14A-40D6-903E-8D1009754F8C}" dt="2024-01-05T20:13:58.086" v="216" actId="20577"/>
        <pc:sldMkLst>
          <pc:docMk/>
          <pc:sldMk cId="1790874191" sldId="269"/>
        </pc:sldMkLst>
        <pc:spChg chg="mod">
          <ac:chgData name="Alexie Clover" userId="98a9d3d83e4a3356" providerId="LiveId" clId="{9292EED4-A14A-40D6-903E-8D1009754F8C}" dt="2024-01-05T20:13:58.086" v="216" actId="20577"/>
          <ac:spMkLst>
            <pc:docMk/>
            <pc:sldMk cId="1790874191" sldId="269"/>
            <ac:spMk id="8" creationId="{2C1206A4-8E9F-8827-DC4E-4FF51846FB34}"/>
          </ac:spMkLst>
        </pc:spChg>
      </pc:sldChg>
      <pc:sldChg chg="modSp mod">
        <pc:chgData name="Alexie Clover" userId="98a9d3d83e4a3356" providerId="LiveId" clId="{9292EED4-A14A-40D6-903E-8D1009754F8C}" dt="2024-01-08T02:54:06.347" v="2465" actId="20577"/>
        <pc:sldMkLst>
          <pc:docMk/>
          <pc:sldMk cId="2209047087" sldId="274"/>
        </pc:sldMkLst>
        <pc:spChg chg="mod">
          <ac:chgData name="Alexie Clover" userId="98a9d3d83e4a3356" providerId="LiveId" clId="{9292EED4-A14A-40D6-903E-8D1009754F8C}" dt="2024-01-08T02:54:06.347" v="2465" actId="20577"/>
          <ac:spMkLst>
            <pc:docMk/>
            <pc:sldMk cId="2209047087" sldId="274"/>
            <ac:spMk id="3" creationId="{2413C7E5-5F83-1C36-2111-220FE0F7C261}"/>
          </ac:spMkLst>
        </pc:spChg>
      </pc:sldChg>
      <pc:sldChg chg="del">
        <pc:chgData name="Alexie Clover" userId="98a9d3d83e4a3356" providerId="LiveId" clId="{9292EED4-A14A-40D6-903E-8D1009754F8C}" dt="2024-01-03T04:26:48.638" v="7" actId="47"/>
        <pc:sldMkLst>
          <pc:docMk/>
          <pc:sldMk cId="2228302576" sldId="278"/>
        </pc:sldMkLst>
      </pc:sldChg>
      <pc:sldChg chg="del">
        <pc:chgData name="Alexie Clover" userId="98a9d3d83e4a3356" providerId="LiveId" clId="{9292EED4-A14A-40D6-903E-8D1009754F8C}" dt="2024-01-03T04:26:49.278" v="8" actId="47"/>
        <pc:sldMkLst>
          <pc:docMk/>
          <pc:sldMk cId="648314373" sldId="279"/>
        </pc:sldMkLst>
      </pc:sldChg>
      <pc:sldChg chg="del">
        <pc:chgData name="Alexie Clover" userId="98a9d3d83e4a3356" providerId="LiveId" clId="{9292EED4-A14A-40D6-903E-8D1009754F8C}" dt="2024-01-03T04:26:49.907" v="9" actId="47"/>
        <pc:sldMkLst>
          <pc:docMk/>
          <pc:sldMk cId="714917803" sldId="280"/>
        </pc:sldMkLst>
      </pc:sldChg>
      <pc:sldChg chg="del">
        <pc:chgData name="Alexie Clover" userId="98a9d3d83e4a3356" providerId="LiveId" clId="{9292EED4-A14A-40D6-903E-8D1009754F8C}" dt="2024-01-03T04:26:50.711" v="10" actId="47"/>
        <pc:sldMkLst>
          <pc:docMk/>
          <pc:sldMk cId="3064713191" sldId="285"/>
        </pc:sldMkLst>
      </pc:sldChg>
      <pc:sldChg chg="del">
        <pc:chgData name="Alexie Clover" userId="98a9d3d83e4a3356" providerId="LiveId" clId="{9292EED4-A14A-40D6-903E-8D1009754F8C}" dt="2024-01-03T04:26:53.823" v="12" actId="47"/>
        <pc:sldMkLst>
          <pc:docMk/>
          <pc:sldMk cId="4010784831" sldId="286"/>
        </pc:sldMkLst>
      </pc:sldChg>
      <pc:sldChg chg="del">
        <pc:chgData name="Alexie Clover" userId="98a9d3d83e4a3356" providerId="LiveId" clId="{9292EED4-A14A-40D6-903E-8D1009754F8C}" dt="2024-01-03T04:26:51.630" v="11" actId="47"/>
        <pc:sldMkLst>
          <pc:docMk/>
          <pc:sldMk cId="3404530653" sldId="287"/>
        </pc:sldMkLst>
      </pc:sldChg>
      <pc:sldChg chg="del">
        <pc:chgData name="Alexie Clover" userId="98a9d3d83e4a3356" providerId="LiveId" clId="{9292EED4-A14A-40D6-903E-8D1009754F8C}" dt="2024-01-03T04:26:47.357" v="6" actId="47"/>
        <pc:sldMkLst>
          <pc:docMk/>
          <pc:sldMk cId="4070500987" sldId="289"/>
        </pc:sldMkLst>
      </pc:sldChg>
      <pc:sldChg chg="del">
        <pc:chgData name="Alexie Clover" userId="98a9d3d83e4a3356" providerId="LiveId" clId="{9292EED4-A14A-40D6-903E-8D1009754F8C}" dt="2024-01-03T04:28:21.029" v="16" actId="47"/>
        <pc:sldMkLst>
          <pc:docMk/>
          <pc:sldMk cId="2874743537" sldId="292"/>
        </pc:sldMkLst>
      </pc:sldChg>
      <pc:sldChg chg="modSp ord">
        <pc:chgData name="Alexie Clover" userId="98a9d3d83e4a3356" providerId="LiveId" clId="{9292EED4-A14A-40D6-903E-8D1009754F8C}" dt="2024-01-05T20:19:16.083" v="320"/>
        <pc:sldMkLst>
          <pc:docMk/>
          <pc:sldMk cId="104518578" sldId="293"/>
        </pc:sldMkLst>
        <pc:graphicFrameChg chg="mod">
          <ac:chgData name="Alexie Clover" userId="98a9d3d83e4a3356" providerId="LiveId" clId="{9292EED4-A14A-40D6-903E-8D1009754F8C}" dt="2024-01-05T20:19:16.083" v="320"/>
          <ac:graphicFrameMkLst>
            <pc:docMk/>
            <pc:sldMk cId="104518578" sldId="293"/>
            <ac:graphicFrameMk id="9" creationId="{1C9F2BB7-046F-B7A0-B8FF-3EA2173D487D}"/>
          </ac:graphicFrameMkLst>
        </pc:graphicFrameChg>
      </pc:sldChg>
      <pc:sldChg chg="addSp delSp modSp add del mod">
        <pc:chgData name="Alexie Clover" userId="98a9d3d83e4a3356" providerId="LiveId" clId="{9292EED4-A14A-40D6-903E-8D1009754F8C}" dt="2024-01-05T20:14:08.030" v="245" actId="1036"/>
        <pc:sldMkLst>
          <pc:docMk/>
          <pc:sldMk cId="2098814262" sldId="294"/>
        </pc:sldMkLst>
        <pc:spChg chg="mod">
          <ac:chgData name="Alexie Clover" userId="98a9d3d83e4a3356" providerId="LiveId" clId="{9292EED4-A14A-40D6-903E-8D1009754F8C}" dt="2024-01-05T20:11:09.639" v="131" actId="20577"/>
          <ac:spMkLst>
            <pc:docMk/>
            <pc:sldMk cId="2098814262" sldId="294"/>
            <ac:spMk id="9" creationId="{3B0896B7-6797-56AE-C592-72B40C613EB0}"/>
          </ac:spMkLst>
        </pc:spChg>
        <pc:spChg chg="mod">
          <ac:chgData name="Alexie Clover" userId="98a9d3d83e4a3356" providerId="LiveId" clId="{9292EED4-A14A-40D6-903E-8D1009754F8C}" dt="2024-01-05T20:14:08.030" v="245" actId="1036"/>
          <ac:spMkLst>
            <pc:docMk/>
            <pc:sldMk cId="2098814262" sldId="294"/>
            <ac:spMk id="11" creationId="{2FCBC246-89EC-74A9-8098-95B752D1F5E7}"/>
          </ac:spMkLst>
        </pc:spChg>
        <pc:graphicFrameChg chg="del">
          <ac:chgData name="Alexie Clover" userId="98a9d3d83e4a3356" providerId="LiveId" clId="{9292EED4-A14A-40D6-903E-8D1009754F8C}" dt="2024-01-05T19:46:46.079" v="55" actId="478"/>
          <ac:graphicFrameMkLst>
            <pc:docMk/>
            <pc:sldMk cId="2098814262" sldId="294"/>
            <ac:graphicFrameMk id="2" creationId="{D6A08A26-24EB-49DE-362F-450C460D8F50}"/>
          </ac:graphicFrameMkLst>
        </pc:graphicFrameChg>
        <pc:graphicFrameChg chg="add mod">
          <ac:chgData name="Alexie Clover" userId="98a9d3d83e4a3356" providerId="LiveId" clId="{9292EED4-A14A-40D6-903E-8D1009754F8C}" dt="2024-01-05T20:14:04.821" v="237" actId="1035"/>
          <ac:graphicFrameMkLst>
            <pc:docMk/>
            <pc:sldMk cId="2098814262" sldId="294"/>
            <ac:graphicFrameMk id="15" creationId="{2321C48F-BA25-B255-57A7-0A23EE9BB2DD}"/>
          </ac:graphicFrameMkLst>
        </pc:graphicFrameChg>
        <pc:graphicFrameChg chg="mod">
          <ac:chgData name="Alexie Clover" userId="98a9d3d83e4a3356" providerId="LiveId" clId="{9292EED4-A14A-40D6-903E-8D1009754F8C}" dt="2024-01-05T19:49:42.076" v="97" actId="1076"/>
          <ac:graphicFrameMkLst>
            <pc:docMk/>
            <pc:sldMk cId="2098814262" sldId="294"/>
            <ac:graphicFrameMk id="18" creationId="{D56B10A1-DEBC-2C47-D06C-784FEDB91FD4}"/>
          </ac:graphicFrameMkLst>
        </pc:graphicFrameChg>
      </pc:sldChg>
      <pc:sldChg chg="del">
        <pc:chgData name="Alexie Clover" userId="98a9d3d83e4a3356" providerId="LiveId" clId="{9292EED4-A14A-40D6-903E-8D1009754F8C}" dt="2024-01-03T04:26:38.621" v="1" actId="47"/>
        <pc:sldMkLst>
          <pc:docMk/>
          <pc:sldMk cId="918544286" sldId="296"/>
        </pc:sldMkLst>
      </pc:sldChg>
      <pc:sldChg chg="del">
        <pc:chgData name="Alexie Clover" userId="98a9d3d83e4a3356" providerId="LiveId" clId="{9292EED4-A14A-40D6-903E-8D1009754F8C}" dt="2024-01-03T04:26:41.921" v="4" actId="47"/>
        <pc:sldMkLst>
          <pc:docMk/>
          <pc:sldMk cId="3176661105" sldId="297"/>
        </pc:sldMkLst>
      </pc:sldChg>
      <pc:sldChg chg="del">
        <pc:chgData name="Alexie Clover" userId="98a9d3d83e4a3356" providerId="LiveId" clId="{9292EED4-A14A-40D6-903E-8D1009754F8C}" dt="2024-01-03T04:26:39.519" v="2" actId="47"/>
        <pc:sldMkLst>
          <pc:docMk/>
          <pc:sldMk cId="4269052641" sldId="298"/>
        </pc:sldMkLst>
      </pc:sldChg>
      <pc:sldChg chg="del">
        <pc:chgData name="Alexie Clover" userId="98a9d3d83e4a3356" providerId="LiveId" clId="{9292EED4-A14A-40D6-903E-8D1009754F8C}" dt="2024-01-03T04:26:58.020" v="14" actId="47"/>
        <pc:sldMkLst>
          <pc:docMk/>
          <pc:sldMk cId="1680710902" sldId="300"/>
        </pc:sldMkLst>
      </pc:sldChg>
      <pc:sldChg chg="del">
        <pc:chgData name="Alexie Clover" userId="98a9d3d83e4a3356" providerId="LiveId" clId="{9292EED4-A14A-40D6-903E-8D1009754F8C}" dt="2024-01-03T04:29:22.612" v="18" actId="47"/>
        <pc:sldMkLst>
          <pc:docMk/>
          <pc:sldMk cId="3749689239" sldId="301"/>
        </pc:sldMkLst>
      </pc:sldChg>
      <pc:sldChg chg="del">
        <pc:chgData name="Alexie Clover" userId="98a9d3d83e4a3356" providerId="LiveId" clId="{9292EED4-A14A-40D6-903E-8D1009754F8C}" dt="2024-01-03T04:26:41.376" v="3" actId="47"/>
        <pc:sldMkLst>
          <pc:docMk/>
          <pc:sldMk cId="1808933822" sldId="303"/>
        </pc:sldMkLst>
      </pc:sldChg>
      <pc:sldChg chg="del">
        <pc:chgData name="Alexie Clover" userId="98a9d3d83e4a3356" providerId="LiveId" clId="{9292EED4-A14A-40D6-903E-8D1009754F8C}" dt="2024-01-03T04:26:56.175" v="13" actId="47"/>
        <pc:sldMkLst>
          <pc:docMk/>
          <pc:sldMk cId="3363892600" sldId="307"/>
        </pc:sldMkLst>
      </pc:sldChg>
      <pc:sldChg chg="del">
        <pc:chgData name="Alexie Clover" userId="98a9d3d83e4a3356" providerId="LiveId" clId="{9292EED4-A14A-40D6-903E-8D1009754F8C}" dt="2024-01-05T20:15:10.826" v="252" actId="47"/>
        <pc:sldMkLst>
          <pc:docMk/>
          <pc:sldMk cId="2456576704" sldId="309"/>
        </pc:sldMkLst>
      </pc:sldChg>
      <pc:sldChg chg="del">
        <pc:chgData name="Alexie Clover" userId="98a9d3d83e4a3356" providerId="LiveId" clId="{9292EED4-A14A-40D6-903E-8D1009754F8C}" dt="2024-01-08T02:51:38.358" v="2449" actId="47"/>
        <pc:sldMkLst>
          <pc:docMk/>
          <pc:sldMk cId="871930502" sldId="311"/>
        </pc:sldMkLst>
      </pc:sldChg>
      <pc:sldChg chg="del">
        <pc:chgData name="Alexie Clover" userId="98a9d3d83e4a3356" providerId="LiveId" clId="{9292EED4-A14A-40D6-903E-8D1009754F8C}" dt="2024-01-03T04:35:56.510" v="20" actId="47"/>
        <pc:sldMkLst>
          <pc:docMk/>
          <pc:sldMk cId="1471597676" sldId="339"/>
        </pc:sldMkLst>
      </pc:sldChg>
      <pc:sldChg chg="modSp mod">
        <pc:chgData name="Alexie Clover" userId="98a9d3d83e4a3356" providerId="LiveId" clId="{9292EED4-A14A-40D6-903E-8D1009754F8C}" dt="2024-01-05T21:02:36.169" v="330" actId="20577"/>
        <pc:sldMkLst>
          <pc:docMk/>
          <pc:sldMk cId="3658750721" sldId="340"/>
        </pc:sldMkLst>
        <pc:spChg chg="mod">
          <ac:chgData name="Alexie Clover" userId="98a9d3d83e4a3356" providerId="LiveId" clId="{9292EED4-A14A-40D6-903E-8D1009754F8C}" dt="2024-01-05T21:02:36.169" v="330" actId="20577"/>
          <ac:spMkLst>
            <pc:docMk/>
            <pc:sldMk cId="3658750721" sldId="340"/>
            <ac:spMk id="12" creationId="{442B9392-1751-81B6-B6DF-9C063740138C}"/>
          </ac:spMkLst>
        </pc:spChg>
      </pc:sldChg>
      <pc:sldChg chg="modSp mod">
        <pc:chgData name="Alexie Clover" userId="98a9d3d83e4a3356" providerId="LiveId" clId="{9292EED4-A14A-40D6-903E-8D1009754F8C}" dt="2024-01-07T23:53:05.961" v="2155" actId="20577"/>
        <pc:sldMkLst>
          <pc:docMk/>
          <pc:sldMk cId="2172289789" sldId="342"/>
        </pc:sldMkLst>
        <pc:spChg chg="mod">
          <ac:chgData name="Alexie Clover" userId="98a9d3d83e4a3356" providerId="LiveId" clId="{9292EED4-A14A-40D6-903E-8D1009754F8C}" dt="2024-01-07T23:53:05.961" v="2155" actId="20577"/>
          <ac:spMkLst>
            <pc:docMk/>
            <pc:sldMk cId="2172289789" sldId="342"/>
            <ac:spMk id="13" creationId="{D981F7EA-1A61-FCC7-036E-C13BF9D5B3B8}"/>
          </ac:spMkLst>
        </pc:spChg>
        <pc:graphicFrameChg chg="mod">
          <ac:chgData name="Alexie Clover" userId="98a9d3d83e4a3356" providerId="LiveId" clId="{9292EED4-A14A-40D6-903E-8D1009754F8C}" dt="2024-01-07T19:24:27.213" v="437"/>
          <ac:graphicFrameMkLst>
            <pc:docMk/>
            <pc:sldMk cId="2172289789" sldId="342"/>
            <ac:graphicFrameMk id="10" creationId="{D6122AC6-ABB5-25BF-57BC-80E14C5E8C36}"/>
          </ac:graphicFrameMkLst>
        </pc:graphicFrameChg>
      </pc:sldChg>
      <pc:sldChg chg="del">
        <pc:chgData name="Alexie Clover" userId="98a9d3d83e4a3356" providerId="LiveId" clId="{9292EED4-A14A-40D6-903E-8D1009754F8C}" dt="2024-01-07T20:06:46.210" v="765" actId="47"/>
        <pc:sldMkLst>
          <pc:docMk/>
          <pc:sldMk cId="2761219706" sldId="344"/>
        </pc:sldMkLst>
      </pc:sldChg>
      <pc:sldChg chg="modSp mod ord">
        <pc:chgData name="Alexie Clover" userId="98a9d3d83e4a3356" providerId="LiveId" clId="{9292EED4-A14A-40D6-903E-8D1009754F8C}" dt="2024-01-06T23:16:15.086" v="427" actId="1076"/>
        <pc:sldMkLst>
          <pc:docMk/>
          <pc:sldMk cId="2714581281" sldId="345"/>
        </pc:sldMkLst>
        <pc:graphicFrameChg chg="mod">
          <ac:chgData name="Alexie Clover" userId="98a9d3d83e4a3356" providerId="LiveId" clId="{9292EED4-A14A-40D6-903E-8D1009754F8C}" dt="2024-01-06T23:16:15.086" v="427" actId="1076"/>
          <ac:graphicFrameMkLst>
            <pc:docMk/>
            <pc:sldMk cId="2714581281" sldId="345"/>
            <ac:graphicFrameMk id="9" creationId="{A927EA3F-3290-60A5-3739-3F735C246C54}"/>
          </ac:graphicFrameMkLst>
        </pc:graphicFrameChg>
      </pc:sldChg>
      <pc:sldChg chg="addSp modSp del mod ord">
        <pc:chgData name="Alexie Clover" userId="98a9d3d83e4a3356" providerId="LiveId" clId="{9292EED4-A14A-40D6-903E-8D1009754F8C}" dt="2024-01-08T03:45:16.397" v="2525" actId="47"/>
        <pc:sldMkLst>
          <pc:docMk/>
          <pc:sldMk cId="1004632496" sldId="346"/>
        </pc:sldMkLst>
        <pc:spChg chg="add mod">
          <ac:chgData name="Alexie Clover" userId="98a9d3d83e4a3356" providerId="LiveId" clId="{9292EED4-A14A-40D6-903E-8D1009754F8C}" dt="2024-01-07T21:46:11.827" v="1568" actId="1076"/>
          <ac:spMkLst>
            <pc:docMk/>
            <pc:sldMk cId="1004632496" sldId="346"/>
            <ac:spMk id="10" creationId="{0AD7A8B6-87CD-96E5-5992-A59F693F7F34}"/>
          </ac:spMkLst>
        </pc:spChg>
      </pc:sldChg>
      <pc:sldChg chg="addSp modSp ord">
        <pc:chgData name="Alexie Clover" userId="98a9d3d83e4a3356" providerId="LiveId" clId="{9292EED4-A14A-40D6-903E-8D1009754F8C}" dt="2024-01-07T21:47:43.944" v="1590"/>
        <pc:sldMkLst>
          <pc:docMk/>
          <pc:sldMk cId="2113248859" sldId="347"/>
        </pc:sldMkLst>
        <pc:spChg chg="add mod">
          <ac:chgData name="Alexie Clover" userId="98a9d3d83e4a3356" providerId="LiveId" clId="{9292EED4-A14A-40D6-903E-8D1009754F8C}" dt="2024-01-07T21:47:43.944" v="1590"/>
          <ac:spMkLst>
            <pc:docMk/>
            <pc:sldMk cId="2113248859" sldId="347"/>
            <ac:spMk id="14" creationId="{1BBC5DFC-ABB1-D5E0-7205-8EE02889CC78}"/>
          </ac:spMkLst>
        </pc:spChg>
      </pc:sldChg>
      <pc:sldChg chg="addSp modSp mod ord">
        <pc:chgData name="Alexie Clover" userId="98a9d3d83e4a3356" providerId="LiveId" clId="{9292EED4-A14A-40D6-903E-8D1009754F8C}" dt="2024-01-07T21:48:18.791" v="1591" actId="20577"/>
        <pc:sldMkLst>
          <pc:docMk/>
          <pc:sldMk cId="11169249" sldId="353"/>
        </pc:sldMkLst>
        <pc:spChg chg="mod">
          <ac:chgData name="Alexie Clover" userId="98a9d3d83e4a3356" providerId="LiveId" clId="{9292EED4-A14A-40D6-903E-8D1009754F8C}" dt="2024-01-07T21:48:18.791" v="1591" actId="20577"/>
          <ac:spMkLst>
            <pc:docMk/>
            <pc:sldMk cId="11169249" sldId="353"/>
            <ac:spMk id="11" creationId="{CF5D8F31-2100-E985-E138-86D5C1012FAF}"/>
          </ac:spMkLst>
        </pc:spChg>
        <pc:spChg chg="add mod">
          <ac:chgData name="Alexie Clover" userId="98a9d3d83e4a3356" providerId="LiveId" clId="{9292EED4-A14A-40D6-903E-8D1009754F8C}" dt="2024-01-07T21:44:23.796" v="1553" actId="1076"/>
          <ac:spMkLst>
            <pc:docMk/>
            <pc:sldMk cId="11169249" sldId="353"/>
            <ac:spMk id="13" creationId="{4DC752AE-AFE0-09EF-E919-69C069F928B7}"/>
          </ac:spMkLst>
        </pc:spChg>
        <pc:graphicFrameChg chg="mod">
          <ac:chgData name="Alexie Clover" userId="98a9d3d83e4a3356" providerId="LiveId" clId="{9292EED4-A14A-40D6-903E-8D1009754F8C}" dt="2024-01-07T21:43:11.773" v="1539" actId="1076"/>
          <ac:graphicFrameMkLst>
            <pc:docMk/>
            <pc:sldMk cId="11169249" sldId="353"/>
            <ac:graphicFrameMk id="10" creationId="{18D8F4B9-C54F-7BF5-ACC3-48B9C738D6CA}"/>
          </ac:graphicFrameMkLst>
        </pc:graphicFrameChg>
      </pc:sldChg>
      <pc:sldChg chg="modSp mod ord">
        <pc:chgData name="Alexie Clover" userId="98a9d3d83e4a3356" providerId="LiveId" clId="{9292EED4-A14A-40D6-903E-8D1009754F8C}" dt="2024-01-08T00:20:47.114" v="2446" actId="20577"/>
        <pc:sldMkLst>
          <pc:docMk/>
          <pc:sldMk cId="379375877" sldId="355"/>
        </pc:sldMkLst>
        <pc:spChg chg="mod">
          <ac:chgData name="Alexie Clover" userId="98a9d3d83e4a3356" providerId="LiveId" clId="{9292EED4-A14A-40D6-903E-8D1009754F8C}" dt="2024-01-08T00:20:47.114" v="2446" actId="20577"/>
          <ac:spMkLst>
            <pc:docMk/>
            <pc:sldMk cId="379375877" sldId="355"/>
            <ac:spMk id="10" creationId="{BD7E68DB-F1B3-A747-CCD2-D478FAC20CB9}"/>
          </ac:spMkLst>
        </pc:spChg>
        <pc:spChg chg="mod">
          <ac:chgData name="Alexie Clover" userId="98a9d3d83e4a3356" providerId="LiveId" clId="{9292EED4-A14A-40D6-903E-8D1009754F8C}" dt="2024-01-07T21:34:53.231" v="1512" actId="20577"/>
          <ac:spMkLst>
            <pc:docMk/>
            <pc:sldMk cId="379375877" sldId="355"/>
            <ac:spMk id="11" creationId="{18CDCB3C-BC8D-CE36-0F95-7A5C19B48668}"/>
          </ac:spMkLst>
        </pc:spChg>
      </pc:sldChg>
      <pc:sldChg chg="addSp delSp modSp mod ord">
        <pc:chgData name="Alexie Clover" userId="98a9d3d83e4a3356" providerId="LiveId" clId="{9292EED4-A14A-40D6-903E-8D1009754F8C}" dt="2024-01-07T20:50:04.563" v="1077" actId="1076"/>
        <pc:sldMkLst>
          <pc:docMk/>
          <pc:sldMk cId="807038248" sldId="357"/>
        </pc:sldMkLst>
        <pc:spChg chg="mod">
          <ac:chgData name="Alexie Clover" userId="98a9d3d83e4a3356" providerId="LiveId" clId="{9292EED4-A14A-40D6-903E-8D1009754F8C}" dt="2024-01-07T20:49:07.920" v="1072" actId="20577"/>
          <ac:spMkLst>
            <pc:docMk/>
            <pc:sldMk cId="807038248" sldId="357"/>
            <ac:spMk id="11" creationId="{2AD37BD9-CDCE-38DD-8E9D-578603F3BC4C}"/>
          </ac:spMkLst>
        </pc:spChg>
        <pc:spChg chg="mod">
          <ac:chgData name="Alexie Clover" userId="98a9d3d83e4a3356" providerId="LiveId" clId="{9292EED4-A14A-40D6-903E-8D1009754F8C}" dt="2024-01-07T20:47:44.771" v="1051" actId="1037"/>
          <ac:spMkLst>
            <pc:docMk/>
            <pc:sldMk cId="807038248" sldId="357"/>
            <ac:spMk id="13" creationId="{99F93EC5-C662-C4B1-A5FA-4BF962F4EC74}"/>
          </ac:spMkLst>
        </pc:spChg>
        <pc:graphicFrameChg chg="del">
          <ac:chgData name="Alexie Clover" userId="98a9d3d83e4a3356" providerId="LiveId" clId="{9292EED4-A14A-40D6-903E-8D1009754F8C}" dt="2024-01-07T20:34:47.409" v="795" actId="478"/>
          <ac:graphicFrameMkLst>
            <pc:docMk/>
            <pc:sldMk cId="807038248" sldId="357"/>
            <ac:graphicFrameMk id="10" creationId="{0360B262-A318-C933-72FB-0A789EB26100}"/>
          </ac:graphicFrameMkLst>
        </pc:graphicFrameChg>
        <pc:graphicFrameChg chg="add mod">
          <ac:chgData name="Alexie Clover" userId="98a9d3d83e4a3356" providerId="LiveId" clId="{9292EED4-A14A-40D6-903E-8D1009754F8C}" dt="2024-01-07T20:46:28.644" v="1041"/>
          <ac:graphicFrameMkLst>
            <pc:docMk/>
            <pc:sldMk cId="807038248" sldId="357"/>
            <ac:graphicFrameMk id="14" creationId="{9EF1193E-7A8A-CD21-5DAA-FEED6BEF70C5}"/>
          </ac:graphicFrameMkLst>
        </pc:graphicFrameChg>
        <pc:graphicFrameChg chg="add mod modGraphic">
          <ac:chgData name="Alexie Clover" userId="98a9d3d83e4a3356" providerId="LiveId" clId="{9292EED4-A14A-40D6-903E-8D1009754F8C}" dt="2024-01-07T20:50:04.563" v="1077" actId="1076"/>
          <ac:graphicFrameMkLst>
            <pc:docMk/>
            <pc:sldMk cId="807038248" sldId="357"/>
            <ac:graphicFrameMk id="15" creationId="{3C17A0A2-87A2-9AD2-6CEE-946CAEFBD179}"/>
          </ac:graphicFrameMkLst>
        </pc:graphicFrameChg>
      </pc:sldChg>
      <pc:sldChg chg="modSp mod ord">
        <pc:chgData name="Alexie Clover" userId="98a9d3d83e4a3356" providerId="LiveId" clId="{9292EED4-A14A-40D6-903E-8D1009754F8C}" dt="2024-01-07T22:13:04.332" v="1787" actId="1076"/>
        <pc:sldMkLst>
          <pc:docMk/>
          <pc:sldMk cId="1539403388" sldId="358"/>
        </pc:sldMkLst>
        <pc:spChg chg="mod">
          <ac:chgData name="Alexie Clover" userId="98a9d3d83e4a3356" providerId="LiveId" clId="{9292EED4-A14A-40D6-903E-8D1009754F8C}" dt="2024-01-07T21:52:54.691" v="1668" actId="947"/>
          <ac:spMkLst>
            <pc:docMk/>
            <pc:sldMk cId="1539403388" sldId="358"/>
            <ac:spMk id="11" creationId="{EFC36A97-A042-1208-2309-40EB9D56F22C}"/>
          </ac:spMkLst>
        </pc:spChg>
        <pc:graphicFrameChg chg="mod">
          <ac:chgData name="Alexie Clover" userId="98a9d3d83e4a3356" providerId="LiveId" clId="{9292EED4-A14A-40D6-903E-8D1009754F8C}" dt="2024-01-07T22:13:04.332" v="1787" actId="1076"/>
          <ac:graphicFrameMkLst>
            <pc:docMk/>
            <pc:sldMk cId="1539403388" sldId="358"/>
            <ac:graphicFrameMk id="10" creationId="{446AAACE-E927-0D66-6C80-97E4A1A90929}"/>
          </ac:graphicFrameMkLst>
        </pc:graphicFrameChg>
      </pc:sldChg>
      <pc:sldChg chg="del">
        <pc:chgData name="Alexie Clover" userId="98a9d3d83e4a3356" providerId="LiveId" clId="{9292EED4-A14A-40D6-903E-8D1009754F8C}" dt="2024-01-07T20:05:51.373" v="760" actId="47"/>
        <pc:sldMkLst>
          <pc:docMk/>
          <pc:sldMk cId="1782338558" sldId="361"/>
        </pc:sldMkLst>
      </pc:sldChg>
      <pc:sldChg chg="del">
        <pc:chgData name="Alexie Clover" userId="98a9d3d83e4a3356" providerId="LiveId" clId="{9292EED4-A14A-40D6-903E-8D1009754F8C}" dt="2024-01-07T20:06:03.201" v="761" actId="47"/>
        <pc:sldMkLst>
          <pc:docMk/>
          <pc:sldMk cId="4208945698" sldId="362"/>
        </pc:sldMkLst>
      </pc:sldChg>
      <pc:sldChg chg="modSp mod">
        <pc:chgData name="Alexie Clover" userId="98a9d3d83e4a3356" providerId="LiveId" clId="{9292EED4-A14A-40D6-903E-8D1009754F8C}" dt="2024-01-07T23:00:59.607" v="1914" actId="20577"/>
        <pc:sldMkLst>
          <pc:docMk/>
          <pc:sldMk cId="3658369714" sldId="365"/>
        </pc:sldMkLst>
        <pc:spChg chg="mod">
          <ac:chgData name="Alexie Clover" userId="98a9d3d83e4a3356" providerId="LiveId" clId="{9292EED4-A14A-40D6-903E-8D1009754F8C}" dt="2024-01-07T23:00:59.607" v="1914" actId="20577"/>
          <ac:spMkLst>
            <pc:docMk/>
            <pc:sldMk cId="3658369714" sldId="365"/>
            <ac:spMk id="10" creationId="{C4E30988-0BDA-C641-F191-A673E096C714}"/>
          </ac:spMkLst>
        </pc:spChg>
      </pc:sldChg>
      <pc:sldChg chg="del">
        <pc:chgData name="Alexie Clover" userId="98a9d3d83e4a3356" providerId="LiveId" clId="{9292EED4-A14A-40D6-903E-8D1009754F8C}" dt="2024-01-03T04:26:36.321" v="0" actId="47"/>
        <pc:sldMkLst>
          <pc:docMk/>
          <pc:sldMk cId="3465204287" sldId="370"/>
        </pc:sldMkLst>
      </pc:sldChg>
      <pc:sldChg chg="del">
        <pc:chgData name="Alexie Clover" userId="98a9d3d83e4a3356" providerId="LiveId" clId="{9292EED4-A14A-40D6-903E-8D1009754F8C}" dt="2024-01-03T04:26:42.466" v="5" actId="47"/>
        <pc:sldMkLst>
          <pc:docMk/>
          <pc:sldMk cId="2740110502" sldId="372"/>
        </pc:sldMkLst>
      </pc:sldChg>
      <pc:sldChg chg="del">
        <pc:chgData name="Alexie Clover" userId="98a9d3d83e4a3356" providerId="LiveId" clId="{9292EED4-A14A-40D6-903E-8D1009754F8C}" dt="2024-01-03T04:31:47.494" v="19" actId="47"/>
        <pc:sldMkLst>
          <pc:docMk/>
          <pc:sldMk cId="3301096214" sldId="374"/>
        </pc:sldMkLst>
      </pc:sldChg>
      <pc:sldChg chg="addSp delSp modSp mod">
        <pc:chgData name="Alexie Clover" userId="98a9d3d83e4a3356" providerId="LiveId" clId="{9292EED4-A14A-40D6-903E-8D1009754F8C}" dt="2024-01-05T21:00:05.712" v="329" actId="478"/>
        <pc:sldMkLst>
          <pc:docMk/>
          <pc:sldMk cId="312039572" sldId="376"/>
        </pc:sldMkLst>
        <pc:graphicFrameChg chg="mod">
          <ac:chgData name="Alexie Clover" userId="98a9d3d83e4a3356" providerId="LiveId" clId="{9292EED4-A14A-40D6-903E-8D1009754F8C}" dt="2024-01-05T21:00:01.647" v="328"/>
          <ac:graphicFrameMkLst>
            <pc:docMk/>
            <pc:sldMk cId="312039572" sldId="376"/>
            <ac:graphicFrameMk id="10" creationId="{3E9FB642-9633-859C-84BF-119D0C32D923}"/>
          </ac:graphicFrameMkLst>
        </pc:graphicFrameChg>
        <pc:graphicFrameChg chg="add del mod">
          <ac:chgData name="Alexie Clover" userId="98a9d3d83e4a3356" providerId="LiveId" clId="{9292EED4-A14A-40D6-903E-8D1009754F8C}" dt="2024-01-05T21:00:05.712" v="329" actId="478"/>
          <ac:graphicFrameMkLst>
            <pc:docMk/>
            <pc:sldMk cId="312039572" sldId="376"/>
            <ac:graphicFrameMk id="14" creationId="{5CAB3BE5-9815-F4F6-AAB4-A6FCC01D0F18}"/>
          </ac:graphicFrameMkLst>
        </pc:graphicFrameChg>
      </pc:sldChg>
      <pc:sldChg chg="modSp mod ord">
        <pc:chgData name="Alexie Clover" userId="98a9d3d83e4a3356" providerId="LiveId" clId="{9292EED4-A14A-40D6-903E-8D1009754F8C}" dt="2024-01-07T21:36:53.191" v="1532" actId="20577"/>
        <pc:sldMkLst>
          <pc:docMk/>
          <pc:sldMk cId="2171938325" sldId="378"/>
        </pc:sldMkLst>
        <pc:spChg chg="mod">
          <ac:chgData name="Alexie Clover" userId="98a9d3d83e4a3356" providerId="LiveId" clId="{9292EED4-A14A-40D6-903E-8D1009754F8C}" dt="2024-01-07T21:36:53.191" v="1532" actId="20577"/>
          <ac:spMkLst>
            <pc:docMk/>
            <pc:sldMk cId="2171938325" sldId="378"/>
            <ac:spMk id="11" creationId="{79791B8D-CE4C-7FDF-A11C-A8436DAE1264}"/>
          </ac:spMkLst>
        </pc:spChg>
      </pc:sldChg>
      <pc:sldChg chg="addSp modSp mod ord">
        <pc:chgData name="Alexie Clover" userId="98a9d3d83e4a3356" providerId="LiveId" clId="{9292EED4-A14A-40D6-903E-8D1009754F8C}" dt="2024-01-07T21:47:39.100" v="1589" actId="14100"/>
        <pc:sldMkLst>
          <pc:docMk/>
          <pc:sldMk cId="3889528011" sldId="379"/>
        </pc:sldMkLst>
        <pc:spChg chg="add mod">
          <ac:chgData name="Alexie Clover" userId="98a9d3d83e4a3356" providerId="LiveId" clId="{9292EED4-A14A-40D6-903E-8D1009754F8C}" dt="2024-01-07T21:47:39.100" v="1589" actId="14100"/>
          <ac:spMkLst>
            <pc:docMk/>
            <pc:sldMk cId="3889528011" sldId="379"/>
            <ac:spMk id="10" creationId="{C0BD5581-419E-BAE8-CF8A-8F68BCB3220F}"/>
          </ac:spMkLst>
        </pc:spChg>
      </pc:sldChg>
      <pc:sldChg chg="addSp delSp modSp mod">
        <pc:chgData name="Alexie Clover" userId="98a9d3d83e4a3356" providerId="LiveId" clId="{9292EED4-A14A-40D6-903E-8D1009754F8C}" dt="2024-01-08T00:15:17.187" v="2410" actId="478"/>
        <pc:sldMkLst>
          <pc:docMk/>
          <pc:sldMk cId="3493388745" sldId="382"/>
        </pc:sldMkLst>
        <pc:spChg chg="del">
          <ac:chgData name="Alexie Clover" userId="98a9d3d83e4a3356" providerId="LiveId" clId="{9292EED4-A14A-40D6-903E-8D1009754F8C}" dt="2024-01-08T00:05:26.503" v="2389" actId="478"/>
          <ac:spMkLst>
            <pc:docMk/>
            <pc:sldMk cId="3493388745" sldId="382"/>
            <ac:spMk id="11" creationId="{2C262232-BBAC-EDEC-55C4-7F967BCA5011}"/>
          </ac:spMkLst>
        </pc:spChg>
        <pc:spChg chg="add mod ord">
          <ac:chgData name="Alexie Clover" userId="98a9d3d83e4a3356" providerId="LiveId" clId="{9292EED4-A14A-40D6-903E-8D1009754F8C}" dt="2024-01-08T00:06:16.148" v="2405" actId="167"/>
          <ac:spMkLst>
            <pc:docMk/>
            <pc:sldMk cId="3493388745" sldId="382"/>
            <ac:spMk id="17" creationId="{BECE4DAC-6101-1A3B-229D-32218D73D899}"/>
          </ac:spMkLst>
        </pc:spChg>
        <pc:graphicFrameChg chg="del ord">
          <ac:chgData name="Alexie Clover" userId="98a9d3d83e4a3356" providerId="LiveId" clId="{9292EED4-A14A-40D6-903E-8D1009754F8C}" dt="2024-01-08T00:05:28.143" v="2390" actId="478"/>
          <ac:graphicFrameMkLst>
            <pc:docMk/>
            <pc:sldMk cId="3493388745" sldId="382"/>
            <ac:graphicFrameMk id="3" creationId="{74728A49-67C3-1335-8AB5-6833976F519D}"/>
          </ac:graphicFrameMkLst>
        </pc:graphicFrameChg>
        <pc:graphicFrameChg chg="add mod">
          <ac:chgData name="Alexie Clover" userId="98a9d3d83e4a3356" providerId="LiveId" clId="{9292EED4-A14A-40D6-903E-8D1009754F8C}" dt="2024-01-08T00:15:08.733" v="2409" actId="1076"/>
          <ac:graphicFrameMkLst>
            <pc:docMk/>
            <pc:sldMk cId="3493388745" sldId="382"/>
            <ac:graphicFrameMk id="13" creationId="{0AB437CC-A55A-69E9-15AE-BB1E4AE6A908}"/>
          </ac:graphicFrameMkLst>
        </pc:graphicFrameChg>
        <pc:graphicFrameChg chg="add del mod">
          <ac:chgData name="Alexie Clover" userId="98a9d3d83e4a3356" providerId="LiveId" clId="{9292EED4-A14A-40D6-903E-8D1009754F8C}" dt="2024-01-08T00:15:17.187" v="2410" actId="478"/>
          <ac:graphicFrameMkLst>
            <pc:docMk/>
            <pc:sldMk cId="3493388745" sldId="382"/>
            <ac:graphicFrameMk id="16" creationId="{1E573B52-E8FB-F00D-026A-989B58C222BD}"/>
          </ac:graphicFrameMkLst>
        </pc:graphicFrameChg>
      </pc:sldChg>
      <pc:sldChg chg="del">
        <pc:chgData name="Alexie Clover" userId="98a9d3d83e4a3356" providerId="LiveId" clId="{9292EED4-A14A-40D6-903E-8D1009754F8C}" dt="2024-01-07T20:23:16.013" v="784" actId="47"/>
        <pc:sldMkLst>
          <pc:docMk/>
          <pc:sldMk cId="2849883721" sldId="383"/>
        </pc:sldMkLst>
      </pc:sldChg>
      <pc:sldChg chg="del">
        <pc:chgData name="Alexie Clover" userId="98a9d3d83e4a3356" providerId="LiveId" clId="{9292EED4-A14A-40D6-903E-8D1009754F8C}" dt="2024-01-07T20:06:14.923" v="762" actId="47"/>
        <pc:sldMkLst>
          <pc:docMk/>
          <pc:sldMk cId="1178096784" sldId="385"/>
        </pc:sldMkLst>
      </pc:sldChg>
      <pc:sldChg chg="modSp mod">
        <pc:chgData name="Alexie Clover" userId="98a9d3d83e4a3356" providerId="LiveId" clId="{9292EED4-A14A-40D6-903E-8D1009754F8C}" dt="2024-01-08T03:35:40.487" v="2524" actId="166"/>
        <pc:sldMkLst>
          <pc:docMk/>
          <pc:sldMk cId="2810831914" sldId="386"/>
        </pc:sldMkLst>
        <pc:spChg chg="mod">
          <ac:chgData name="Alexie Clover" userId="98a9d3d83e4a3356" providerId="LiveId" clId="{9292EED4-A14A-40D6-903E-8D1009754F8C}" dt="2024-01-08T03:35:36.862" v="2523" actId="14100"/>
          <ac:spMkLst>
            <pc:docMk/>
            <pc:sldMk cId="2810831914" sldId="386"/>
            <ac:spMk id="13" creationId="{0BFDFC6D-8E6A-4EB3-693B-D979CC476DA7}"/>
          </ac:spMkLst>
        </pc:spChg>
        <pc:spChg chg="mod">
          <ac:chgData name="Alexie Clover" userId="98a9d3d83e4a3356" providerId="LiveId" clId="{9292EED4-A14A-40D6-903E-8D1009754F8C}" dt="2024-01-08T03:35:24.949" v="2520" actId="14100"/>
          <ac:spMkLst>
            <pc:docMk/>
            <pc:sldMk cId="2810831914" sldId="386"/>
            <ac:spMk id="14" creationId="{69E8439D-B692-15AD-2862-88C751507AA1}"/>
          </ac:spMkLst>
        </pc:spChg>
        <pc:graphicFrameChg chg="mod ord">
          <ac:chgData name="Alexie Clover" userId="98a9d3d83e4a3356" providerId="LiveId" clId="{9292EED4-A14A-40D6-903E-8D1009754F8C}" dt="2024-01-08T03:35:40.487" v="2524" actId="166"/>
          <ac:graphicFrameMkLst>
            <pc:docMk/>
            <pc:sldMk cId="2810831914" sldId="386"/>
            <ac:graphicFrameMk id="9" creationId="{8B1918FB-7483-226C-4FD9-CD291A95F902}"/>
          </ac:graphicFrameMkLst>
        </pc:graphicFrameChg>
        <pc:graphicFrameChg chg="mod">
          <ac:chgData name="Alexie Clover" userId="98a9d3d83e4a3356" providerId="LiveId" clId="{9292EED4-A14A-40D6-903E-8D1009754F8C}" dt="2024-01-07T21:29:55.140" v="1424"/>
          <ac:graphicFrameMkLst>
            <pc:docMk/>
            <pc:sldMk cId="2810831914" sldId="386"/>
            <ac:graphicFrameMk id="17" creationId="{4B3E713C-5891-BC06-4ED5-1EABEACFCED9}"/>
          </ac:graphicFrameMkLst>
        </pc:graphicFrameChg>
      </pc:sldChg>
      <pc:sldChg chg="addSp delSp modSp mod">
        <pc:chgData name="Alexie Clover" userId="98a9d3d83e4a3356" providerId="LiveId" clId="{9292EED4-A14A-40D6-903E-8D1009754F8C}" dt="2024-01-08T05:38:04.649" v="2527" actId="947"/>
        <pc:sldMkLst>
          <pc:docMk/>
          <pc:sldMk cId="3269155521" sldId="387"/>
        </pc:sldMkLst>
        <pc:spChg chg="mod">
          <ac:chgData name="Alexie Clover" userId="98a9d3d83e4a3356" providerId="LiveId" clId="{9292EED4-A14A-40D6-903E-8D1009754F8C}" dt="2024-01-08T00:31:42.007" v="2448" actId="947"/>
          <ac:spMkLst>
            <pc:docMk/>
            <pc:sldMk cId="3269155521" sldId="387"/>
            <ac:spMk id="13" creationId="{DB17D95A-1BDD-4DE6-9A11-9C35E7D54ADE}"/>
          </ac:spMkLst>
        </pc:spChg>
        <pc:spChg chg="add mod">
          <ac:chgData name="Alexie Clover" userId="98a9d3d83e4a3356" providerId="LiveId" clId="{9292EED4-A14A-40D6-903E-8D1009754F8C}" dt="2024-01-08T05:38:04.649" v="2527" actId="947"/>
          <ac:spMkLst>
            <pc:docMk/>
            <pc:sldMk cId="3269155521" sldId="387"/>
            <ac:spMk id="15" creationId="{7F83D0F5-DE93-C084-7395-744E6F9BFE3B}"/>
          </ac:spMkLst>
        </pc:spChg>
        <pc:spChg chg="del">
          <ac:chgData name="Alexie Clover" userId="98a9d3d83e4a3356" providerId="LiveId" clId="{9292EED4-A14A-40D6-903E-8D1009754F8C}" dt="2024-01-07T21:02:45.889" v="1089" actId="478"/>
          <ac:spMkLst>
            <pc:docMk/>
            <pc:sldMk cId="3269155521" sldId="387"/>
            <ac:spMk id="16" creationId="{303DE3D2-43AA-A9D6-BF18-859E8EDCC37B}"/>
          </ac:spMkLst>
        </pc:spChg>
        <pc:graphicFrameChg chg="del">
          <ac:chgData name="Alexie Clover" userId="98a9d3d83e4a3356" providerId="LiveId" clId="{9292EED4-A14A-40D6-903E-8D1009754F8C}" dt="2024-01-07T20:56:49.666" v="1083" actId="478"/>
          <ac:graphicFrameMkLst>
            <pc:docMk/>
            <pc:sldMk cId="3269155521" sldId="387"/>
            <ac:graphicFrameMk id="9" creationId="{7B0C28F0-A7B9-D87E-8EC4-666C25DAAA17}"/>
          </ac:graphicFrameMkLst>
        </pc:graphicFrameChg>
        <pc:graphicFrameChg chg="del">
          <ac:chgData name="Alexie Clover" userId="98a9d3d83e4a3356" providerId="LiveId" clId="{9292EED4-A14A-40D6-903E-8D1009754F8C}" dt="2024-01-07T20:56:45.866" v="1080" actId="478"/>
          <ac:graphicFrameMkLst>
            <pc:docMk/>
            <pc:sldMk cId="3269155521" sldId="387"/>
            <ac:graphicFrameMk id="14" creationId="{BE1D497B-F6FE-40DB-A1F3-F56BEEC702CF}"/>
          </ac:graphicFrameMkLst>
        </pc:graphicFrameChg>
        <pc:picChg chg="del">
          <ac:chgData name="Alexie Clover" userId="98a9d3d83e4a3356" providerId="LiveId" clId="{9292EED4-A14A-40D6-903E-8D1009754F8C}" dt="2024-01-07T20:56:48.393" v="1082" actId="478"/>
          <ac:picMkLst>
            <pc:docMk/>
            <pc:sldMk cId="3269155521" sldId="387"/>
            <ac:picMk id="11" creationId="{73F18332-31E9-DD48-A961-1603ECEB2191}"/>
          </ac:picMkLst>
        </pc:picChg>
        <pc:picChg chg="del">
          <ac:chgData name="Alexie Clover" userId="98a9d3d83e4a3356" providerId="LiveId" clId="{9292EED4-A14A-40D6-903E-8D1009754F8C}" dt="2024-01-07T20:56:47.370" v="1081" actId="478"/>
          <ac:picMkLst>
            <pc:docMk/>
            <pc:sldMk cId="3269155521" sldId="387"/>
            <ac:picMk id="12" creationId="{9473BFF3-4327-77ED-4B2F-FD2469AE6557}"/>
          </ac:picMkLst>
        </pc:picChg>
        <pc:picChg chg="add mod">
          <ac:chgData name="Alexie Clover" userId="98a9d3d83e4a3356" providerId="LiveId" clId="{9292EED4-A14A-40D6-903E-8D1009754F8C}" dt="2024-01-07T21:33:05.919" v="1484" actId="1036"/>
          <ac:picMkLst>
            <pc:docMk/>
            <pc:sldMk cId="3269155521" sldId="387"/>
            <ac:picMk id="1026" creationId="{64D1415D-AA27-31E8-951E-A1254D25E1EF}"/>
          </ac:picMkLst>
        </pc:picChg>
      </pc:sldChg>
      <pc:sldChg chg="del">
        <pc:chgData name="Alexie Clover" userId="98a9d3d83e4a3356" providerId="LiveId" clId="{9292EED4-A14A-40D6-903E-8D1009754F8C}" dt="2024-01-07T21:29:14.827" v="1412" actId="47"/>
        <pc:sldMkLst>
          <pc:docMk/>
          <pc:sldMk cId="1220098699" sldId="388"/>
        </pc:sldMkLst>
      </pc:sldChg>
      <pc:sldChg chg="del">
        <pc:chgData name="Alexie Clover" userId="98a9d3d83e4a3356" providerId="LiveId" clId="{9292EED4-A14A-40D6-903E-8D1009754F8C}" dt="2024-01-07T20:06:30.843" v="763" actId="47"/>
        <pc:sldMkLst>
          <pc:docMk/>
          <pc:sldMk cId="3148541180" sldId="391"/>
        </pc:sldMkLst>
      </pc:sldChg>
      <pc:sldChg chg="del">
        <pc:chgData name="Alexie Clover" userId="98a9d3d83e4a3356" providerId="LiveId" clId="{9292EED4-A14A-40D6-903E-8D1009754F8C}" dt="2024-01-07T20:06:34.488" v="764" actId="47"/>
        <pc:sldMkLst>
          <pc:docMk/>
          <pc:sldMk cId="1871921588" sldId="392"/>
        </pc:sldMkLst>
      </pc:sldChg>
      <pc:sldChg chg="addSp modSp mod">
        <pc:chgData name="Alexie Clover" userId="98a9d3d83e4a3356" providerId="LiveId" clId="{9292EED4-A14A-40D6-903E-8D1009754F8C}" dt="2024-01-08T03:26:01.417" v="2499" actId="1076"/>
        <pc:sldMkLst>
          <pc:docMk/>
          <pc:sldMk cId="1999023279" sldId="393"/>
        </pc:sldMkLst>
        <pc:spChg chg="mod ord">
          <ac:chgData name="Alexie Clover" userId="98a9d3d83e4a3356" providerId="LiveId" clId="{9292EED4-A14A-40D6-903E-8D1009754F8C}" dt="2024-01-08T00:06:19.266" v="2406" actId="167"/>
          <ac:spMkLst>
            <pc:docMk/>
            <pc:sldMk cId="1999023279" sldId="393"/>
            <ac:spMk id="11" creationId="{2C262232-BBAC-EDEC-55C4-7F967BCA5011}"/>
          </ac:spMkLst>
        </pc:spChg>
        <pc:graphicFrameChg chg="mod ord">
          <ac:chgData name="Alexie Clover" userId="98a9d3d83e4a3356" providerId="LiveId" clId="{9292EED4-A14A-40D6-903E-8D1009754F8C}" dt="2024-01-08T00:05:59.887" v="2402" actId="167"/>
          <ac:graphicFrameMkLst>
            <pc:docMk/>
            <pc:sldMk cId="1999023279" sldId="393"/>
            <ac:graphicFrameMk id="3" creationId="{74728A49-67C3-1335-8AB5-6833976F519D}"/>
          </ac:graphicFrameMkLst>
        </pc:graphicFrameChg>
        <pc:graphicFrameChg chg="mod">
          <ac:chgData name="Alexie Clover" userId="98a9d3d83e4a3356" providerId="LiveId" clId="{9292EED4-A14A-40D6-903E-8D1009754F8C}" dt="2024-01-07T20:23:41.651" v="785" actId="14100"/>
          <ac:graphicFrameMkLst>
            <pc:docMk/>
            <pc:sldMk cId="1999023279" sldId="393"/>
            <ac:graphicFrameMk id="13" creationId="{00DF786D-075B-8719-FB20-9FA48DA73C41}"/>
          </ac:graphicFrameMkLst>
        </pc:graphicFrameChg>
        <pc:cxnChg chg="add mod">
          <ac:chgData name="Alexie Clover" userId="98a9d3d83e4a3356" providerId="LiveId" clId="{9292EED4-A14A-40D6-903E-8D1009754F8C}" dt="2024-01-08T03:26:01.417" v="2499" actId="1076"/>
          <ac:cxnSpMkLst>
            <pc:docMk/>
            <pc:sldMk cId="1999023279" sldId="393"/>
            <ac:cxnSpMk id="17" creationId="{C2381CC2-4733-8C92-2CD5-A615D43464DF}"/>
          </ac:cxnSpMkLst>
        </pc:cxnChg>
      </pc:sldChg>
      <pc:sldChg chg="del">
        <pc:chgData name="Alexie Clover" userId="98a9d3d83e4a3356" providerId="LiveId" clId="{9292EED4-A14A-40D6-903E-8D1009754F8C}" dt="2024-01-07T20:06:49.689" v="766" actId="47"/>
        <pc:sldMkLst>
          <pc:docMk/>
          <pc:sldMk cId="1697487809" sldId="394"/>
        </pc:sldMkLst>
      </pc:sldChg>
      <pc:sldChg chg="addSp delSp modSp mod">
        <pc:chgData name="Alexie Clover" userId="98a9d3d83e4a3356" providerId="LiveId" clId="{9292EED4-A14A-40D6-903E-8D1009754F8C}" dt="2024-01-06T22:50:46.015" v="370"/>
        <pc:sldMkLst>
          <pc:docMk/>
          <pc:sldMk cId="843697278" sldId="395"/>
        </pc:sldMkLst>
        <pc:graphicFrameChg chg="del">
          <ac:chgData name="Alexie Clover" userId="98a9d3d83e4a3356" providerId="LiveId" clId="{9292EED4-A14A-40D6-903E-8D1009754F8C}" dt="2024-01-06T22:50:45.780" v="369" actId="478"/>
          <ac:graphicFrameMkLst>
            <pc:docMk/>
            <pc:sldMk cId="843697278" sldId="395"/>
            <ac:graphicFrameMk id="10" creationId="{3E9FB642-9633-859C-84BF-119D0C32D923}"/>
          </ac:graphicFrameMkLst>
        </pc:graphicFrameChg>
        <pc:graphicFrameChg chg="add mod">
          <ac:chgData name="Alexie Clover" userId="98a9d3d83e4a3356" providerId="LiveId" clId="{9292EED4-A14A-40D6-903E-8D1009754F8C}" dt="2024-01-06T22:50:46.015" v="370"/>
          <ac:graphicFrameMkLst>
            <pc:docMk/>
            <pc:sldMk cId="843697278" sldId="395"/>
            <ac:graphicFrameMk id="15" creationId="{EFDDECB7-C788-2DBF-540C-C0C7775229A3}"/>
          </ac:graphicFrameMkLst>
        </pc:graphicFrameChg>
      </pc:sldChg>
      <pc:sldChg chg="addSp delSp modSp mod">
        <pc:chgData name="Alexie Clover" userId="98a9d3d83e4a3356" providerId="LiveId" clId="{9292EED4-A14A-40D6-903E-8D1009754F8C}" dt="2024-01-06T22:50:49.107" v="372"/>
        <pc:sldMkLst>
          <pc:docMk/>
          <pc:sldMk cId="686672507" sldId="396"/>
        </pc:sldMkLst>
        <pc:graphicFrameChg chg="del">
          <ac:chgData name="Alexie Clover" userId="98a9d3d83e4a3356" providerId="LiveId" clId="{9292EED4-A14A-40D6-903E-8D1009754F8C}" dt="2024-01-06T22:50:48.937" v="371" actId="478"/>
          <ac:graphicFrameMkLst>
            <pc:docMk/>
            <pc:sldMk cId="686672507" sldId="396"/>
            <ac:graphicFrameMk id="10" creationId="{3E9FB642-9633-859C-84BF-119D0C32D923}"/>
          </ac:graphicFrameMkLst>
        </pc:graphicFrameChg>
        <pc:graphicFrameChg chg="add mod">
          <ac:chgData name="Alexie Clover" userId="98a9d3d83e4a3356" providerId="LiveId" clId="{9292EED4-A14A-40D6-903E-8D1009754F8C}" dt="2024-01-06T22:50:49.107" v="372"/>
          <ac:graphicFrameMkLst>
            <pc:docMk/>
            <pc:sldMk cId="686672507" sldId="396"/>
            <ac:graphicFrameMk id="18" creationId="{0049E2F1-67EF-31C5-7825-3213C3DE26A8}"/>
          </ac:graphicFrameMkLst>
        </pc:graphicFrameChg>
      </pc:sldChg>
      <pc:sldChg chg="addSp modSp new del mod">
        <pc:chgData name="Alexie Clover" userId="98a9d3d83e4a3356" providerId="LiveId" clId="{9292EED4-A14A-40D6-903E-8D1009754F8C}" dt="2024-01-07T23:12:59.601" v="1915" actId="47"/>
        <pc:sldMkLst>
          <pc:docMk/>
          <pc:sldMk cId="4132363561" sldId="397"/>
        </pc:sldMkLst>
        <pc:spChg chg="mod">
          <ac:chgData name="Alexie Clover" userId="98a9d3d83e4a3356" providerId="LiveId" clId="{9292EED4-A14A-40D6-903E-8D1009754F8C}" dt="2024-01-03T04:45:40.442" v="22"/>
          <ac:spMkLst>
            <pc:docMk/>
            <pc:sldMk cId="4132363561" sldId="397"/>
            <ac:spMk id="4" creationId="{BBBEF114-7B0F-EB91-4D8A-352C561AC85B}"/>
          </ac:spMkLst>
        </pc:spChg>
        <pc:spChg chg="mod">
          <ac:chgData name="Alexie Clover" userId="98a9d3d83e4a3356" providerId="LiveId" clId="{9292EED4-A14A-40D6-903E-8D1009754F8C}" dt="2024-01-03T04:45:40.442" v="22"/>
          <ac:spMkLst>
            <pc:docMk/>
            <pc:sldMk cId="4132363561" sldId="397"/>
            <ac:spMk id="6" creationId="{6D82E045-8D59-EF2E-65FE-4C374EA14ED6}"/>
          </ac:spMkLst>
        </pc:spChg>
        <pc:spChg chg="add mod">
          <ac:chgData name="Alexie Clover" userId="98a9d3d83e4a3356" providerId="LiveId" clId="{9292EED4-A14A-40D6-903E-8D1009754F8C}" dt="2024-01-03T04:46:22.064" v="53" actId="20577"/>
          <ac:spMkLst>
            <pc:docMk/>
            <pc:sldMk cId="4132363561" sldId="397"/>
            <ac:spMk id="8" creationId="{58A78A57-0B0C-8B30-6532-8B97EF95D03B}"/>
          </ac:spMkLst>
        </pc:spChg>
        <pc:spChg chg="add mod">
          <ac:chgData name="Alexie Clover" userId="98a9d3d83e4a3356" providerId="LiveId" clId="{9292EED4-A14A-40D6-903E-8D1009754F8C}" dt="2024-01-07T22:56:34.921" v="1834" actId="20577"/>
          <ac:spMkLst>
            <pc:docMk/>
            <pc:sldMk cId="4132363561" sldId="397"/>
            <ac:spMk id="9" creationId="{E0B6B629-3F09-A2BE-4111-FD94E8F21072}"/>
          </ac:spMkLst>
        </pc:spChg>
        <pc:grpChg chg="add mod">
          <ac:chgData name="Alexie Clover" userId="98a9d3d83e4a3356" providerId="LiveId" clId="{9292EED4-A14A-40D6-903E-8D1009754F8C}" dt="2024-01-03T04:45:40.442" v="22"/>
          <ac:grpSpMkLst>
            <pc:docMk/>
            <pc:sldMk cId="4132363561" sldId="397"/>
            <ac:grpSpMk id="2" creationId="{E12682A7-950F-DEFD-7CEE-6D4AF6EDC7C1}"/>
          </ac:grpSpMkLst>
        </pc:grpChg>
        <pc:grpChg chg="mod">
          <ac:chgData name="Alexie Clover" userId="98a9d3d83e4a3356" providerId="LiveId" clId="{9292EED4-A14A-40D6-903E-8D1009754F8C}" dt="2024-01-03T04:45:40.442" v="22"/>
          <ac:grpSpMkLst>
            <pc:docMk/>
            <pc:sldMk cId="4132363561" sldId="397"/>
            <ac:grpSpMk id="3" creationId="{81BAD4F4-C27A-98AA-579E-97829E3FD618}"/>
          </ac:grpSpMkLst>
        </pc:grpChg>
        <pc:picChg chg="mod">
          <ac:chgData name="Alexie Clover" userId="98a9d3d83e4a3356" providerId="LiveId" clId="{9292EED4-A14A-40D6-903E-8D1009754F8C}" dt="2024-01-03T04:45:40.442" v="22"/>
          <ac:picMkLst>
            <pc:docMk/>
            <pc:sldMk cId="4132363561" sldId="397"/>
            <ac:picMk id="5" creationId="{6C583C56-8AE1-F5CB-FD85-452820E993A6}"/>
          </ac:picMkLst>
        </pc:picChg>
        <pc:picChg chg="mod">
          <ac:chgData name="Alexie Clover" userId="98a9d3d83e4a3356" providerId="LiveId" clId="{9292EED4-A14A-40D6-903E-8D1009754F8C}" dt="2024-01-03T04:45:40.442" v="22"/>
          <ac:picMkLst>
            <pc:docMk/>
            <pc:sldMk cId="4132363561" sldId="397"/>
            <ac:picMk id="7" creationId="{9B80C4B1-0E46-1835-49E4-3F2A386D9D8B}"/>
          </ac:picMkLst>
        </pc:picChg>
      </pc:sldChg>
      <pc:sldChg chg="addSp delSp modSp add mod">
        <pc:chgData name="Alexie Clover" userId="98a9d3d83e4a3356" providerId="LiveId" clId="{9292EED4-A14A-40D6-903E-8D1009754F8C}" dt="2024-01-07T23:40:45.156" v="2140" actId="1076"/>
        <pc:sldMkLst>
          <pc:docMk/>
          <pc:sldMk cId="448930981" sldId="398"/>
        </pc:sldMkLst>
        <pc:spChg chg="add mod">
          <ac:chgData name="Alexie Clover" userId="98a9d3d83e4a3356" providerId="LiveId" clId="{9292EED4-A14A-40D6-903E-8D1009754F8C}" dt="2024-01-07T23:40:45.156" v="2140" actId="1076"/>
          <ac:spMkLst>
            <pc:docMk/>
            <pc:sldMk cId="448930981" sldId="398"/>
            <ac:spMk id="10" creationId="{B9CDDC4B-5D9C-92EE-25D0-4386ACDD2525}"/>
          </ac:spMkLst>
        </pc:spChg>
        <pc:spChg chg="add del mod">
          <ac:chgData name="Alexie Clover" userId="98a9d3d83e4a3356" providerId="LiveId" clId="{9292EED4-A14A-40D6-903E-8D1009754F8C}" dt="2024-01-06T23:06:24.937" v="375"/>
          <ac:spMkLst>
            <pc:docMk/>
            <pc:sldMk cId="448930981" sldId="398"/>
            <ac:spMk id="10" creationId="{E5AF761B-1491-D666-2979-2422C15887C0}"/>
          </ac:spMkLst>
        </pc:spChg>
        <pc:spChg chg="del mod">
          <ac:chgData name="Alexie Clover" userId="98a9d3d83e4a3356" providerId="LiveId" clId="{9292EED4-A14A-40D6-903E-8D1009754F8C}" dt="2024-01-05T21:29:40.689" v="338"/>
          <ac:spMkLst>
            <pc:docMk/>
            <pc:sldMk cId="448930981" sldId="398"/>
            <ac:spMk id="11" creationId="{F79F3512-E4C6-F8B8-F92D-893B3F2D7E32}"/>
          </ac:spMkLst>
        </pc:spChg>
        <pc:spChg chg="del">
          <ac:chgData name="Alexie Clover" userId="98a9d3d83e4a3356" providerId="LiveId" clId="{9292EED4-A14A-40D6-903E-8D1009754F8C}" dt="2024-01-05T21:43:48.755" v="339" actId="478"/>
          <ac:spMkLst>
            <pc:docMk/>
            <pc:sldMk cId="448930981" sldId="398"/>
            <ac:spMk id="12" creationId="{442B9392-1751-81B6-B6DF-9C063740138C}"/>
          </ac:spMkLst>
        </pc:spChg>
        <pc:spChg chg="add del mod">
          <ac:chgData name="Alexie Clover" userId="98a9d3d83e4a3356" providerId="LiveId" clId="{9292EED4-A14A-40D6-903E-8D1009754F8C}" dt="2024-01-07T23:37:51.631" v="1962" actId="22"/>
          <ac:spMkLst>
            <pc:docMk/>
            <pc:sldMk cId="448930981" sldId="398"/>
            <ac:spMk id="12" creationId="{7BD73FBA-0931-EEFC-ACCF-7BB5940751A8}"/>
          </ac:spMkLst>
        </pc:spChg>
        <pc:spChg chg="add mod">
          <ac:chgData name="Alexie Clover" userId="98a9d3d83e4a3356" providerId="LiveId" clId="{9292EED4-A14A-40D6-903E-8D1009754F8C}" dt="2024-01-07T23:39:32.973" v="2102" actId="20577"/>
          <ac:spMkLst>
            <pc:docMk/>
            <pc:sldMk cId="448930981" sldId="398"/>
            <ac:spMk id="13" creationId="{BDD6A1EE-9167-C977-A9D1-E90C83726B8A}"/>
          </ac:spMkLst>
        </pc:spChg>
        <pc:spChg chg="add del mod">
          <ac:chgData name="Alexie Clover" userId="98a9d3d83e4a3356" providerId="LiveId" clId="{9292EED4-A14A-40D6-903E-8D1009754F8C}" dt="2024-01-05T21:29:36.256" v="333"/>
          <ac:spMkLst>
            <pc:docMk/>
            <pc:sldMk cId="448930981" sldId="398"/>
            <ac:spMk id="13" creationId="{D30E04AD-0CC1-CACF-A623-98AAA8A80E17}"/>
          </ac:spMkLst>
        </pc:spChg>
        <pc:spChg chg="add mod">
          <ac:chgData name="Alexie Clover" userId="98a9d3d83e4a3356" providerId="LiveId" clId="{9292EED4-A14A-40D6-903E-8D1009754F8C}" dt="2024-01-05T21:29:37.827" v="335"/>
          <ac:spMkLst>
            <pc:docMk/>
            <pc:sldMk cId="448930981" sldId="398"/>
            <ac:spMk id="14" creationId="{6528FFC7-4CF0-EF43-66BA-9A416C5140D2}"/>
          </ac:spMkLst>
        </pc:spChg>
        <pc:spChg chg="add mod">
          <ac:chgData name="Alexie Clover" userId="98a9d3d83e4a3356" providerId="LiveId" clId="{9292EED4-A14A-40D6-903E-8D1009754F8C}" dt="2024-01-07T23:40:32.805" v="2139" actId="20577"/>
          <ac:spMkLst>
            <pc:docMk/>
            <pc:sldMk cId="448930981" sldId="398"/>
            <ac:spMk id="15" creationId="{340F9DB6-886E-CCF7-E6E6-921EE62E11C4}"/>
          </ac:spMkLst>
        </pc:spChg>
        <pc:graphicFrameChg chg="del">
          <ac:chgData name="Alexie Clover" userId="98a9d3d83e4a3356" providerId="LiveId" clId="{9292EED4-A14A-40D6-903E-8D1009754F8C}" dt="2024-01-05T21:29:40.688" v="336" actId="478"/>
          <ac:graphicFrameMkLst>
            <pc:docMk/>
            <pc:sldMk cId="448930981" sldId="398"/>
            <ac:graphicFrameMk id="10" creationId="{A0B17910-0B09-4F1F-1AC2-080E2193D4F3}"/>
          </ac:graphicFrameMkLst>
        </pc:graphicFrameChg>
        <pc:graphicFrameChg chg="add del mod">
          <ac:chgData name="Alexie Clover" userId="98a9d3d83e4a3356" providerId="LiveId" clId="{9292EED4-A14A-40D6-903E-8D1009754F8C}" dt="2024-01-05T21:49:14.210" v="360" actId="478"/>
          <ac:graphicFrameMkLst>
            <pc:docMk/>
            <pc:sldMk cId="448930981" sldId="398"/>
            <ac:graphicFrameMk id="15" creationId="{EC3BD7B5-C3C3-B7EA-F538-D382EA8DD44B}"/>
          </ac:graphicFrameMkLst>
        </pc:graphicFrameChg>
        <pc:graphicFrameChg chg="add del mod">
          <ac:chgData name="Alexie Clover" userId="98a9d3d83e4a3356" providerId="LiveId" clId="{9292EED4-A14A-40D6-903E-8D1009754F8C}" dt="2024-01-05T21:45:19.691" v="348" actId="478"/>
          <ac:graphicFrameMkLst>
            <pc:docMk/>
            <pc:sldMk cId="448930981" sldId="398"/>
            <ac:graphicFrameMk id="16" creationId="{5AFF416C-CB15-CC4C-F778-C61E8DEEA738}"/>
          </ac:graphicFrameMkLst>
        </pc:graphicFrameChg>
        <pc:graphicFrameChg chg="add mod">
          <ac:chgData name="Alexie Clover" userId="98a9d3d83e4a3356" providerId="LiveId" clId="{9292EED4-A14A-40D6-903E-8D1009754F8C}" dt="2024-01-07T23:37:42.605" v="1958" actId="1076"/>
          <ac:graphicFrameMkLst>
            <pc:docMk/>
            <pc:sldMk cId="448930981" sldId="398"/>
            <ac:graphicFrameMk id="17" creationId="{C18198EB-A8B3-70F9-1483-6E7951CE758C}"/>
          </ac:graphicFrameMkLst>
        </pc:graphicFrameChg>
      </pc:sldChg>
      <pc:sldChg chg="addSp delSp modSp add mod">
        <pc:chgData name="Alexie Clover" userId="98a9d3d83e4a3356" providerId="LiveId" clId="{9292EED4-A14A-40D6-903E-8D1009754F8C}" dt="2024-01-08T03:24:43.931" v="2497" actId="1035"/>
        <pc:sldMkLst>
          <pc:docMk/>
          <pc:sldMk cId="2070373643" sldId="399"/>
        </pc:sldMkLst>
        <pc:spChg chg="del">
          <ac:chgData name="Alexie Clover" userId="98a9d3d83e4a3356" providerId="LiveId" clId="{9292EED4-A14A-40D6-903E-8D1009754F8C}" dt="2024-01-07T00:08:15.924" v="431" actId="478"/>
          <ac:spMkLst>
            <pc:docMk/>
            <pc:sldMk cId="2070373643" sldId="399"/>
            <ac:spMk id="13" creationId="{D981F7EA-1A61-FCC7-036E-C13BF9D5B3B8}"/>
          </ac:spMkLst>
        </pc:spChg>
        <pc:spChg chg="add mod">
          <ac:chgData name="Alexie Clover" userId="98a9d3d83e4a3356" providerId="LiveId" clId="{9292EED4-A14A-40D6-903E-8D1009754F8C}" dt="2024-01-08T03:24:43.931" v="2497" actId="1035"/>
          <ac:spMkLst>
            <pc:docMk/>
            <pc:sldMk cId="2070373643" sldId="399"/>
            <ac:spMk id="18" creationId="{E8E74C9D-AEF3-46BA-006E-CE38FBE74226}"/>
          </ac:spMkLst>
        </pc:spChg>
        <pc:spChg chg="add mod">
          <ac:chgData name="Alexie Clover" userId="98a9d3d83e4a3356" providerId="LiveId" clId="{9292EED4-A14A-40D6-903E-8D1009754F8C}" dt="2024-01-08T03:24:34.551" v="2466" actId="20577"/>
          <ac:spMkLst>
            <pc:docMk/>
            <pc:sldMk cId="2070373643" sldId="399"/>
            <ac:spMk id="20" creationId="{22926B72-22C9-BD37-08E4-91742128C0A2}"/>
          </ac:spMkLst>
        </pc:spChg>
        <pc:graphicFrameChg chg="add del mod">
          <ac:chgData name="Alexie Clover" userId="98a9d3d83e4a3356" providerId="LiveId" clId="{9292EED4-A14A-40D6-903E-8D1009754F8C}" dt="2024-01-07T19:50:56.636" v="520" actId="478"/>
          <ac:graphicFrameMkLst>
            <pc:docMk/>
            <pc:sldMk cId="2070373643" sldId="399"/>
            <ac:graphicFrameMk id="10" creationId="{35F51E6E-1478-BDE6-C0D4-53171C11A925}"/>
          </ac:graphicFrameMkLst>
        </pc:graphicFrameChg>
        <pc:graphicFrameChg chg="del">
          <ac:chgData name="Alexie Clover" userId="98a9d3d83e4a3356" providerId="LiveId" clId="{9292EED4-A14A-40D6-903E-8D1009754F8C}" dt="2024-01-07T00:08:13.954" v="430" actId="478"/>
          <ac:graphicFrameMkLst>
            <pc:docMk/>
            <pc:sldMk cId="2070373643" sldId="399"/>
            <ac:graphicFrameMk id="10" creationId="{D6122AC6-ABB5-25BF-57BC-80E14C5E8C36}"/>
          </ac:graphicFrameMkLst>
        </pc:graphicFrameChg>
        <pc:graphicFrameChg chg="del">
          <ac:chgData name="Alexie Clover" userId="98a9d3d83e4a3356" providerId="LiveId" clId="{9292EED4-A14A-40D6-903E-8D1009754F8C}" dt="2024-01-07T00:08:12.298" v="429" actId="478"/>
          <ac:graphicFrameMkLst>
            <pc:docMk/>
            <pc:sldMk cId="2070373643" sldId="399"/>
            <ac:graphicFrameMk id="12" creationId="{1B342497-E5DE-71C1-2790-C448DE651AE3}"/>
          </ac:graphicFrameMkLst>
        </pc:graphicFrameChg>
        <pc:graphicFrameChg chg="add del mod">
          <ac:chgData name="Alexie Clover" userId="98a9d3d83e4a3356" providerId="LiveId" clId="{9292EED4-A14A-40D6-903E-8D1009754F8C}" dt="2024-01-07T19:50:58.517" v="522" actId="478"/>
          <ac:graphicFrameMkLst>
            <pc:docMk/>
            <pc:sldMk cId="2070373643" sldId="399"/>
            <ac:graphicFrameMk id="12" creationId="{8BADABE9-AB12-59C2-F0C1-EFFFAA5E367C}"/>
          </ac:graphicFrameMkLst>
        </pc:graphicFrameChg>
        <pc:graphicFrameChg chg="add mod modGraphic">
          <ac:chgData name="Alexie Clover" userId="98a9d3d83e4a3356" providerId="LiveId" clId="{9292EED4-A14A-40D6-903E-8D1009754F8C}" dt="2024-01-08T03:24:43.931" v="2497" actId="1035"/>
          <ac:graphicFrameMkLst>
            <pc:docMk/>
            <pc:sldMk cId="2070373643" sldId="399"/>
            <ac:graphicFrameMk id="13" creationId="{6972F48F-DE21-7339-45C4-5C8882084425}"/>
          </ac:graphicFrameMkLst>
        </pc:graphicFrameChg>
        <pc:graphicFrameChg chg="add del mod">
          <ac:chgData name="Alexie Clover" userId="98a9d3d83e4a3356" providerId="LiveId" clId="{9292EED4-A14A-40D6-903E-8D1009754F8C}" dt="2024-01-07T19:39:12.852" v="438" actId="478"/>
          <ac:graphicFrameMkLst>
            <pc:docMk/>
            <pc:sldMk cId="2070373643" sldId="399"/>
            <ac:graphicFrameMk id="15" creationId="{8AC3D474-F153-7AEE-FFB4-43D5C4B98942}"/>
          </ac:graphicFrameMkLst>
        </pc:graphicFrameChg>
        <pc:graphicFrameChg chg="add mod">
          <ac:chgData name="Alexie Clover" userId="98a9d3d83e4a3356" providerId="LiveId" clId="{9292EED4-A14A-40D6-903E-8D1009754F8C}" dt="2024-01-08T03:24:43.931" v="2497" actId="1035"/>
          <ac:graphicFrameMkLst>
            <pc:docMk/>
            <pc:sldMk cId="2070373643" sldId="399"/>
            <ac:graphicFrameMk id="16" creationId="{0E14A705-75EA-302B-45DB-B0A361D8C06F}"/>
          </ac:graphicFrameMkLst>
        </pc:graphicFrameChg>
        <pc:graphicFrameChg chg="add del mod">
          <ac:chgData name="Alexie Clover" userId="98a9d3d83e4a3356" providerId="LiveId" clId="{9292EED4-A14A-40D6-903E-8D1009754F8C}" dt="2024-01-07T20:00:22.066" v="693" actId="478"/>
          <ac:graphicFrameMkLst>
            <pc:docMk/>
            <pc:sldMk cId="2070373643" sldId="399"/>
            <ac:graphicFrameMk id="17" creationId="{5BA1303E-1AF6-F74C-561E-A261A47D298A}"/>
          </ac:graphicFrameMkLst>
        </pc:graphicFrameChg>
        <pc:graphicFrameChg chg="add mod">
          <ac:chgData name="Alexie Clover" userId="98a9d3d83e4a3356" providerId="LiveId" clId="{9292EED4-A14A-40D6-903E-8D1009754F8C}" dt="2024-01-08T03:24:43.931" v="2497" actId="1035"/>
          <ac:graphicFrameMkLst>
            <pc:docMk/>
            <pc:sldMk cId="2070373643" sldId="399"/>
            <ac:graphicFrameMk id="19" creationId="{8B90D251-9090-E643-9005-5CB77BC8B53D}"/>
          </ac:graphicFrameMkLst>
        </pc:graphicFrameChg>
      </pc:sldChg>
      <pc:sldChg chg="delSp modSp add del mod">
        <pc:chgData name="Alexie Clover" userId="98a9d3d83e4a3356" providerId="LiveId" clId="{9292EED4-A14A-40D6-903E-8D1009754F8C}" dt="2024-01-05T21:47:13.399" v="354" actId="47"/>
        <pc:sldMkLst>
          <pc:docMk/>
          <pc:sldMk cId="2967145789" sldId="399"/>
        </pc:sldMkLst>
        <pc:graphicFrameChg chg="del">
          <ac:chgData name="Alexie Clover" userId="98a9d3d83e4a3356" providerId="LiveId" clId="{9292EED4-A14A-40D6-903E-8D1009754F8C}" dt="2024-01-05T21:45:25.178" v="350" actId="478"/>
          <ac:graphicFrameMkLst>
            <pc:docMk/>
            <pc:sldMk cId="2967145789" sldId="399"/>
            <ac:graphicFrameMk id="15" creationId="{EC3BD7B5-C3C3-B7EA-F538-D382EA8DD44B}"/>
          </ac:graphicFrameMkLst>
        </pc:graphicFrameChg>
        <pc:graphicFrameChg chg="del mod">
          <ac:chgData name="Alexie Clover" userId="98a9d3d83e4a3356" providerId="LiveId" clId="{9292EED4-A14A-40D6-903E-8D1009754F8C}" dt="2024-01-05T21:47:12.354" v="353" actId="478"/>
          <ac:graphicFrameMkLst>
            <pc:docMk/>
            <pc:sldMk cId="2967145789" sldId="399"/>
            <ac:graphicFrameMk id="16" creationId="{5AFF416C-CB15-CC4C-F778-C61E8DEEA738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888790-9CCA-4940-B369-D83DC263A2F6}" type="datetimeFigureOut">
              <a:rPr lang="en-GB" smtClean="0"/>
              <a:t>07/01/2024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28B3C4-C3B1-42DB-9C44-92A10704EE7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185323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Now with the access to the epoxides, we set out to screen different acids that might promote the rearrangement.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D7689F-F8BD-4EA5-8187-EF90B3466BC5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88764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The dihedral angle between silicon and fluorine was observed to be 6</a:t>
            </a:r>
            <a:r>
              <a:rPr lang="en-GB" sz="1800" baseline="300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o</a:t>
            </a:r>
            <a:r>
              <a:rPr lang="en-GB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 in the left crystal structure and 38</a:t>
            </a:r>
            <a:r>
              <a:rPr lang="en-GB" sz="1800" baseline="300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o</a:t>
            </a:r>
            <a:r>
              <a:rPr lang="en-GB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 in the right. The ORTEP image of one shows the fluorine and alcohol gauche to one another with a dihedral angle of 18</a:t>
            </a:r>
            <a:r>
              <a:rPr lang="en-GB" sz="1800" baseline="300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o</a:t>
            </a:r>
            <a:r>
              <a:rPr lang="en-GB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 (as shown in Figure 4.5 on the left), whereas in the other we observe the </a:t>
            </a:r>
            <a:r>
              <a:rPr lang="en-GB" sz="1800" i="1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anti</a:t>
            </a:r>
            <a:r>
              <a:rPr lang="en-GB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 configuration (179</a:t>
            </a:r>
            <a:r>
              <a:rPr lang="en-GB" sz="1800" baseline="300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o</a:t>
            </a:r>
            <a:r>
              <a:rPr lang="en-GB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) for the fluorine and alcohol groups (right, structure).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28B3C4-C3B1-42DB-9C44-92A10704EE71}" type="slidenum">
              <a:rPr lang="en-GB" smtClean="0"/>
              <a:t>31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441723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54284A-F79A-00F1-7C20-DB3958AD96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A29C20B-4515-45FB-2DF2-03A11F3B32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7610C2-8A0B-B5AF-88EF-A09381A8D7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F63BE8-1D5A-4FF9-9A24-23E696CE3815}" type="datetimeFigureOut">
              <a:rPr lang="en-GB" smtClean="0"/>
              <a:t>07/01/2024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85ADE8-EA5B-E145-8CCD-E70A97F338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CBDF19-8DF9-913B-B4ED-EA07E07600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852B8-73AF-4974-AA48-4857ADD5DB1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993020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3BBBAA-B5B4-B5CC-E252-5378F87CA5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0ECEA6-2FCC-E53A-E96B-ECFC79DAF1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905539-9A0D-618B-26B3-9F0A315F1F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F63BE8-1D5A-4FF9-9A24-23E696CE3815}" type="datetimeFigureOut">
              <a:rPr lang="en-GB" smtClean="0"/>
              <a:t>07/01/2024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D6C3F0-AB44-07B1-191D-C653F16DC7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585AD8-DC40-D09C-ECAE-0525FD719D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852B8-73AF-4974-AA48-4857ADD5DB1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008618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87B045-A43B-2BF4-878E-703188E3C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7593C6-8946-20D5-2B38-A238794A71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3A4923-4754-B2C3-02AA-70C80D4EC2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F63BE8-1D5A-4FF9-9A24-23E696CE3815}" type="datetimeFigureOut">
              <a:rPr lang="en-GB" smtClean="0"/>
              <a:t>07/01/2024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0611BD-1E10-3482-4897-2F97C0B91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7EE5F0-C356-A5A1-77FA-91906BBA8E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852B8-73AF-4974-AA48-4857ADD5DB1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978962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C237C2-F711-5AE1-5B64-B6480D4BEF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80CB81-8F60-899A-95B9-1FE5F4A67C2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502C0F-C9E8-0681-E00B-8B7BFE3952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F269C1-DCA7-3ADE-07EA-67CFBFC44F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F63BE8-1D5A-4FF9-9A24-23E696CE3815}" type="datetimeFigureOut">
              <a:rPr lang="en-GB" smtClean="0"/>
              <a:t>07/01/2024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01E86C-8540-BBEB-934F-80629FD594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2A4A49-5456-B153-05B4-452C5C534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852B8-73AF-4974-AA48-4857ADD5DB1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669480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164BB-9B06-350A-C63D-93205D7D41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84CBD9-436C-D4CC-EF1A-738A123CB7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0C7319-6EE3-5F82-3463-2BC05A679E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099103D-C6D7-6655-52D2-A95C70C1E5E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701587A-F5CD-E369-68BA-E1A1613E2C4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D5BA271-B8AC-5105-32CB-13AAC83DEF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F63BE8-1D5A-4FF9-9A24-23E696CE3815}" type="datetimeFigureOut">
              <a:rPr lang="en-GB" smtClean="0"/>
              <a:t>07/01/2024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40253DA-06A2-6981-3028-F932707C57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2839895-E2AA-F707-38A8-F704E25B3E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852B8-73AF-4974-AA48-4857ADD5DB1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175224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9E15A2-C2A2-73D8-2DF4-8362D6419D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A5E298-C6E8-2E4B-AB1C-E2260C02F8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F63BE8-1D5A-4FF9-9A24-23E696CE3815}" type="datetimeFigureOut">
              <a:rPr lang="en-GB" smtClean="0"/>
              <a:t>07/01/2024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51B8ECE-6345-F70D-5B05-2C7253CD1D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9EF2ED1-A723-F86A-1F2A-745B5B211B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852B8-73AF-4974-AA48-4857ADD5DB1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649522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0A258B7-DCA7-55B7-F36A-ED1CBEA940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F63BE8-1D5A-4FF9-9A24-23E696CE3815}" type="datetimeFigureOut">
              <a:rPr lang="en-GB" smtClean="0"/>
              <a:t>07/01/2024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F47C993-B8B8-1886-6BDB-5F86DB9E21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1FBA7B-A52A-E703-CB28-68ED079B1D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852B8-73AF-4974-AA48-4857ADD5DB1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571533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2A3F5B-B00D-8C1B-8B21-87F1A1A249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B739E1-7D2A-C535-B4F6-77F36A3E57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684A524-3C23-3B88-11B0-EEE814C3AC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53D964-0FC7-AADC-9341-497C0614C5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F63BE8-1D5A-4FF9-9A24-23E696CE3815}" type="datetimeFigureOut">
              <a:rPr lang="en-GB" smtClean="0"/>
              <a:t>07/01/2024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DDA658-C177-5EEB-60A7-2EB74C4B0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59FCB3-C084-3250-0D91-3AB6DEBE4D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852B8-73AF-4974-AA48-4857ADD5DB1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179410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EE621F-2C40-18D5-6925-36AE6199A4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7A668A1-A20C-5C68-DDCB-BCEB274E52C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B7A746-AAA9-8C26-0EFF-72CEC62E67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045F43-DADB-0A80-F24B-6506B4EA0C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F63BE8-1D5A-4FF9-9A24-23E696CE3815}" type="datetimeFigureOut">
              <a:rPr lang="en-GB" smtClean="0"/>
              <a:t>07/01/2024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82BF7D-4EE8-9FC3-5299-95FBADCC63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95DCEE-0007-56C7-D0C4-D7FBA2EDEE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852B8-73AF-4974-AA48-4857ADD5DB1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164933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0281DF-6310-2528-75EF-F7ED917A49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5D9A0A-4781-A384-713B-A4A5591F66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104537-AEC4-4E15-3568-ADB79C508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F63BE8-1D5A-4FF9-9A24-23E696CE3815}" type="datetimeFigureOut">
              <a:rPr lang="en-GB" smtClean="0"/>
              <a:t>07/01/2024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EB3C04-25AF-1451-CCE8-6D69B213BD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4AAEEC-6E92-FFEF-ECB7-EB290ED2E8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852B8-73AF-4974-AA48-4857ADD5DB1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134248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6390698-D90B-3E42-2F48-F4CF1FD4E70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16AD061-93A1-D81F-8F70-7E93EE588A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6B8C42-1927-FAFC-55D2-84EDC156F9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F63BE8-1D5A-4FF9-9A24-23E696CE3815}" type="datetimeFigureOut">
              <a:rPr lang="en-GB" smtClean="0"/>
              <a:t>07/01/2024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1EDEE4-E512-3A60-610C-8A43970EC3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CCED00-C942-16F5-D1F6-73D85A4DC5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852B8-73AF-4974-AA48-4857ADD5DB1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958641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3BB2377-F84A-CBFC-0D7F-BCFDA14868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2A3EE3-BDF0-0C23-843B-32284CE02F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EEBCE5-240F-E5BF-C458-8C07EE39877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F63BE8-1D5A-4FF9-9A24-23E696CE3815}" type="datetimeFigureOut">
              <a:rPr lang="en-GB" smtClean="0"/>
              <a:t>07/01/2024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935A8D-811D-C76F-53A8-78F1921681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6ED160-41CB-0ACE-D50F-18568A9FDF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6852B8-73AF-4974-AA48-4857ADD5DB1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23465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4.emf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3.emf"/><Relationship Id="rId4" Type="http://schemas.openxmlformats.org/officeDocument/2006/relationships/oleObject" Target="../embeddings/oleObject1.bin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.bin"/><Relationship Id="rId3" Type="http://schemas.openxmlformats.org/officeDocument/2006/relationships/image" Target="../media/image2.png"/><Relationship Id="rId7" Type="http://schemas.openxmlformats.org/officeDocument/2006/relationships/image" Target="../media/image3.emf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4.bin"/><Relationship Id="rId5" Type="http://schemas.openxmlformats.org/officeDocument/2006/relationships/image" Target="../media/image5.emf"/><Relationship Id="rId4" Type="http://schemas.openxmlformats.org/officeDocument/2006/relationships/oleObject" Target="../embeddings/oleObject3.bin"/><Relationship Id="rId9" Type="http://schemas.openxmlformats.org/officeDocument/2006/relationships/image" Target="../media/image4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oleObject" Target="../embeddings/oleObject6.bin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2.png"/><Relationship Id="rId4" Type="http://schemas.openxmlformats.org/officeDocument/2006/relationships/image" Target="../media/image1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oleObject" Target="../embeddings/oleObject7.bin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2.png"/><Relationship Id="rId4" Type="http://schemas.openxmlformats.org/officeDocument/2006/relationships/image" Target="../media/image1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8.emf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9.bin"/><Relationship Id="rId5" Type="http://schemas.openxmlformats.org/officeDocument/2006/relationships/image" Target="../media/image7.emf"/><Relationship Id="rId4" Type="http://schemas.openxmlformats.org/officeDocument/2006/relationships/oleObject" Target="../embeddings/oleObject8.bin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10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0.bin"/><Relationship Id="rId5" Type="http://schemas.openxmlformats.org/officeDocument/2006/relationships/image" Target="../media/image9.emf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emf"/><Relationship Id="rId5" Type="http://schemas.openxmlformats.org/officeDocument/2006/relationships/image" Target="../media/image12.emf"/><Relationship Id="rId4" Type="http://schemas.openxmlformats.org/officeDocument/2006/relationships/image" Target="../media/image11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emf"/><Relationship Id="rId4" Type="http://schemas.openxmlformats.org/officeDocument/2006/relationships/image" Target="../media/image12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oleObject" Target="../embeddings/oleObject11.bin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1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emf"/><Relationship Id="rId4" Type="http://schemas.openxmlformats.org/officeDocument/2006/relationships/oleObject" Target="../embeddings/oleObject12.bin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oleObject" Target="../embeddings/oleObject13.bin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emf"/><Relationship Id="rId5" Type="http://schemas.openxmlformats.org/officeDocument/2006/relationships/image" Target="../media/image2.png"/><Relationship Id="rId4" Type="http://schemas.openxmlformats.org/officeDocument/2006/relationships/image" Target="../media/image1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oleObject" Target="../embeddings/oleObject14.bin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emf"/><Relationship Id="rId5" Type="http://schemas.openxmlformats.org/officeDocument/2006/relationships/image" Target="../media/image2.png"/><Relationship Id="rId4" Type="http://schemas.openxmlformats.org/officeDocument/2006/relationships/image" Target="../media/image1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9.emf"/><Relationship Id="rId4" Type="http://schemas.openxmlformats.org/officeDocument/2006/relationships/oleObject" Target="../embeddings/oleObject15.bin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0.emf"/><Relationship Id="rId4" Type="http://schemas.openxmlformats.org/officeDocument/2006/relationships/oleObject" Target="../embeddings/oleObject16.bin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1.emf"/><Relationship Id="rId4" Type="http://schemas.openxmlformats.org/officeDocument/2006/relationships/oleObject" Target="../embeddings/oleObject17.bin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2.emf"/><Relationship Id="rId4" Type="http://schemas.openxmlformats.org/officeDocument/2006/relationships/oleObject" Target="../embeddings/oleObject18.bin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3.emf"/><Relationship Id="rId4" Type="http://schemas.openxmlformats.org/officeDocument/2006/relationships/oleObject" Target="../embeddings/oleObject19.bin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emf"/><Relationship Id="rId2" Type="http://schemas.openxmlformats.org/officeDocument/2006/relationships/oleObject" Target="../embeddings/oleObject20.bin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1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24.emf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0.bin"/><Relationship Id="rId5" Type="http://schemas.openxmlformats.org/officeDocument/2006/relationships/image" Target="../media/image25.emf"/><Relationship Id="rId4" Type="http://schemas.openxmlformats.org/officeDocument/2006/relationships/oleObject" Target="../embeddings/oleObject21.bin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0.bin"/><Relationship Id="rId3" Type="http://schemas.openxmlformats.org/officeDocument/2006/relationships/image" Target="../media/image2.png"/><Relationship Id="rId7" Type="http://schemas.openxmlformats.org/officeDocument/2006/relationships/image" Target="../media/image26.emf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2.bin"/><Relationship Id="rId5" Type="http://schemas.openxmlformats.org/officeDocument/2006/relationships/image" Target="../media/image25.emf"/><Relationship Id="rId4" Type="http://schemas.openxmlformats.org/officeDocument/2006/relationships/oleObject" Target="../embeddings/oleObject21.bin"/><Relationship Id="rId9" Type="http://schemas.openxmlformats.org/officeDocument/2006/relationships/image" Target="../media/image24.emf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7.emf"/><Relationship Id="rId4" Type="http://schemas.openxmlformats.org/officeDocument/2006/relationships/oleObject" Target="../embeddings/oleObject23.bin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8.emf"/><Relationship Id="rId4" Type="http://schemas.openxmlformats.org/officeDocument/2006/relationships/oleObject" Target="../embeddings/oleObject24.bin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9.emf"/><Relationship Id="rId4" Type="http://schemas.openxmlformats.org/officeDocument/2006/relationships/oleObject" Target="../embeddings/oleObject25.bin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0.emf"/><Relationship Id="rId4" Type="http://schemas.openxmlformats.org/officeDocument/2006/relationships/oleObject" Target="../embeddings/oleObject26.bin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32.emf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8.bin"/><Relationship Id="rId5" Type="http://schemas.openxmlformats.org/officeDocument/2006/relationships/image" Target="../media/image31.emf"/><Relationship Id="rId4" Type="http://schemas.openxmlformats.org/officeDocument/2006/relationships/oleObject" Target="../embeddings/oleObject27.bin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34.emf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30.bin"/><Relationship Id="rId5" Type="http://schemas.openxmlformats.org/officeDocument/2006/relationships/image" Target="../media/image33.emf"/><Relationship Id="rId4" Type="http://schemas.openxmlformats.org/officeDocument/2006/relationships/oleObject" Target="../embeddings/oleObject29.bin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emf"/><Relationship Id="rId3" Type="http://schemas.openxmlformats.org/officeDocument/2006/relationships/image" Target="../media/image2.png"/><Relationship Id="rId7" Type="http://schemas.openxmlformats.org/officeDocument/2006/relationships/oleObject" Target="../embeddings/oleObject31.bin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2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emf"/><Relationship Id="rId3" Type="http://schemas.openxmlformats.org/officeDocument/2006/relationships/image" Target="../media/image35.emf"/><Relationship Id="rId7" Type="http://schemas.openxmlformats.org/officeDocument/2006/relationships/oleObject" Target="../embeddings/oleObject33.bin"/><Relationship Id="rId2" Type="http://schemas.openxmlformats.org/officeDocument/2006/relationships/oleObject" Target="../embeddings/oleObject32.bin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3.png"/><Relationship Id="rId5" Type="http://schemas.openxmlformats.org/officeDocument/2006/relationships/image" Target="../media/image2.png"/><Relationship Id="rId4" Type="http://schemas.openxmlformats.org/officeDocument/2006/relationships/image" Target="../media/image1.jpe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7.emf"/><Relationship Id="rId4" Type="http://schemas.openxmlformats.org/officeDocument/2006/relationships/oleObject" Target="../embeddings/oleObject34.bin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8.jpg"/><Relationship Id="rId4" Type="http://schemas.openxmlformats.org/officeDocument/2006/relationships/image" Target="../media/image2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9.png"/><Relationship Id="rId4" Type="http://schemas.openxmlformats.org/officeDocument/2006/relationships/image" Target="../media/image40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41.emf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36.bin"/><Relationship Id="rId5" Type="http://schemas.openxmlformats.org/officeDocument/2006/relationships/image" Target="../media/image40.emf"/><Relationship Id="rId4" Type="http://schemas.openxmlformats.org/officeDocument/2006/relationships/oleObject" Target="../embeddings/oleObject35.bin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2.emf"/><Relationship Id="rId4" Type="http://schemas.openxmlformats.org/officeDocument/2006/relationships/oleObject" Target="../embeddings/oleObject37.bin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3.wmf"/><Relationship Id="rId4" Type="http://schemas.openxmlformats.org/officeDocument/2006/relationships/oleObject" Target="../embeddings/oleObject38.bin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4.emf"/><Relationship Id="rId4" Type="http://schemas.openxmlformats.org/officeDocument/2006/relationships/oleObject" Target="../embeddings/oleObject39.bin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5.emf"/><Relationship Id="rId4" Type="http://schemas.openxmlformats.org/officeDocument/2006/relationships/oleObject" Target="../embeddings/oleObject40.bin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3.bin"/><Relationship Id="rId3" Type="http://schemas.openxmlformats.org/officeDocument/2006/relationships/image" Target="../media/image2.png"/><Relationship Id="rId7" Type="http://schemas.openxmlformats.org/officeDocument/2006/relationships/image" Target="../media/image47.emf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42.bin"/><Relationship Id="rId5" Type="http://schemas.openxmlformats.org/officeDocument/2006/relationships/image" Target="../media/image46.emf"/><Relationship Id="rId4" Type="http://schemas.openxmlformats.org/officeDocument/2006/relationships/oleObject" Target="../embeddings/oleObject41.bin"/><Relationship Id="rId9" Type="http://schemas.openxmlformats.org/officeDocument/2006/relationships/image" Target="../media/image48.emf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9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B536F8-7965-7E43-B00C-99F81C06E2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3556" y="1118893"/>
            <a:ext cx="11164887" cy="2387600"/>
          </a:xfrm>
        </p:spPr>
        <p:txBody>
          <a:bodyPr>
            <a:normAutofit/>
          </a:bodyPr>
          <a:lstStyle/>
          <a:p>
            <a:r>
              <a:rPr lang="en-US" sz="4800" dirty="0"/>
              <a:t>Regioselective Fluorohydrin Synthesis from Allylsilanes and Evidence for a Silicon-Fluorine Gauche Effect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6B11FE2-9AEF-9E4E-823B-C184E4E4523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Thesis Defense </a:t>
            </a:r>
          </a:p>
          <a:p>
            <a:r>
              <a:rPr lang="en-US" dirty="0"/>
              <a:t>Alexie Clover</a:t>
            </a:r>
          </a:p>
          <a:p>
            <a:r>
              <a:rPr lang="en-US" dirty="0"/>
              <a:t>5/24/2023</a:t>
            </a:r>
          </a:p>
        </p:txBody>
      </p:sp>
      <p:grpSp>
        <p:nvGrpSpPr>
          <p:cNvPr id="4" name="Group 14">
            <a:extLst>
              <a:ext uri="{FF2B5EF4-FFF2-40B4-BE49-F238E27FC236}">
                <a16:creationId xmlns:a16="http://schemas.microsoft.com/office/drawing/2014/main" id="{EFEDD135-3ED0-E241-9D22-AEA0149EB8FA}"/>
              </a:ext>
            </a:extLst>
          </p:cNvPr>
          <p:cNvGrpSpPr>
            <a:grpSpLocks/>
          </p:cNvGrpSpPr>
          <p:nvPr/>
        </p:nvGrpSpPr>
        <p:grpSpPr bwMode="auto">
          <a:xfrm>
            <a:off x="1" y="268804"/>
            <a:ext cx="9144000" cy="1143000"/>
            <a:chOff x="1" y="76200"/>
            <a:chExt cx="9144000" cy="1143000"/>
          </a:xfrm>
        </p:grpSpPr>
        <p:grpSp>
          <p:nvGrpSpPr>
            <p:cNvPr id="5" name="Group 15">
              <a:extLst>
                <a:ext uri="{FF2B5EF4-FFF2-40B4-BE49-F238E27FC236}">
                  <a16:creationId xmlns:a16="http://schemas.microsoft.com/office/drawing/2014/main" id="{269F588E-6DA8-1A4E-9ADD-BD08B6D9B52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" y="161928"/>
              <a:ext cx="9144000" cy="993788"/>
              <a:chOff x="0" y="102"/>
              <a:chExt cx="5760" cy="626"/>
            </a:xfrm>
          </p:grpSpPr>
          <p:sp>
            <p:nvSpPr>
              <p:cNvPr id="8" name="Rectangle 3">
                <a:extLst>
                  <a:ext uri="{FF2B5EF4-FFF2-40B4-BE49-F238E27FC236}">
                    <a16:creationId xmlns:a16="http://schemas.microsoft.com/office/drawing/2014/main" id="{BC2847DA-3D7A-4044-A322-58E520B591A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0" y="332"/>
                <a:ext cx="5760" cy="233"/>
              </a:xfrm>
              <a:prstGeom prst="rect">
                <a:avLst/>
              </a:prstGeom>
              <a:gradFill rotWithShape="1">
                <a:gsLst>
                  <a:gs pos="0">
                    <a:srgbClr val="DDDDDD"/>
                  </a:gs>
                  <a:gs pos="100000">
                    <a:schemeClr val="tx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800">
                  <a:latin typeface="Helvetica" panose="020B0604020202020204" pitchFamily="34" charset="0"/>
                  <a:cs typeface="Helvetica" panose="020B0604020202020204" pitchFamily="34" charset="0"/>
                </a:endParaRPr>
              </a:p>
            </p:txBody>
          </p:sp>
          <p:pic>
            <p:nvPicPr>
              <p:cNvPr id="9" name="Picture 5" descr="images">
                <a:extLst>
                  <a:ext uri="{FF2B5EF4-FFF2-40B4-BE49-F238E27FC236}">
                    <a16:creationId xmlns:a16="http://schemas.microsoft.com/office/drawing/2014/main" id="{BA060B94-042A-BC42-AD83-F5CCCE9281D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92" y="102"/>
                <a:ext cx="626" cy="6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688F7BFD-7CA1-4346-A3C6-56A421463E1C}"/>
                </a:ext>
              </a:extLst>
            </p:cNvPr>
            <p:cNvSpPr/>
            <p:nvPr/>
          </p:nvSpPr>
          <p:spPr>
            <a:xfrm>
              <a:off x="152400" y="76200"/>
              <a:ext cx="1676400" cy="1143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US">
                <a:latin typeface="Helvetica" panose="020B0604020202020204" pitchFamily="34" charset="0"/>
                <a:cs typeface="Helvetica" panose="020B0604020202020204" pitchFamily="34" charset="0"/>
              </a:endParaRPr>
            </a:p>
          </p:txBody>
        </p:sp>
        <p:pic>
          <p:nvPicPr>
            <p:cNvPr id="7" name="Picture 4" descr="http://images.wikia.com/logopedia/images/4/4a/Western_Washington_University_2010.png">
              <a:extLst>
                <a:ext uri="{FF2B5EF4-FFF2-40B4-BE49-F238E27FC236}">
                  <a16:creationId xmlns:a16="http://schemas.microsoft.com/office/drawing/2014/main" id="{8B618BB1-23B2-E54B-B735-E92947E3803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1237" y="76200"/>
              <a:ext cx="1663602" cy="838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C159CB6E-372A-D856-D8EF-51BDBD3AF894}"/>
              </a:ext>
            </a:extLst>
          </p:cNvPr>
          <p:cNvSpPr txBox="1"/>
          <p:nvPr/>
        </p:nvSpPr>
        <p:spPr>
          <a:xfrm>
            <a:off x="11814628" y="6518740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6557488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4">
            <a:extLst>
              <a:ext uri="{FF2B5EF4-FFF2-40B4-BE49-F238E27FC236}">
                <a16:creationId xmlns:a16="http://schemas.microsoft.com/office/drawing/2014/main" id="{5D46DC04-2A77-AB45-B5AD-F26880DE7184}"/>
              </a:ext>
            </a:extLst>
          </p:cNvPr>
          <p:cNvGrpSpPr>
            <a:grpSpLocks/>
          </p:cNvGrpSpPr>
          <p:nvPr/>
        </p:nvGrpSpPr>
        <p:grpSpPr bwMode="auto">
          <a:xfrm>
            <a:off x="1" y="268804"/>
            <a:ext cx="9144000" cy="1143000"/>
            <a:chOff x="1" y="76200"/>
            <a:chExt cx="9144000" cy="1143000"/>
          </a:xfrm>
        </p:grpSpPr>
        <p:grpSp>
          <p:nvGrpSpPr>
            <p:cNvPr id="3" name="Group 15">
              <a:extLst>
                <a:ext uri="{FF2B5EF4-FFF2-40B4-BE49-F238E27FC236}">
                  <a16:creationId xmlns:a16="http://schemas.microsoft.com/office/drawing/2014/main" id="{8DB712E5-3217-2841-ABFF-BF477CB0873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" y="161928"/>
              <a:ext cx="9144000" cy="993788"/>
              <a:chOff x="0" y="102"/>
              <a:chExt cx="5760" cy="626"/>
            </a:xfrm>
          </p:grpSpPr>
          <p:sp>
            <p:nvSpPr>
              <p:cNvPr id="6" name="Rectangle 3">
                <a:extLst>
                  <a:ext uri="{FF2B5EF4-FFF2-40B4-BE49-F238E27FC236}">
                    <a16:creationId xmlns:a16="http://schemas.microsoft.com/office/drawing/2014/main" id="{2AC2D3B3-E9D4-2E40-9235-9BF4922978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0" y="332"/>
                <a:ext cx="5760" cy="233"/>
              </a:xfrm>
              <a:prstGeom prst="rect">
                <a:avLst/>
              </a:prstGeom>
              <a:gradFill rotWithShape="1">
                <a:gsLst>
                  <a:gs pos="0">
                    <a:srgbClr val="DDDDDD"/>
                  </a:gs>
                  <a:gs pos="100000">
                    <a:schemeClr val="tx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800">
                  <a:latin typeface="Helvetica" panose="020B0604020202020204" pitchFamily="34" charset="0"/>
                  <a:cs typeface="Helvetica" panose="020B0604020202020204" pitchFamily="34" charset="0"/>
                </a:endParaRPr>
              </a:p>
            </p:txBody>
          </p:sp>
          <p:pic>
            <p:nvPicPr>
              <p:cNvPr id="7" name="Picture 5" descr="images">
                <a:extLst>
                  <a:ext uri="{FF2B5EF4-FFF2-40B4-BE49-F238E27FC236}">
                    <a16:creationId xmlns:a16="http://schemas.microsoft.com/office/drawing/2014/main" id="{56026FD8-7909-D140-9214-798B569FC2D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92" y="102"/>
                <a:ext cx="626" cy="6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0A07B794-11F1-9947-B1BA-BE6AB48A41C2}"/>
                </a:ext>
              </a:extLst>
            </p:cNvPr>
            <p:cNvSpPr/>
            <p:nvPr/>
          </p:nvSpPr>
          <p:spPr>
            <a:xfrm>
              <a:off x="152400" y="76200"/>
              <a:ext cx="1676400" cy="1143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US">
                <a:latin typeface="Helvetica" panose="020B0604020202020204" pitchFamily="34" charset="0"/>
                <a:cs typeface="Helvetica" panose="020B0604020202020204" pitchFamily="34" charset="0"/>
              </a:endParaRPr>
            </a:p>
          </p:txBody>
        </p:sp>
        <p:pic>
          <p:nvPicPr>
            <p:cNvPr id="5" name="Picture 4" descr="http://images.wikia.com/logopedia/images/4/4a/Western_Washington_University_2010.png">
              <a:extLst>
                <a:ext uri="{FF2B5EF4-FFF2-40B4-BE49-F238E27FC236}">
                  <a16:creationId xmlns:a16="http://schemas.microsoft.com/office/drawing/2014/main" id="{3349F1A8-2F2F-774E-9DAA-89D7E24FFC2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1237" y="76200"/>
              <a:ext cx="1663602" cy="838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8746BCDE-1FDA-A444-B241-CF3CF72C1088}"/>
              </a:ext>
            </a:extLst>
          </p:cNvPr>
          <p:cNvSpPr txBox="1"/>
          <p:nvPr/>
        </p:nvSpPr>
        <p:spPr>
          <a:xfrm>
            <a:off x="1814842" y="123796"/>
            <a:ext cx="67405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1"/>
                </a:solidFill>
                <a:latin typeface="+mj-lt"/>
              </a:rPr>
              <a:t>Thesis Design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4E30988-0BDA-C641-F191-A673E096C714}"/>
              </a:ext>
            </a:extLst>
          </p:cNvPr>
          <p:cNvSpPr txBox="1"/>
          <p:nvPr/>
        </p:nvSpPr>
        <p:spPr>
          <a:xfrm>
            <a:off x="383182" y="1414405"/>
            <a:ext cx="11164388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This thesis will focus on further developing both silicon-tethered reactions discovered in the O’Neil lab with an eye toward generating useful intermediates that can be used to synthesize biologically active small molecules.</a:t>
            </a:r>
          </a:p>
          <a:p>
            <a:pPr lvl="1"/>
            <a:r>
              <a:rPr lang="en-US" sz="2000" dirty="0"/>
              <a:t>1. Starting from the iodine mediated rearrangement product one can synthesize increasingly complex structures that contain more reactive sites.</a:t>
            </a:r>
          </a:p>
        </p:txBody>
      </p:sp>
      <p:graphicFrame>
        <p:nvGraphicFramePr>
          <p:cNvPr id="12" name="Object 11">
            <a:extLst>
              <a:ext uri="{FF2B5EF4-FFF2-40B4-BE49-F238E27FC236}">
                <a16:creationId xmlns:a16="http://schemas.microsoft.com/office/drawing/2014/main" id="{AD73742D-6FB8-06A1-2F00-DEED76EA65E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25952599"/>
              </p:ext>
            </p:extLst>
          </p:nvPr>
        </p:nvGraphicFramePr>
        <p:xfrm>
          <a:off x="1605695" y="3143873"/>
          <a:ext cx="5835335" cy="1043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4" imgW="4862779" imgH="869719" progId="ChemDraw.Document.6.0">
                  <p:embed/>
                </p:oleObj>
              </mc:Choice>
              <mc:Fallback>
                <p:oleObj name="CS ChemDraw Drawing" r:id="rId4" imgW="4862779" imgH="869719" progId="ChemDraw.Document.6.0">
                  <p:embed/>
                  <p:pic>
                    <p:nvPicPr>
                      <p:cNvPr id="12" name="Object 11">
                        <a:extLst>
                          <a:ext uri="{FF2B5EF4-FFF2-40B4-BE49-F238E27FC236}">
                            <a16:creationId xmlns:a16="http://schemas.microsoft.com/office/drawing/2014/main" id="{AD73742D-6FB8-06A1-2F00-DEED76EA65E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605695" y="3143873"/>
                        <a:ext cx="5835335" cy="10436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13">
            <a:extLst>
              <a:ext uri="{FF2B5EF4-FFF2-40B4-BE49-F238E27FC236}">
                <a16:creationId xmlns:a16="http://schemas.microsoft.com/office/drawing/2014/main" id="{04271E67-76F2-E94F-2F54-E65D780B556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46873993"/>
              </p:ext>
            </p:extLst>
          </p:nvPr>
        </p:nvGraphicFramePr>
        <p:xfrm>
          <a:off x="7554090" y="3090008"/>
          <a:ext cx="3362797" cy="9759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6" imgW="2802331" imgH="813296" progId="ChemDraw.Document.6.0">
                  <p:embed/>
                </p:oleObj>
              </mc:Choice>
              <mc:Fallback>
                <p:oleObj name="CS ChemDraw Drawing" r:id="rId6" imgW="2802331" imgH="813296" progId="ChemDraw.Document.6.0">
                  <p:embed/>
                  <p:pic>
                    <p:nvPicPr>
                      <p:cNvPr id="14" name="Object 13">
                        <a:extLst>
                          <a:ext uri="{FF2B5EF4-FFF2-40B4-BE49-F238E27FC236}">
                            <a16:creationId xmlns:a16="http://schemas.microsoft.com/office/drawing/2014/main" id="{04271E67-76F2-E94F-2F54-E65D780B556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7554090" y="3090008"/>
                        <a:ext cx="3362797" cy="97595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F842EC64-510B-DB4A-01FB-4C97CE2CFDE3}"/>
              </a:ext>
            </a:extLst>
          </p:cNvPr>
          <p:cNvSpPr txBox="1"/>
          <p:nvPr/>
        </p:nvSpPr>
        <p:spPr>
          <a:xfrm>
            <a:off x="0" y="6456480"/>
            <a:ext cx="3137237" cy="40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9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O’Neil, G. W.; Cummins, E. J. Iodine-Mediated Rearrangements of Diallylsilanes. </a:t>
            </a:r>
            <a:r>
              <a:rPr lang="en-US" sz="9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Tetrahedron Lett.</a:t>
            </a:r>
            <a:r>
              <a:rPr lang="en-US" sz="9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2017</a:t>
            </a:r>
            <a:r>
              <a:rPr lang="en-US" sz="9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9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58</a:t>
            </a:r>
            <a:r>
              <a:rPr lang="en-US" sz="9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(35), 3406–3409.</a:t>
            </a:r>
            <a:endParaRPr lang="en-GB" sz="1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64C4ACA-1D2F-4334-9064-6BAC5F60DA8D}"/>
              </a:ext>
            </a:extLst>
          </p:cNvPr>
          <p:cNvSpPr txBox="1"/>
          <p:nvPr/>
        </p:nvSpPr>
        <p:spPr>
          <a:xfrm>
            <a:off x="11814628" y="6518740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0693294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4">
            <a:extLst>
              <a:ext uri="{FF2B5EF4-FFF2-40B4-BE49-F238E27FC236}">
                <a16:creationId xmlns:a16="http://schemas.microsoft.com/office/drawing/2014/main" id="{5D46DC04-2A77-AB45-B5AD-F26880DE7184}"/>
              </a:ext>
            </a:extLst>
          </p:cNvPr>
          <p:cNvGrpSpPr>
            <a:grpSpLocks/>
          </p:cNvGrpSpPr>
          <p:nvPr/>
        </p:nvGrpSpPr>
        <p:grpSpPr bwMode="auto">
          <a:xfrm>
            <a:off x="1" y="268804"/>
            <a:ext cx="9144000" cy="1143000"/>
            <a:chOff x="1" y="76200"/>
            <a:chExt cx="9144000" cy="1143000"/>
          </a:xfrm>
        </p:grpSpPr>
        <p:grpSp>
          <p:nvGrpSpPr>
            <p:cNvPr id="3" name="Group 15">
              <a:extLst>
                <a:ext uri="{FF2B5EF4-FFF2-40B4-BE49-F238E27FC236}">
                  <a16:creationId xmlns:a16="http://schemas.microsoft.com/office/drawing/2014/main" id="{8DB712E5-3217-2841-ABFF-BF477CB0873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" y="161928"/>
              <a:ext cx="9144000" cy="993788"/>
              <a:chOff x="0" y="102"/>
              <a:chExt cx="5760" cy="626"/>
            </a:xfrm>
          </p:grpSpPr>
          <p:sp>
            <p:nvSpPr>
              <p:cNvPr id="6" name="Rectangle 3">
                <a:extLst>
                  <a:ext uri="{FF2B5EF4-FFF2-40B4-BE49-F238E27FC236}">
                    <a16:creationId xmlns:a16="http://schemas.microsoft.com/office/drawing/2014/main" id="{2AC2D3B3-E9D4-2E40-9235-9BF4922978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0" y="332"/>
                <a:ext cx="5760" cy="233"/>
              </a:xfrm>
              <a:prstGeom prst="rect">
                <a:avLst/>
              </a:prstGeom>
              <a:gradFill rotWithShape="1">
                <a:gsLst>
                  <a:gs pos="0">
                    <a:srgbClr val="DDDDDD"/>
                  </a:gs>
                  <a:gs pos="100000">
                    <a:schemeClr val="tx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800">
                  <a:latin typeface="Helvetica" panose="020B0604020202020204" pitchFamily="34" charset="0"/>
                  <a:cs typeface="Helvetica" panose="020B0604020202020204" pitchFamily="34" charset="0"/>
                </a:endParaRPr>
              </a:p>
            </p:txBody>
          </p:sp>
          <p:pic>
            <p:nvPicPr>
              <p:cNvPr id="7" name="Picture 5" descr="images">
                <a:extLst>
                  <a:ext uri="{FF2B5EF4-FFF2-40B4-BE49-F238E27FC236}">
                    <a16:creationId xmlns:a16="http://schemas.microsoft.com/office/drawing/2014/main" id="{56026FD8-7909-D140-9214-798B569FC2D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92" y="102"/>
                <a:ext cx="626" cy="6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0A07B794-11F1-9947-B1BA-BE6AB48A41C2}"/>
                </a:ext>
              </a:extLst>
            </p:cNvPr>
            <p:cNvSpPr/>
            <p:nvPr/>
          </p:nvSpPr>
          <p:spPr>
            <a:xfrm>
              <a:off x="152400" y="76200"/>
              <a:ext cx="1676400" cy="1143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US">
                <a:latin typeface="Helvetica" panose="020B0604020202020204" pitchFamily="34" charset="0"/>
                <a:cs typeface="Helvetica" panose="020B0604020202020204" pitchFamily="34" charset="0"/>
              </a:endParaRPr>
            </a:p>
          </p:txBody>
        </p:sp>
        <p:pic>
          <p:nvPicPr>
            <p:cNvPr id="5" name="Picture 4" descr="http://images.wikia.com/logopedia/images/4/4a/Western_Washington_University_2010.png">
              <a:extLst>
                <a:ext uri="{FF2B5EF4-FFF2-40B4-BE49-F238E27FC236}">
                  <a16:creationId xmlns:a16="http://schemas.microsoft.com/office/drawing/2014/main" id="{3349F1A8-2F2F-774E-9DAA-89D7E24FFC2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1237" y="76200"/>
              <a:ext cx="1663602" cy="838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8746BCDE-1FDA-A444-B241-CF3CF72C1088}"/>
              </a:ext>
            </a:extLst>
          </p:cNvPr>
          <p:cNvSpPr txBox="1"/>
          <p:nvPr/>
        </p:nvSpPr>
        <p:spPr>
          <a:xfrm>
            <a:off x="1814842" y="123796"/>
            <a:ext cx="67405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1"/>
                </a:solidFill>
                <a:latin typeface="+mj-lt"/>
              </a:rPr>
              <a:t>Thesis Design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4E30988-0BDA-C641-F191-A673E096C714}"/>
              </a:ext>
            </a:extLst>
          </p:cNvPr>
          <p:cNvSpPr txBox="1"/>
          <p:nvPr/>
        </p:nvSpPr>
        <p:spPr>
          <a:xfrm>
            <a:off x="383182" y="1414405"/>
            <a:ext cx="11164388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This thesis will focus on further developing both silicon-tethered reactions discovered in the O’Neil lab with an eye toward generating useful intermediates that can be used to synthesize biologically active small molecules.</a:t>
            </a:r>
          </a:p>
          <a:p>
            <a:pPr lvl="1"/>
            <a:r>
              <a:rPr lang="en-US" sz="2000" dirty="0"/>
              <a:t>1. Starting from the iodine-mediated rearrangement product one can synthesize increasingly complex structures that contain more reactive sites.</a:t>
            </a:r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pPr lvl="1"/>
            <a:r>
              <a:rPr lang="en-US" sz="2000" dirty="0"/>
              <a:t>2. One aim is to expand the diallylsilane rearrangements to include elements other than iodine. In particular, the development of an epoxide-promoted rearrangement is of significant interest due to the value of further modification.</a:t>
            </a:r>
          </a:p>
          <a:p>
            <a:pPr marL="457189" indent="-457189">
              <a:buFont typeface="+mj-lt"/>
              <a:buAutoNum type="arabicPeriod"/>
            </a:pPr>
            <a:endParaRPr lang="en-US" sz="2000" dirty="0"/>
          </a:p>
          <a:p>
            <a:pPr marL="457189" indent="-457189">
              <a:buFont typeface="+mj-lt"/>
              <a:buAutoNum type="arabicPeriod"/>
            </a:pPr>
            <a:endParaRPr lang="en-US" sz="2000" dirty="0"/>
          </a:p>
        </p:txBody>
      </p:sp>
      <p:graphicFrame>
        <p:nvGraphicFramePr>
          <p:cNvPr id="11" name="Object 10">
            <a:extLst>
              <a:ext uri="{FF2B5EF4-FFF2-40B4-BE49-F238E27FC236}">
                <a16:creationId xmlns:a16="http://schemas.microsoft.com/office/drawing/2014/main" id="{691207BC-DA01-5660-5410-A4479DBB5BD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33825" y="5465763"/>
          <a:ext cx="4324350" cy="674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4" imgW="3605479" imgH="562044" progId="ChemDraw.Document.6.0">
                  <p:embed/>
                </p:oleObj>
              </mc:Choice>
              <mc:Fallback>
                <p:oleObj name="CS ChemDraw Drawing" r:id="rId4" imgW="3605479" imgH="562044" progId="ChemDraw.Document.6.0">
                  <p:embed/>
                  <p:pic>
                    <p:nvPicPr>
                      <p:cNvPr id="11" name="Object 10">
                        <a:extLst>
                          <a:ext uri="{FF2B5EF4-FFF2-40B4-BE49-F238E27FC236}">
                            <a16:creationId xmlns:a16="http://schemas.microsoft.com/office/drawing/2014/main" id="{691207BC-DA01-5660-5410-A4479DBB5BD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933825" y="5465763"/>
                        <a:ext cx="4324350" cy="6746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1">
            <a:extLst>
              <a:ext uri="{FF2B5EF4-FFF2-40B4-BE49-F238E27FC236}">
                <a16:creationId xmlns:a16="http://schemas.microsoft.com/office/drawing/2014/main" id="{AD73742D-6FB8-06A1-2F00-DEED76EA65E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05695" y="3143873"/>
          <a:ext cx="5835335" cy="1043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6" imgW="4862779" imgH="869719" progId="ChemDraw.Document.6.0">
                  <p:embed/>
                </p:oleObj>
              </mc:Choice>
              <mc:Fallback>
                <p:oleObj name="CS ChemDraw Drawing" r:id="rId6" imgW="4862779" imgH="869719" progId="ChemDraw.Document.6.0">
                  <p:embed/>
                  <p:pic>
                    <p:nvPicPr>
                      <p:cNvPr id="12" name="Object 11">
                        <a:extLst>
                          <a:ext uri="{FF2B5EF4-FFF2-40B4-BE49-F238E27FC236}">
                            <a16:creationId xmlns:a16="http://schemas.microsoft.com/office/drawing/2014/main" id="{AD73742D-6FB8-06A1-2F00-DEED76EA65E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605695" y="3143873"/>
                        <a:ext cx="5835335" cy="10436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13">
            <a:extLst>
              <a:ext uri="{FF2B5EF4-FFF2-40B4-BE49-F238E27FC236}">
                <a16:creationId xmlns:a16="http://schemas.microsoft.com/office/drawing/2014/main" id="{04271E67-76F2-E94F-2F54-E65D780B556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554090" y="3090008"/>
          <a:ext cx="3362797" cy="9759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8" imgW="2802331" imgH="813296" progId="ChemDraw.Document.6.0">
                  <p:embed/>
                </p:oleObj>
              </mc:Choice>
              <mc:Fallback>
                <p:oleObj name="CS ChemDraw Drawing" r:id="rId8" imgW="2802331" imgH="813296" progId="ChemDraw.Document.6.0">
                  <p:embed/>
                  <p:pic>
                    <p:nvPicPr>
                      <p:cNvPr id="14" name="Object 13">
                        <a:extLst>
                          <a:ext uri="{FF2B5EF4-FFF2-40B4-BE49-F238E27FC236}">
                            <a16:creationId xmlns:a16="http://schemas.microsoft.com/office/drawing/2014/main" id="{04271E67-76F2-E94F-2F54-E65D780B556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7554090" y="3090008"/>
                        <a:ext cx="3362797" cy="97595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3D2925B4-403A-38CD-5301-298F1278068E}"/>
              </a:ext>
            </a:extLst>
          </p:cNvPr>
          <p:cNvSpPr txBox="1"/>
          <p:nvPr/>
        </p:nvSpPr>
        <p:spPr>
          <a:xfrm>
            <a:off x="11814628" y="6518740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6583697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74728A49-67C3-1335-8AB5-6833976F519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41742033"/>
              </p:ext>
            </p:extLst>
          </p:nvPr>
        </p:nvGraphicFramePr>
        <p:xfrm>
          <a:off x="3600450" y="3245966"/>
          <a:ext cx="4995863" cy="3003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2" imgW="4163263" imgH="2503482" progId="ChemDraw.Document.6.0">
                  <p:embed/>
                </p:oleObj>
              </mc:Choice>
              <mc:Fallback>
                <p:oleObj name="CS ChemDraw Drawing" r:id="rId2" imgW="4163263" imgH="2503482" progId="ChemDraw.Document.6.0">
                  <p:embed/>
                  <p:pic>
                    <p:nvPicPr>
                      <p:cNvPr id="3" name="Object 2">
                        <a:extLst>
                          <a:ext uri="{FF2B5EF4-FFF2-40B4-BE49-F238E27FC236}">
                            <a16:creationId xmlns:a16="http://schemas.microsoft.com/office/drawing/2014/main" id="{74728A49-67C3-1335-8AB5-6833976F519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00450" y="3245966"/>
                        <a:ext cx="4995863" cy="30035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2">
            <a:extLst>
              <a:ext uri="{FF2B5EF4-FFF2-40B4-BE49-F238E27FC236}">
                <a16:creationId xmlns:a16="http://schemas.microsoft.com/office/drawing/2014/main" id="{04BED40F-B9E9-799F-6ED2-F799442734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14775" y="336232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  <p:grpSp>
        <p:nvGrpSpPr>
          <p:cNvPr id="4" name="Group 14">
            <a:extLst>
              <a:ext uri="{FF2B5EF4-FFF2-40B4-BE49-F238E27FC236}">
                <a16:creationId xmlns:a16="http://schemas.microsoft.com/office/drawing/2014/main" id="{81443CF3-2B04-7563-6168-5CF296AA01BB}"/>
              </a:ext>
            </a:extLst>
          </p:cNvPr>
          <p:cNvGrpSpPr>
            <a:grpSpLocks/>
          </p:cNvGrpSpPr>
          <p:nvPr/>
        </p:nvGrpSpPr>
        <p:grpSpPr bwMode="auto">
          <a:xfrm>
            <a:off x="1" y="268804"/>
            <a:ext cx="9144000" cy="1143000"/>
            <a:chOff x="1" y="76200"/>
            <a:chExt cx="9144000" cy="1143000"/>
          </a:xfrm>
        </p:grpSpPr>
        <p:grpSp>
          <p:nvGrpSpPr>
            <p:cNvPr id="5" name="Group 15">
              <a:extLst>
                <a:ext uri="{FF2B5EF4-FFF2-40B4-BE49-F238E27FC236}">
                  <a16:creationId xmlns:a16="http://schemas.microsoft.com/office/drawing/2014/main" id="{0033BB7C-ADCE-7D29-4F6C-0DE445C000B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" y="161928"/>
              <a:ext cx="9144000" cy="993788"/>
              <a:chOff x="0" y="102"/>
              <a:chExt cx="5760" cy="626"/>
            </a:xfrm>
          </p:grpSpPr>
          <p:sp>
            <p:nvSpPr>
              <p:cNvPr id="8" name="Rectangle 3">
                <a:extLst>
                  <a:ext uri="{FF2B5EF4-FFF2-40B4-BE49-F238E27FC236}">
                    <a16:creationId xmlns:a16="http://schemas.microsoft.com/office/drawing/2014/main" id="{6C4CDFD6-26EE-D589-C2B3-5BD276C7644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0" y="332"/>
                <a:ext cx="5760" cy="233"/>
              </a:xfrm>
              <a:prstGeom prst="rect">
                <a:avLst/>
              </a:prstGeom>
              <a:gradFill rotWithShape="1">
                <a:gsLst>
                  <a:gs pos="0">
                    <a:srgbClr val="DDDDDD"/>
                  </a:gs>
                  <a:gs pos="100000">
                    <a:schemeClr val="tx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800">
                  <a:latin typeface="Helvetica" panose="020B0604020202020204" pitchFamily="34" charset="0"/>
                  <a:cs typeface="Helvetica" panose="020B0604020202020204" pitchFamily="34" charset="0"/>
                </a:endParaRPr>
              </a:p>
            </p:txBody>
          </p:sp>
          <p:pic>
            <p:nvPicPr>
              <p:cNvPr id="9" name="Picture 5" descr="images">
                <a:extLst>
                  <a:ext uri="{FF2B5EF4-FFF2-40B4-BE49-F238E27FC236}">
                    <a16:creationId xmlns:a16="http://schemas.microsoft.com/office/drawing/2014/main" id="{231C5456-F1E6-0004-8549-D59C9947D49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92" y="102"/>
                <a:ext cx="626" cy="6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03966C5-AD80-5973-BF00-163C8159D9B9}"/>
                </a:ext>
              </a:extLst>
            </p:cNvPr>
            <p:cNvSpPr/>
            <p:nvPr/>
          </p:nvSpPr>
          <p:spPr>
            <a:xfrm>
              <a:off x="152400" y="76200"/>
              <a:ext cx="1676400" cy="1143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US">
                <a:latin typeface="Helvetica" panose="020B0604020202020204" pitchFamily="34" charset="0"/>
                <a:cs typeface="Helvetica" panose="020B0604020202020204" pitchFamily="34" charset="0"/>
              </a:endParaRPr>
            </a:p>
          </p:txBody>
        </p:sp>
        <p:pic>
          <p:nvPicPr>
            <p:cNvPr id="7" name="Picture 6" descr="http://images.wikia.com/logopedia/images/4/4a/Western_Washington_University_2010.png">
              <a:extLst>
                <a:ext uri="{FF2B5EF4-FFF2-40B4-BE49-F238E27FC236}">
                  <a16:creationId xmlns:a16="http://schemas.microsoft.com/office/drawing/2014/main" id="{16276B6F-9E55-7BD6-7753-9CECA34114A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1237" y="76200"/>
              <a:ext cx="1663602" cy="838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4E72EDAC-2118-20F6-CF05-E45C3EEE1098}"/>
              </a:ext>
            </a:extLst>
          </p:cNvPr>
          <p:cNvSpPr txBox="1"/>
          <p:nvPr/>
        </p:nvSpPr>
        <p:spPr>
          <a:xfrm>
            <a:off x="1814843" y="123796"/>
            <a:ext cx="28719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accent1"/>
                </a:solidFill>
                <a:latin typeface="+mj-lt"/>
              </a:rPr>
              <a:t>The Beta-Silicon Effect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2F12F90-3887-EC1B-C09A-ABD5BDE29697}"/>
                  </a:ext>
                </a:extLst>
              </p:cNvPr>
              <p:cNvSpPr txBox="1"/>
              <p:nvPr/>
            </p:nvSpPr>
            <p:spPr>
              <a:xfrm>
                <a:off x="990600" y="1407563"/>
                <a:ext cx="9664700" cy="147732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</a:rPr>
                  <a:t>The </a:t>
                </a:r>
                <a14:m>
                  <m:oMath xmlns:m="http://schemas.openxmlformats.org/officeDocument/2006/math">
                    <m:r>
                      <a:rPr lang="en-US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𝛽</m:t>
                    </m:r>
                  </m:oMath>
                </a14:m>
                <a:r>
                  <a:rPr lang="en-US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</a:rPr>
                  <a:t>-silyl effect is a type of hyperconjugation where silicon stabilizes a positive charge on a carbon in the </a:t>
                </a:r>
                <a14:m>
                  <m:oMath xmlns:m="http://schemas.openxmlformats.org/officeDocument/2006/math">
                    <m:r>
                      <a:rPr lang="en-US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𝛽</m:t>
                    </m:r>
                  </m:oMath>
                </a14:m>
                <a:r>
                  <a:rPr lang="en-US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</a:rPr>
                  <a:t>-position.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</a:rPr>
                  <a:t>This occurs by the C-Si </a:t>
                </a:r>
                <a14:m>
                  <m:oMath xmlns:m="http://schemas.openxmlformats.org/officeDocument/2006/math">
                    <m:r>
                      <a:rPr lang="en-US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𝜎</m:t>
                    </m:r>
                  </m:oMath>
                </a14:m>
                <a:r>
                  <a:rPr lang="en-US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</a:rPr>
                  <a:t> orbital donating electron density into the empty p-orbital in the </a:t>
                </a:r>
                <a14:m>
                  <m:oMath xmlns:m="http://schemas.openxmlformats.org/officeDocument/2006/math">
                    <m:r>
                      <a:rPr lang="en-US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𝛽</m:t>
                    </m:r>
                  </m:oMath>
                </a14:m>
                <a:r>
                  <a:rPr lang="en-US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</a:rPr>
                  <a:t> position</a:t>
                </a:r>
                <a:r>
                  <a:rPr lang="en-US" sz="1800" b="1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</a:rPr>
                  <a:t>to stabilize the resulting carbocation.</a:t>
                </a:r>
                <a:endParaRPr lang="en-US" dirty="0">
                  <a:latin typeface="Calibri" panose="020F0502020204030204" pitchFamily="34" charset="0"/>
                  <a:ea typeface="Times New Roman" panose="020206030504050203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>
                    <a:latin typeface="Calibri" panose="020F0502020204030204" pitchFamily="34" charset="0"/>
                    <a:ea typeface="Times New Roman" panose="02020603050405020304" pitchFamily="18" charset="0"/>
                  </a:rPr>
                  <a:t>T</a:t>
                </a:r>
                <a:r>
                  <a:rPr lang="en-US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</a:rPr>
                  <a:t>he C-Si </a:t>
                </a:r>
                <a14:m>
                  <m:oMath xmlns:m="http://schemas.openxmlformats.org/officeDocument/2006/math">
                    <m:r>
                      <a:rPr lang="en-US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𝜎</m:t>
                    </m:r>
                  </m:oMath>
                </a14:m>
                <a:r>
                  <a:rPr lang="en-US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</a:rPr>
                  <a:t> orbital can donate electron density into the C-X </a:t>
                </a:r>
                <a14:m>
                  <m:oMath xmlns:m="http://schemas.openxmlformats.org/officeDocument/2006/math">
                    <m:r>
                      <a:rPr lang="en-US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𝜎</m:t>
                    </m:r>
                  </m:oMath>
                </a14:m>
                <a:r>
                  <a:rPr lang="en-US" sz="1800" baseline="300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</a:rPr>
                  <a:t>*</a:t>
                </a:r>
                <a:r>
                  <a:rPr lang="en-US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</a:rPr>
                  <a:t> orbital, thus weakening the bond.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2F12F90-3887-EC1B-C09A-ABD5BDE296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0600" y="1407563"/>
                <a:ext cx="9664700" cy="1477328"/>
              </a:xfrm>
              <a:prstGeom prst="rect">
                <a:avLst/>
              </a:prstGeom>
              <a:blipFill>
                <a:blip r:embed="rId6"/>
                <a:stretch>
                  <a:fillRect l="-442" t="-2479" b="-578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ectangle 12">
            <a:extLst>
              <a:ext uri="{FF2B5EF4-FFF2-40B4-BE49-F238E27FC236}">
                <a16:creationId xmlns:a16="http://schemas.microsoft.com/office/drawing/2014/main" id="{4FB6AB70-0F50-D424-B27A-A53457CA6721}"/>
              </a:ext>
            </a:extLst>
          </p:cNvPr>
          <p:cNvSpPr/>
          <p:nvPr/>
        </p:nvSpPr>
        <p:spPr>
          <a:xfrm>
            <a:off x="5758774" y="5466945"/>
            <a:ext cx="2837539" cy="89891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B1F0B3C-5DC3-6C31-8EAB-8BED53DCE21A}"/>
              </a:ext>
            </a:extLst>
          </p:cNvPr>
          <p:cNvSpPr txBox="1"/>
          <p:nvPr/>
        </p:nvSpPr>
        <p:spPr>
          <a:xfrm>
            <a:off x="0" y="6422111"/>
            <a:ext cx="2393661" cy="4358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Silicon in Organic Synthesis Colvin, E. Butterworth: London </a:t>
            </a:r>
            <a:r>
              <a:rPr lang="en-US" sz="1000" b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1981</a:t>
            </a:r>
            <a:endParaRPr lang="en-GB" sz="105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522553F-3430-4739-148D-561E166B58D4}"/>
              </a:ext>
            </a:extLst>
          </p:cNvPr>
          <p:cNvSpPr txBox="1"/>
          <p:nvPr/>
        </p:nvSpPr>
        <p:spPr>
          <a:xfrm>
            <a:off x="11814628" y="6518740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0244632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2C262232-BBAC-EDEC-55C4-7F967BCA5011}"/>
              </a:ext>
            </a:extLst>
          </p:cNvPr>
          <p:cNvSpPr/>
          <p:nvPr/>
        </p:nvSpPr>
        <p:spPr>
          <a:xfrm>
            <a:off x="7052553" y="3429000"/>
            <a:ext cx="1001949" cy="578792"/>
          </a:xfrm>
          <a:prstGeom prst="rect">
            <a:avLst/>
          </a:prstGeom>
          <a:solidFill>
            <a:schemeClr val="bg2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04BED40F-B9E9-799F-6ED2-F799442734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14775" y="336232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74728A49-67C3-1335-8AB5-6833976F519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600450" y="3245966"/>
          <a:ext cx="4995863" cy="3003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2" imgW="4163263" imgH="2503482" progId="ChemDraw.Document.6.0">
                  <p:embed/>
                </p:oleObj>
              </mc:Choice>
              <mc:Fallback>
                <p:oleObj name="CS ChemDraw Drawing" r:id="rId2" imgW="4163263" imgH="2503482" progId="ChemDraw.Document.6.0">
                  <p:embed/>
                  <p:pic>
                    <p:nvPicPr>
                      <p:cNvPr id="3" name="Object 2">
                        <a:extLst>
                          <a:ext uri="{FF2B5EF4-FFF2-40B4-BE49-F238E27FC236}">
                            <a16:creationId xmlns:a16="http://schemas.microsoft.com/office/drawing/2014/main" id="{74728A49-67C3-1335-8AB5-6833976F519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00450" y="3245966"/>
                        <a:ext cx="4995863" cy="30035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Group 14">
            <a:extLst>
              <a:ext uri="{FF2B5EF4-FFF2-40B4-BE49-F238E27FC236}">
                <a16:creationId xmlns:a16="http://schemas.microsoft.com/office/drawing/2014/main" id="{81443CF3-2B04-7563-6168-5CF296AA01BB}"/>
              </a:ext>
            </a:extLst>
          </p:cNvPr>
          <p:cNvGrpSpPr>
            <a:grpSpLocks/>
          </p:cNvGrpSpPr>
          <p:nvPr/>
        </p:nvGrpSpPr>
        <p:grpSpPr bwMode="auto">
          <a:xfrm>
            <a:off x="1" y="268804"/>
            <a:ext cx="9144000" cy="1143000"/>
            <a:chOff x="1" y="76200"/>
            <a:chExt cx="9144000" cy="1143000"/>
          </a:xfrm>
        </p:grpSpPr>
        <p:grpSp>
          <p:nvGrpSpPr>
            <p:cNvPr id="5" name="Group 15">
              <a:extLst>
                <a:ext uri="{FF2B5EF4-FFF2-40B4-BE49-F238E27FC236}">
                  <a16:creationId xmlns:a16="http://schemas.microsoft.com/office/drawing/2014/main" id="{0033BB7C-ADCE-7D29-4F6C-0DE445C000B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" y="161928"/>
              <a:ext cx="9144000" cy="993788"/>
              <a:chOff x="0" y="102"/>
              <a:chExt cx="5760" cy="626"/>
            </a:xfrm>
          </p:grpSpPr>
          <p:sp>
            <p:nvSpPr>
              <p:cNvPr id="8" name="Rectangle 3">
                <a:extLst>
                  <a:ext uri="{FF2B5EF4-FFF2-40B4-BE49-F238E27FC236}">
                    <a16:creationId xmlns:a16="http://schemas.microsoft.com/office/drawing/2014/main" id="{6C4CDFD6-26EE-D589-C2B3-5BD276C7644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0" y="332"/>
                <a:ext cx="5760" cy="233"/>
              </a:xfrm>
              <a:prstGeom prst="rect">
                <a:avLst/>
              </a:prstGeom>
              <a:gradFill rotWithShape="1">
                <a:gsLst>
                  <a:gs pos="0">
                    <a:srgbClr val="DDDDDD"/>
                  </a:gs>
                  <a:gs pos="100000">
                    <a:schemeClr val="tx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800">
                  <a:latin typeface="Helvetica" panose="020B0604020202020204" pitchFamily="34" charset="0"/>
                  <a:cs typeface="Helvetica" panose="020B0604020202020204" pitchFamily="34" charset="0"/>
                </a:endParaRPr>
              </a:p>
            </p:txBody>
          </p:sp>
          <p:pic>
            <p:nvPicPr>
              <p:cNvPr id="9" name="Picture 5" descr="images">
                <a:extLst>
                  <a:ext uri="{FF2B5EF4-FFF2-40B4-BE49-F238E27FC236}">
                    <a16:creationId xmlns:a16="http://schemas.microsoft.com/office/drawing/2014/main" id="{231C5456-F1E6-0004-8549-D59C9947D49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92" y="102"/>
                <a:ext cx="626" cy="6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03966C5-AD80-5973-BF00-163C8159D9B9}"/>
                </a:ext>
              </a:extLst>
            </p:cNvPr>
            <p:cNvSpPr/>
            <p:nvPr/>
          </p:nvSpPr>
          <p:spPr>
            <a:xfrm>
              <a:off x="152400" y="76200"/>
              <a:ext cx="1676400" cy="1143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US">
                <a:latin typeface="Helvetica" panose="020B0604020202020204" pitchFamily="34" charset="0"/>
                <a:cs typeface="Helvetica" panose="020B0604020202020204" pitchFamily="34" charset="0"/>
              </a:endParaRPr>
            </a:p>
          </p:txBody>
        </p:sp>
        <p:pic>
          <p:nvPicPr>
            <p:cNvPr id="7" name="Picture 6" descr="http://images.wikia.com/logopedia/images/4/4a/Western_Washington_University_2010.png">
              <a:extLst>
                <a:ext uri="{FF2B5EF4-FFF2-40B4-BE49-F238E27FC236}">
                  <a16:creationId xmlns:a16="http://schemas.microsoft.com/office/drawing/2014/main" id="{16276B6F-9E55-7BD6-7753-9CECA34114A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1237" y="76200"/>
              <a:ext cx="1663602" cy="838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4E72EDAC-2118-20F6-CF05-E45C3EEE1098}"/>
              </a:ext>
            </a:extLst>
          </p:cNvPr>
          <p:cNvSpPr txBox="1"/>
          <p:nvPr/>
        </p:nvSpPr>
        <p:spPr>
          <a:xfrm>
            <a:off x="1814843" y="123796"/>
            <a:ext cx="28719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accent1"/>
                </a:solidFill>
                <a:latin typeface="+mj-lt"/>
              </a:rPr>
              <a:t>The Beta-Silicon Effect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2F12F90-3887-EC1B-C09A-ABD5BDE29697}"/>
                  </a:ext>
                </a:extLst>
              </p:cNvPr>
              <p:cNvSpPr txBox="1"/>
              <p:nvPr/>
            </p:nvSpPr>
            <p:spPr>
              <a:xfrm>
                <a:off x="990600" y="1407563"/>
                <a:ext cx="9664700" cy="147732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</a:rPr>
                  <a:t>The </a:t>
                </a:r>
                <a14:m>
                  <m:oMath xmlns:m="http://schemas.openxmlformats.org/officeDocument/2006/math">
                    <m:r>
                      <a:rPr lang="en-US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𝛽</m:t>
                    </m:r>
                  </m:oMath>
                </a14:m>
                <a:r>
                  <a:rPr lang="en-US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</a:rPr>
                  <a:t>-silyl effect is a type of hyperconjugation where silicon stabilizes a positive charge on a carbon in the </a:t>
                </a:r>
                <a14:m>
                  <m:oMath xmlns:m="http://schemas.openxmlformats.org/officeDocument/2006/math">
                    <m:r>
                      <a:rPr lang="en-US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𝛽</m:t>
                    </m:r>
                  </m:oMath>
                </a14:m>
                <a:r>
                  <a:rPr lang="en-US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</a:rPr>
                  <a:t>-position.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</a:rPr>
                  <a:t>This occurs by the C-Si </a:t>
                </a:r>
                <a14:m>
                  <m:oMath xmlns:m="http://schemas.openxmlformats.org/officeDocument/2006/math">
                    <m:r>
                      <a:rPr lang="en-US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𝜎</m:t>
                    </m:r>
                  </m:oMath>
                </a14:m>
                <a:r>
                  <a:rPr lang="en-US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</a:rPr>
                  <a:t> orbital donating electron density into the empty p-orbital in the </a:t>
                </a:r>
                <a14:m>
                  <m:oMath xmlns:m="http://schemas.openxmlformats.org/officeDocument/2006/math">
                    <m:r>
                      <a:rPr lang="en-US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𝛽</m:t>
                    </m:r>
                  </m:oMath>
                </a14:m>
                <a:r>
                  <a:rPr lang="en-US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</a:rPr>
                  <a:t> position</a:t>
                </a:r>
                <a:r>
                  <a:rPr lang="en-US" sz="1800" b="1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</a:rPr>
                  <a:t>to stabilize the resulting carbocation.</a:t>
                </a:r>
                <a:endParaRPr lang="en-US" dirty="0">
                  <a:latin typeface="Calibri" panose="020F0502020204030204" pitchFamily="34" charset="0"/>
                  <a:ea typeface="Times New Roman" panose="020206030504050203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>
                    <a:latin typeface="Calibri" panose="020F0502020204030204" pitchFamily="34" charset="0"/>
                    <a:ea typeface="Times New Roman" panose="02020603050405020304" pitchFamily="18" charset="0"/>
                  </a:rPr>
                  <a:t>T</a:t>
                </a:r>
                <a:r>
                  <a:rPr lang="en-US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</a:rPr>
                  <a:t>he C-Si </a:t>
                </a:r>
                <a14:m>
                  <m:oMath xmlns:m="http://schemas.openxmlformats.org/officeDocument/2006/math">
                    <m:r>
                      <a:rPr lang="en-US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𝜎</m:t>
                    </m:r>
                  </m:oMath>
                </a14:m>
                <a:r>
                  <a:rPr lang="en-US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</a:rPr>
                  <a:t> orbital can donate electron density into the C-X </a:t>
                </a:r>
                <a14:m>
                  <m:oMath xmlns:m="http://schemas.openxmlformats.org/officeDocument/2006/math">
                    <m:r>
                      <a:rPr lang="en-US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𝜎</m:t>
                    </m:r>
                  </m:oMath>
                </a14:m>
                <a:r>
                  <a:rPr lang="en-US" sz="1800" baseline="300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</a:rPr>
                  <a:t>*</a:t>
                </a:r>
                <a:r>
                  <a:rPr lang="en-US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</a:rPr>
                  <a:t> orbital, thus weakening the bond.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2F12F90-3887-EC1B-C09A-ABD5BDE296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0600" y="1407563"/>
                <a:ext cx="9664700" cy="1477328"/>
              </a:xfrm>
              <a:prstGeom prst="rect">
                <a:avLst/>
              </a:prstGeom>
              <a:blipFill>
                <a:blip r:embed="rId6"/>
                <a:stretch>
                  <a:fillRect l="-442" t="-2479" b="-578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72986EB9-4AC2-1319-BB1C-D6376838FBDD}"/>
              </a:ext>
            </a:extLst>
          </p:cNvPr>
          <p:cNvSpPr txBox="1"/>
          <p:nvPr/>
        </p:nvSpPr>
        <p:spPr>
          <a:xfrm>
            <a:off x="0" y="6422111"/>
            <a:ext cx="2393661" cy="4358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Silicon in Organic Synthesis Colvin, E. Butterworth: London </a:t>
            </a:r>
            <a:r>
              <a:rPr lang="en-US" sz="1000" b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1981</a:t>
            </a:r>
            <a:endParaRPr lang="en-GB" sz="105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C0058F5-C386-590F-27C0-7195B1CBD034}"/>
              </a:ext>
            </a:extLst>
          </p:cNvPr>
          <p:cNvSpPr txBox="1"/>
          <p:nvPr/>
        </p:nvSpPr>
        <p:spPr>
          <a:xfrm>
            <a:off x="11814628" y="6518740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8094790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14">
            <a:extLst>
              <a:ext uri="{FF2B5EF4-FFF2-40B4-BE49-F238E27FC236}">
                <a16:creationId xmlns:a16="http://schemas.microsoft.com/office/drawing/2014/main" id="{8337B8D8-E05F-01A1-5EF1-4633F3D6A5D3}"/>
              </a:ext>
            </a:extLst>
          </p:cNvPr>
          <p:cNvGrpSpPr>
            <a:grpSpLocks/>
          </p:cNvGrpSpPr>
          <p:nvPr/>
        </p:nvGrpSpPr>
        <p:grpSpPr bwMode="auto">
          <a:xfrm>
            <a:off x="1" y="268804"/>
            <a:ext cx="9144000" cy="1143000"/>
            <a:chOff x="1" y="76200"/>
            <a:chExt cx="9144000" cy="1143000"/>
          </a:xfrm>
        </p:grpSpPr>
        <p:grpSp>
          <p:nvGrpSpPr>
            <p:cNvPr id="4" name="Group 15">
              <a:extLst>
                <a:ext uri="{FF2B5EF4-FFF2-40B4-BE49-F238E27FC236}">
                  <a16:creationId xmlns:a16="http://schemas.microsoft.com/office/drawing/2014/main" id="{72D3ACBB-5CBA-B012-6724-070931D51E0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" y="161928"/>
              <a:ext cx="9144000" cy="993788"/>
              <a:chOff x="0" y="102"/>
              <a:chExt cx="5760" cy="626"/>
            </a:xfrm>
          </p:grpSpPr>
          <p:sp>
            <p:nvSpPr>
              <p:cNvPr id="7" name="Rectangle 3">
                <a:extLst>
                  <a:ext uri="{FF2B5EF4-FFF2-40B4-BE49-F238E27FC236}">
                    <a16:creationId xmlns:a16="http://schemas.microsoft.com/office/drawing/2014/main" id="{1EF12B15-7FF6-C02F-02A8-2B558C4C23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0" y="332"/>
                <a:ext cx="5760" cy="233"/>
              </a:xfrm>
              <a:prstGeom prst="rect">
                <a:avLst/>
              </a:prstGeom>
              <a:gradFill rotWithShape="1">
                <a:gsLst>
                  <a:gs pos="0">
                    <a:srgbClr val="DDDDDD"/>
                  </a:gs>
                  <a:gs pos="100000">
                    <a:schemeClr val="tx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800">
                  <a:latin typeface="Helvetica" panose="020B0604020202020204" pitchFamily="34" charset="0"/>
                  <a:cs typeface="Helvetica" panose="020B0604020202020204" pitchFamily="34" charset="0"/>
                </a:endParaRPr>
              </a:p>
            </p:txBody>
          </p:sp>
          <p:pic>
            <p:nvPicPr>
              <p:cNvPr id="8" name="Picture 5" descr="images">
                <a:extLst>
                  <a:ext uri="{FF2B5EF4-FFF2-40B4-BE49-F238E27FC236}">
                    <a16:creationId xmlns:a16="http://schemas.microsoft.com/office/drawing/2014/main" id="{8596483B-EFC8-3A85-5BBE-91DC341423F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92" y="102"/>
                <a:ext cx="626" cy="6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DC4CA9EF-B0F0-A766-B7CE-B1B1E04495F4}"/>
                </a:ext>
              </a:extLst>
            </p:cNvPr>
            <p:cNvSpPr/>
            <p:nvPr/>
          </p:nvSpPr>
          <p:spPr>
            <a:xfrm>
              <a:off x="152400" y="76200"/>
              <a:ext cx="1676400" cy="1143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US">
                <a:latin typeface="Helvetica" panose="020B0604020202020204" pitchFamily="34" charset="0"/>
                <a:cs typeface="Helvetica" panose="020B0604020202020204" pitchFamily="34" charset="0"/>
              </a:endParaRPr>
            </a:p>
          </p:txBody>
        </p:sp>
        <p:pic>
          <p:nvPicPr>
            <p:cNvPr id="6" name="Picture 5" descr="http://images.wikia.com/logopedia/images/4/4a/Western_Washington_University_2010.png">
              <a:extLst>
                <a:ext uri="{FF2B5EF4-FFF2-40B4-BE49-F238E27FC236}">
                  <a16:creationId xmlns:a16="http://schemas.microsoft.com/office/drawing/2014/main" id="{7455B554-8F2D-3255-C327-633CC0D161F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1237" y="76200"/>
              <a:ext cx="1663602" cy="838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3B0896B7-6797-56AE-C592-72B40C613EB0}"/>
              </a:ext>
            </a:extLst>
          </p:cNvPr>
          <p:cNvSpPr txBox="1"/>
          <p:nvPr/>
        </p:nvSpPr>
        <p:spPr>
          <a:xfrm>
            <a:off x="1814843" y="123796"/>
            <a:ext cx="59928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accent1"/>
                </a:solidFill>
                <a:latin typeface="+mj-lt"/>
              </a:rPr>
              <a:t>Oxygen-Mediated Diallyl Silane Rearrangements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59BB47C-A162-E7C2-F60E-36821F4C2B74}"/>
              </a:ext>
            </a:extLst>
          </p:cNvPr>
          <p:cNvSpPr txBox="1"/>
          <p:nvPr/>
        </p:nvSpPr>
        <p:spPr>
          <a:xfrm>
            <a:off x="2082296" y="1726126"/>
            <a:ext cx="11914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Previously: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FCBC246-89EC-74A9-8098-95B752D1F5E7}"/>
              </a:ext>
            </a:extLst>
          </p:cNvPr>
          <p:cNvSpPr txBox="1"/>
          <p:nvPr/>
        </p:nvSpPr>
        <p:spPr>
          <a:xfrm>
            <a:off x="1184389" y="3843445"/>
            <a:ext cx="42412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Proposed intramolecular epoxide allylation: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CAA788B-6A5F-69DB-D844-4606C3B10C6C}"/>
              </a:ext>
            </a:extLst>
          </p:cNvPr>
          <p:cNvSpPr txBox="1"/>
          <p:nvPr/>
        </p:nvSpPr>
        <p:spPr>
          <a:xfrm>
            <a:off x="6859827" y="2977331"/>
            <a:ext cx="35526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cs typeface="Times New Roman" panose="02020603050405020304" pitchFamily="18" charset="0"/>
              </a:rPr>
              <a:t>Cummins and O’Neil,  </a:t>
            </a:r>
            <a:r>
              <a:rPr lang="en-US" sz="1400" i="1" dirty="0">
                <a:cs typeface="Times New Roman" panose="02020603050405020304" pitchFamily="18" charset="0"/>
              </a:rPr>
              <a:t>Tet. Lett.</a:t>
            </a:r>
            <a:r>
              <a:rPr lang="en-US" sz="1400" dirty="0">
                <a:cs typeface="Times New Roman" panose="02020603050405020304" pitchFamily="18" charset="0"/>
              </a:rPr>
              <a:t> </a:t>
            </a:r>
            <a:r>
              <a:rPr lang="en-US" sz="1400" b="1" dirty="0">
                <a:cs typeface="Times New Roman" panose="02020603050405020304" pitchFamily="18" charset="0"/>
              </a:rPr>
              <a:t>2017</a:t>
            </a:r>
            <a:r>
              <a:rPr lang="en-US" sz="1400" dirty="0">
                <a:cs typeface="Times New Roman" panose="02020603050405020304" pitchFamily="18" charset="0"/>
              </a:rPr>
              <a:t>, </a:t>
            </a:r>
            <a:r>
              <a:rPr lang="en-US" sz="1400" i="1" dirty="0">
                <a:cs typeface="Times New Roman" panose="02020603050405020304" pitchFamily="18" charset="0"/>
              </a:rPr>
              <a:t>58</a:t>
            </a:r>
            <a:r>
              <a:rPr lang="en-US" sz="1400" dirty="0">
                <a:cs typeface="Times New Roman" panose="02020603050405020304" pitchFamily="18" charset="0"/>
              </a:rPr>
              <a:t>, 3406</a:t>
            </a:r>
          </a:p>
        </p:txBody>
      </p:sp>
      <p:graphicFrame>
        <p:nvGraphicFramePr>
          <p:cNvPr id="18" name="Object 17">
            <a:extLst>
              <a:ext uri="{FF2B5EF4-FFF2-40B4-BE49-F238E27FC236}">
                <a16:creationId xmlns:a16="http://schemas.microsoft.com/office/drawing/2014/main" id="{D56B10A1-DEBC-2C47-D06C-784FEDB91FD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38688137"/>
              </p:ext>
            </p:extLst>
          </p:nvPr>
        </p:nvGraphicFramePr>
        <p:xfrm>
          <a:off x="3797299" y="2133513"/>
          <a:ext cx="4597400" cy="679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4" imgW="3831031" imgH="566408" progId="ChemDraw.Document.6.0">
                  <p:embed/>
                </p:oleObj>
              </mc:Choice>
              <mc:Fallback>
                <p:oleObj name="CS ChemDraw Drawing" r:id="rId4" imgW="3831031" imgH="566408" progId="ChemDraw.Document.6.0">
                  <p:embed/>
                  <p:pic>
                    <p:nvPicPr>
                      <p:cNvPr id="18" name="Object 17">
                        <a:extLst>
                          <a:ext uri="{FF2B5EF4-FFF2-40B4-BE49-F238E27FC236}">
                            <a16:creationId xmlns:a16="http://schemas.microsoft.com/office/drawing/2014/main" id="{D56B10A1-DEBC-2C47-D06C-784FEDB91FD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797299" y="2133513"/>
                        <a:ext cx="4597400" cy="6794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1F59FB5A-6BD8-DA4E-8E2F-9E6E92AD0D2F}"/>
              </a:ext>
            </a:extLst>
          </p:cNvPr>
          <p:cNvSpPr txBox="1"/>
          <p:nvPr/>
        </p:nvSpPr>
        <p:spPr>
          <a:xfrm>
            <a:off x="0" y="651944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8A84811-A270-D4A3-3759-40C14E8E701C}"/>
              </a:ext>
            </a:extLst>
          </p:cNvPr>
          <p:cNvSpPr txBox="1"/>
          <p:nvPr/>
        </p:nvSpPr>
        <p:spPr>
          <a:xfrm>
            <a:off x="11814628" y="6518740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9</a:t>
            </a:r>
          </a:p>
        </p:txBody>
      </p:sp>
      <p:graphicFrame>
        <p:nvGraphicFramePr>
          <p:cNvPr id="15" name="Object 14">
            <a:extLst>
              <a:ext uri="{FF2B5EF4-FFF2-40B4-BE49-F238E27FC236}">
                <a16:creationId xmlns:a16="http://schemas.microsoft.com/office/drawing/2014/main" id="{2321C48F-BA25-B255-57A7-0A23EE9BB2D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75165473"/>
              </p:ext>
            </p:extLst>
          </p:nvPr>
        </p:nvGraphicFramePr>
        <p:xfrm>
          <a:off x="3444875" y="4452019"/>
          <a:ext cx="5302250" cy="1042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6" imgW="4417771" imgH="869719" progId="ChemDraw.Document.6.0">
                  <p:embed/>
                </p:oleObj>
              </mc:Choice>
              <mc:Fallback>
                <p:oleObj name="CS ChemDraw Drawing" r:id="rId6" imgW="4417771" imgH="869719" progId="ChemDraw.Document.6.0">
                  <p:embed/>
                  <p:pic>
                    <p:nvPicPr>
                      <p:cNvPr id="15" name="Object 14">
                        <a:extLst>
                          <a:ext uri="{FF2B5EF4-FFF2-40B4-BE49-F238E27FC236}">
                            <a16:creationId xmlns:a16="http://schemas.microsoft.com/office/drawing/2014/main" id="{2321C48F-BA25-B255-57A7-0A23EE9BB2D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44875" y="4452019"/>
                        <a:ext cx="5302250" cy="10429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0988142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4">
            <a:extLst>
              <a:ext uri="{FF2B5EF4-FFF2-40B4-BE49-F238E27FC236}">
                <a16:creationId xmlns:a16="http://schemas.microsoft.com/office/drawing/2014/main" id="{6BA3C7D0-1954-0146-A9E3-7593141B0245}"/>
              </a:ext>
            </a:extLst>
          </p:cNvPr>
          <p:cNvGrpSpPr>
            <a:grpSpLocks/>
          </p:cNvGrpSpPr>
          <p:nvPr/>
        </p:nvGrpSpPr>
        <p:grpSpPr bwMode="auto">
          <a:xfrm>
            <a:off x="1" y="268804"/>
            <a:ext cx="9144000" cy="1143000"/>
            <a:chOff x="1" y="76200"/>
            <a:chExt cx="9144000" cy="1143000"/>
          </a:xfrm>
        </p:grpSpPr>
        <p:grpSp>
          <p:nvGrpSpPr>
            <p:cNvPr id="3" name="Group 15">
              <a:extLst>
                <a:ext uri="{FF2B5EF4-FFF2-40B4-BE49-F238E27FC236}">
                  <a16:creationId xmlns:a16="http://schemas.microsoft.com/office/drawing/2014/main" id="{3632228F-DD1D-9D4F-A3C1-C9D60894D46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" y="161928"/>
              <a:ext cx="9144000" cy="993788"/>
              <a:chOff x="0" y="102"/>
              <a:chExt cx="5760" cy="626"/>
            </a:xfrm>
          </p:grpSpPr>
          <p:sp>
            <p:nvSpPr>
              <p:cNvPr id="6" name="Rectangle 3">
                <a:extLst>
                  <a:ext uri="{FF2B5EF4-FFF2-40B4-BE49-F238E27FC236}">
                    <a16:creationId xmlns:a16="http://schemas.microsoft.com/office/drawing/2014/main" id="{758F5E83-58AE-E743-B40E-FF25F97D23A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0" y="332"/>
                <a:ext cx="5760" cy="233"/>
              </a:xfrm>
              <a:prstGeom prst="rect">
                <a:avLst/>
              </a:prstGeom>
              <a:gradFill rotWithShape="1">
                <a:gsLst>
                  <a:gs pos="0">
                    <a:srgbClr val="DDDDDD"/>
                  </a:gs>
                  <a:gs pos="100000">
                    <a:schemeClr val="tx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800">
                  <a:latin typeface="Helvetica" panose="020B0604020202020204" pitchFamily="34" charset="0"/>
                  <a:cs typeface="Helvetica" panose="020B0604020202020204" pitchFamily="34" charset="0"/>
                </a:endParaRPr>
              </a:p>
            </p:txBody>
          </p:sp>
          <p:pic>
            <p:nvPicPr>
              <p:cNvPr id="7" name="Picture 5" descr="images">
                <a:extLst>
                  <a:ext uri="{FF2B5EF4-FFF2-40B4-BE49-F238E27FC236}">
                    <a16:creationId xmlns:a16="http://schemas.microsoft.com/office/drawing/2014/main" id="{B9FA3FFB-37B2-E948-9840-6FED7DDC14E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92" y="102"/>
                <a:ext cx="626" cy="6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A192777B-F42F-274B-BBCD-44784B859FD4}"/>
                </a:ext>
              </a:extLst>
            </p:cNvPr>
            <p:cNvSpPr/>
            <p:nvPr/>
          </p:nvSpPr>
          <p:spPr>
            <a:xfrm>
              <a:off x="152400" y="76200"/>
              <a:ext cx="1676400" cy="1143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US">
                <a:latin typeface="Helvetica" panose="020B0604020202020204" pitchFamily="34" charset="0"/>
                <a:cs typeface="Helvetica" panose="020B0604020202020204" pitchFamily="34" charset="0"/>
              </a:endParaRPr>
            </a:p>
          </p:txBody>
        </p:sp>
        <p:pic>
          <p:nvPicPr>
            <p:cNvPr id="5" name="Picture 4" descr="http://images.wikia.com/logopedia/images/4/4a/Western_Washington_University_2010.png">
              <a:extLst>
                <a:ext uri="{FF2B5EF4-FFF2-40B4-BE49-F238E27FC236}">
                  <a16:creationId xmlns:a16="http://schemas.microsoft.com/office/drawing/2014/main" id="{16F5BC7B-23A0-D644-9C23-2B4726F6057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1237" y="76200"/>
              <a:ext cx="1663602" cy="838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E8398271-CE5B-584E-868A-05C3FBFBDFD1}"/>
              </a:ext>
            </a:extLst>
          </p:cNvPr>
          <p:cNvSpPr txBox="1"/>
          <p:nvPr/>
        </p:nvSpPr>
        <p:spPr>
          <a:xfrm>
            <a:off x="1814839" y="123796"/>
            <a:ext cx="56836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accent1"/>
                </a:solidFill>
                <a:latin typeface="+mj-lt"/>
              </a:rPr>
              <a:t>Rearrangement with the epoxide using Acids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FE2C5EFD-99E4-3544-887E-CCBD8072606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93452" y="2393668"/>
            <a:ext cx="4596387" cy="853875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071F95C7-E4B0-8342-967C-5191D6138AF4}"/>
              </a:ext>
            </a:extLst>
          </p:cNvPr>
          <p:cNvSpPr txBox="1"/>
          <p:nvPr/>
        </p:nvSpPr>
        <p:spPr>
          <a:xfrm>
            <a:off x="0" y="6519450"/>
            <a:ext cx="39305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10</a:t>
            </a:r>
          </a:p>
        </p:txBody>
      </p:sp>
      <p:graphicFrame>
        <p:nvGraphicFramePr>
          <p:cNvPr id="11" name="Object 10">
            <a:extLst>
              <a:ext uri="{FF2B5EF4-FFF2-40B4-BE49-F238E27FC236}">
                <a16:creationId xmlns:a16="http://schemas.microsoft.com/office/drawing/2014/main" id="{4008FC82-15F5-8CD5-1A21-E9779FBFF1F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3722509"/>
              </p:ext>
            </p:extLst>
          </p:nvPr>
        </p:nvGraphicFramePr>
        <p:xfrm>
          <a:off x="4033031" y="4141290"/>
          <a:ext cx="3593664" cy="8452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6" imgW="2764357" imgH="650196" progId="ChemDraw.Document.6.0">
                  <p:embed/>
                </p:oleObj>
              </mc:Choice>
              <mc:Fallback>
                <p:oleObj name="CS ChemDraw Drawing" r:id="rId6" imgW="2764357" imgH="650196" progId="ChemDraw.Document.6.0">
                  <p:embed/>
                  <p:pic>
                    <p:nvPicPr>
                      <p:cNvPr id="11" name="Object 10">
                        <a:extLst>
                          <a:ext uri="{FF2B5EF4-FFF2-40B4-BE49-F238E27FC236}">
                            <a16:creationId xmlns:a16="http://schemas.microsoft.com/office/drawing/2014/main" id="{4008FC82-15F5-8CD5-1A21-E9779FBFF1F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4033031" y="4141290"/>
                        <a:ext cx="3593664" cy="84525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EBC3F445-A3A3-B4FD-AAA8-9ABF5403CCC2}"/>
              </a:ext>
            </a:extLst>
          </p:cNvPr>
          <p:cNvSpPr txBox="1"/>
          <p:nvPr/>
        </p:nvSpPr>
        <p:spPr>
          <a:xfrm>
            <a:off x="3164062" y="3882512"/>
            <a:ext cx="4587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via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C1206A4-8E9F-8827-DC4E-4FF51846FB34}"/>
              </a:ext>
            </a:extLst>
          </p:cNvPr>
          <p:cNvSpPr txBox="1"/>
          <p:nvPr/>
        </p:nvSpPr>
        <p:spPr>
          <a:xfrm>
            <a:off x="1450977" y="1353104"/>
            <a:ext cx="71840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With this proposed rearrangement in mind we decided to start screening.  </a:t>
            </a:r>
            <a:endParaRPr lang="en-GB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78ABC77-4519-6A22-D17A-F17D959C306F}"/>
              </a:ext>
            </a:extLst>
          </p:cNvPr>
          <p:cNvSpPr txBox="1"/>
          <p:nvPr/>
        </p:nvSpPr>
        <p:spPr>
          <a:xfrm>
            <a:off x="11814628" y="6518740"/>
            <a:ext cx="34176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26</a:t>
            </a:r>
          </a:p>
        </p:txBody>
      </p:sp>
    </p:spTree>
    <p:extLst>
      <p:ext uri="{BB962C8B-B14F-4D97-AF65-F5344CB8AC3E}">
        <p14:creationId xmlns:p14="http://schemas.microsoft.com/office/powerpoint/2010/main" val="17908741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4">
            <a:extLst>
              <a:ext uri="{FF2B5EF4-FFF2-40B4-BE49-F238E27FC236}">
                <a16:creationId xmlns:a16="http://schemas.microsoft.com/office/drawing/2014/main" id="{6BA3C7D0-1954-0146-A9E3-7593141B0245}"/>
              </a:ext>
            </a:extLst>
          </p:cNvPr>
          <p:cNvGrpSpPr>
            <a:grpSpLocks/>
          </p:cNvGrpSpPr>
          <p:nvPr/>
        </p:nvGrpSpPr>
        <p:grpSpPr bwMode="auto">
          <a:xfrm>
            <a:off x="1" y="268804"/>
            <a:ext cx="9144000" cy="1143000"/>
            <a:chOff x="1" y="76200"/>
            <a:chExt cx="9144000" cy="1143000"/>
          </a:xfrm>
        </p:grpSpPr>
        <p:grpSp>
          <p:nvGrpSpPr>
            <p:cNvPr id="3" name="Group 15">
              <a:extLst>
                <a:ext uri="{FF2B5EF4-FFF2-40B4-BE49-F238E27FC236}">
                  <a16:creationId xmlns:a16="http://schemas.microsoft.com/office/drawing/2014/main" id="{3632228F-DD1D-9D4F-A3C1-C9D60894D46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" y="161928"/>
              <a:ext cx="9144000" cy="993788"/>
              <a:chOff x="0" y="102"/>
              <a:chExt cx="5760" cy="626"/>
            </a:xfrm>
          </p:grpSpPr>
          <p:sp>
            <p:nvSpPr>
              <p:cNvPr id="6" name="Rectangle 3">
                <a:extLst>
                  <a:ext uri="{FF2B5EF4-FFF2-40B4-BE49-F238E27FC236}">
                    <a16:creationId xmlns:a16="http://schemas.microsoft.com/office/drawing/2014/main" id="{758F5E83-58AE-E743-B40E-FF25F97D23A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0" y="332"/>
                <a:ext cx="5760" cy="233"/>
              </a:xfrm>
              <a:prstGeom prst="rect">
                <a:avLst/>
              </a:prstGeom>
              <a:gradFill rotWithShape="1">
                <a:gsLst>
                  <a:gs pos="0">
                    <a:srgbClr val="DDDDDD"/>
                  </a:gs>
                  <a:gs pos="100000">
                    <a:schemeClr val="tx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800">
                  <a:latin typeface="Helvetica" panose="020B0604020202020204" pitchFamily="34" charset="0"/>
                  <a:cs typeface="Helvetica" panose="020B0604020202020204" pitchFamily="34" charset="0"/>
                </a:endParaRPr>
              </a:p>
            </p:txBody>
          </p:sp>
          <p:pic>
            <p:nvPicPr>
              <p:cNvPr id="7" name="Picture 5" descr="images">
                <a:extLst>
                  <a:ext uri="{FF2B5EF4-FFF2-40B4-BE49-F238E27FC236}">
                    <a16:creationId xmlns:a16="http://schemas.microsoft.com/office/drawing/2014/main" id="{B9FA3FFB-37B2-E948-9840-6FED7DDC14E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92" y="102"/>
                <a:ext cx="626" cy="6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A192777B-F42F-274B-BBCD-44784B859FD4}"/>
                </a:ext>
              </a:extLst>
            </p:cNvPr>
            <p:cNvSpPr/>
            <p:nvPr/>
          </p:nvSpPr>
          <p:spPr>
            <a:xfrm>
              <a:off x="152400" y="76200"/>
              <a:ext cx="1676400" cy="1143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US">
                <a:latin typeface="Helvetica" panose="020B0604020202020204" pitchFamily="34" charset="0"/>
                <a:cs typeface="Helvetica" panose="020B0604020202020204" pitchFamily="34" charset="0"/>
              </a:endParaRPr>
            </a:p>
          </p:txBody>
        </p:sp>
        <p:pic>
          <p:nvPicPr>
            <p:cNvPr id="5" name="Picture 4" descr="http://images.wikia.com/logopedia/images/4/4a/Western_Washington_University_2010.png">
              <a:extLst>
                <a:ext uri="{FF2B5EF4-FFF2-40B4-BE49-F238E27FC236}">
                  <a16:creationId xmlns:a16="http://schemas.microsoft.com/office/drawing/2014/main" id="{16F5BC7B-23A0-D644-9C23-2B4726F6057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1237" y="76200"/>
              <a:ext cx="1663602" cy="838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EFE24F9F-1402-1F41-9B3C-662A896ABA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5667" y="2785466"/>
            <a:ext cx="4354928" cy="83031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60F19A1-65B5-514D-AF4D-FFD52EC638B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97093" y="1107007"/>
            <a:ext cx="7494911" cy="5750996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E8398271-CE5B-584E-868A-05C3FBFBDFD1}"/>
              </a:ext>
            </a:extLst>
          </p:cNvPr>
          <p:cNvSpPr txBox="1"/>
          <p:nvPr/>
        </p:nvSpPr>
        <p:spPr>
          <a:xfrm>
            <a:off x="1814839" y="123796"/>
            <a:ext cx="41672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accent1"/>
                </a:solidFill>
                <a:latin typeface="+mj-lt"/>
              </a:rPr>
              <a:t>Rearrangement with the epoxide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71F95C7-E4B0-8342-967C-5191D6138AF4}"/>
              </a:ext>
            </a:extLst>
          </p:cNvPr>
          <p:cNvSpPr txBox="1"/>
          <p:nvPr/>
        </p:nvSpPr>
        <p:spPr>
          <a:xfrm>
            <a:off x="0" y="6519450"/>
            <a:ext cx="39305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11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8DBC9D6-3BAF-4FA5-317E-7BBB3915E30E}"/>
              </a:ext>
            </a:extLst>
          </p:cNvPr>
          <p:cNvSpPr/>
          <p:nvPr/>
        </p:nvSpPr>
        <p:spPr>
          <a:xfrm>
            <a:off x="3286895" y="2453062"/>
            <a:ext cx="1428792" cy="153205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13453DE-2001-EC2A-531F-05997B57C950}"/>
              </a:ext>
            </a:extLst>
          </p:cNvPr>
          <p:cNvSpPr/>
          <p:nvPr/>
        </p:nvSpPr>
        <p:spPr>
          <a:xfrm>
            <a:off x="3065735" y="2708523"/>
            <a:ext cx="1428792" cy="44512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B0C073E-5D58-2D48-9D30-915AC198AF2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07643" y="2089476"/>
            <a:ext cx="1598897" cy="139198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344DB01F-4BE8-1619-75CD-BED5EA7BC0C3}"/>
              </a:ext>
            </a:extLst>
          </p:cNvPr>
          <p:cNvSpPr txBox="1"/>
          <p:nvPr/>
        </p:nvSpPr>
        <p:spPr>
          <a:xfrm>
            <a:off x="11814628" y="6518740"/>
            <a:ext cx="34176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27</a:t>
            </a:r>
          </a:p>
        </p:txBody>
      </p:sp>
    </p:spTree>
    <p:extLst>
      <p:ext uri="{BB962C8B-B14F-4D97-AF65-F5344CB8AC3E}">
        <p14:creationId xmlns:p14="http://schemas.microsoft.com/office/powerpoint/2010/main" val="9664634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4">
            <a:extLst>
              <a:ext uri="{FF2B5EF4-FFF2-40B4-BE49-F238E27FC236}">
                <a16:creationId xmlns:a16="http://schemas.microsoft.com/office/drawing/2014/main" id="{6BA3C7D0-1954-0146-A9E3-7593141B0245}"/>
              </a:ext>
            </a:extLst>
          </p:cNvPr>
          <p:cNvGrpSpPr>
            <a:grpSpLocks/>
          </p:cNvGrpSpPr>
          <p:nvPr/>
        </p:nvGrpSpPr>
        <p:grpSpPr bwMode="auto">
          <a:xfrm>
            <a:off x="1" y="268804"/>
            <a:ext cx="9144000" cy="1143000"/>
            <a:chOff x="1" y="76200"/>
            <a:chExt cx="9144000" cy="1143000"/>
          </a:xfrm>
        </p:grpSpPr>
        <p:grpSp>
          <p:nvGrpSpPr>
            <p:cNvPr id="3" name="Group 15">
              <a:extLst>
                <a:ext uri="{FF2B5EF4-FFF2-40B4-BE49-F238E27FC236}">
                  <a16:creationId xmlns:a16="http://schemas.microsoft.com/office/drawing/2014/main" id="{3632228F-DD1D-9D4F-A3C1-C9D60894D46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" y="161928"/>
              <a:ext cx="9144000" cy="993788"/>
              <a:chOff x="0" y="102"/>
              <a:chExt cx="5760" cy="626"/>
            </a:xfrm>
          </p:grpSpPr>
          <p:sp>
            <p:nvSpPr>
              <p:cNvPr id="6" name="Rectangle 3">
                <a:extLst>
                  <a:ext uri="{FF2B5EF4-FFF2-40B4-BE49-F238E27FC236}">
                    <a16:creationId xmlns:a16="http://schemas.microsoft.com/office/drawing/2014/main" id="{758F5E83-58AE-E743-B40E-FF25F97D23A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0" y="332"/>
                <a:ext cx="5760" cy="233"/>
              </a:xfrm>
              <a:prstGeom prst="rect">
                <a:avLst/>
              </a:prstGeom>
              <a:gradFill rotWithShape="1">
                <a:gsLst>
                  <a:gs pos="0">
                    <a:srgbClr val="DDDDDD"/>
                  </a:gs>
                  <a:gs pos="100000">
                    <a:schemeClr val="tx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800">
                  <a:latin typeface="Helvetica" panose="020B0604020202020204" pitchFamily="34" charset="0"/>
                  <a:cs typeface="Helvetica" panose="020B0604020202020204" pitchFamily="34" charset="0"/>
                </a:endParaRPr>
              </a:p>
            </p:txBody>
          </p:sp>
          <p:pic>
            <p:nvPicPr>
              <p:cNvPr id="7" name="Picture 5" descr="images">
                <a:extLst>
                  <a:ext uri="{FF2B5EF4-FFF2-40B4-BE49-F238E27FC236}">
                    <a16:creationId xmlns:a16="http://schemas.microsoft.com/office/drawing/2014/main" id="{B9FA3FFB-37B2-E948-9840-6FED7DDC14E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92" y="102"/>
                <a:ext cx="626" cy="6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A192777B-F42F-274B-BBCD-44784B859FD4}"/>
                </a:ext>
              </a:extLst>
            </p:cNvPr>
            <p:cNvSpPr/>
            <p:nvPr/>
          </p:nvSpPr>
          <p:spPr>
            <a:xfrm>
              <a:off x="152400" y="76200"/>
              <a:ext cx="1676400" cy="1143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US">
                <a:latin typeface="Helvetica" panose="020B0604020202020204" pitchFamily="34" charset="0"/>
                <a:cs typeface="Helvetica" panose="020B0604020202020204" pitchFamily="34" charset="0"/>
              </a:endParaRPr>
            </a:p>
          </p:txBody>
        </p:sp>
        <p:pic>
          <p:nvPicPr>
            <p:cNvPr id="5" name="Picture 4" descr="http://images.wikia.com/logopedia/images/4/4a/Western_Washington_University_2010.png">
              <a:extLst>
                <a:ext uri="{FF2B5EF4-FFF2-40B4-BE49-F238E27FC236}">
                  <a16:creationId xmlns:a16="http://schemas.microsoft.com/office/drawing/2014/main" id="{16F5BC7B-23A0-D644-9C23-2B4726F6057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1237" y="76200"/>
              <a:ext cx="1663602" cy="838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9" name="Picture 8">
            <a:extLst>
              <a:ext uri="{FF2B5EF4-FFF2-40B4-BE49-F238E27FC236}">
                <a16:creationId xmlns:a16="http://schemas.microsoft.com/office/drawing/2014/main" id="{760F19A1-65B5-514D-AF4D-FFD52EC638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7093" y="1107007"/>
            <a:ext cx="7494911" cy="5750996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E8398271-CE5B-584E-868A-05C3FBFBDFD1}"/>
              </a:ext>
            </a:extLst>
          </p:cNvPr>
          <p:cNvSpPr txBox="1"/>
          <p:nvPr/>
        </p:nvSpPr>
        <p:spPr>
          <a:xfrm>
            <a:off x="1814839" y="123796"/>
            <a:ext cx="41672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accent1"/>
                </a:solidFill>
                <a:latin typeface="+mj-lt"/>
              </a:rPr>
              <a:t>Rearrangement with the epoxide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7023873-4F59-3642-88DD-92D534EA9F76}"/>
              </a:ext>
            </a:extLst>
          </p:cNvPr>
          <p:cNvSpPr txBox="1"/>
          <p:nvPr/>
        </p:nvSpPr>
        <p:spPr>
          <a:xfrm>
            <a:off x="3598532" y="3698193"/>
            <a:ext cx="599844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/>
              <a:t>81.5%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71F95C7-E4B0-8342-967C-5191D6138AF4}"/>
              </a:ext>
            </a:extLst>
          </p:cNvPr>
          <p:cNvSpPr txBox="1"/>
          <p:nvPr/>
        </p:nvSpPr>
        <p:spPr>
          <a:xfrm>
            <a:off x="0" y="6519450"/>
            <a:ext cx="39305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12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5DF9ED7C-6D93-8440-BEA9-4D5C68D16CF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5667" y="2785466"/>
            <a:ext cx="4354928" cy="83031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CA1E642-D685-2A82-4513-E9293850B7B3}"/>
              </a:ext>
            </a:extLst>
          </p:cNvPr>
          <p:cNvSpPr txBox="1"/>
          <p:nvPr/>
        </p:nvSpPr>
        <p:spPr>
          <a:xfrm>
            <a:off x="11814628" y="6518740"/>
            <a:ext cx="34176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28</a:t>
            </a:r>
          </a:p>
        </p:txBody>
      </p:sp>
    </p:spTree>
    <p:extLst>
      <p:ext uri="{BB962C8B-B14F-4D97-AF65-F5344CB8AC3E}">
        <p14:creationId xmlns:p14="http://schemas.microsoft.com/office/powerpoint/2010/main" val="2981761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E5E285E-C636-3651-8E39-301074D3B7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5823771"/>
              </p:ext>
            </p:extLst>
          </p:nvPr>
        </p:nvGraphicFramePr>
        <p:xfrm>
          <a:off x="3717131" y="3339327"/>
          <a:ext cx="4757736" cy="270154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623888">
                  <a:extLst>
                    <a:ext uri="{9D8B030D-6E8A-4147-A177-3AD203B41FA5}">
                      <a16:colId xmlns:a16="http://schemas.microsoft.com/office/drawing/2014/main" val="3938362632"/>
                    </a:ext>
                  </a:extLst>
                </a:gridCol>
                <a:gridCol w="962024">
                  <a:extLst>
                    <a:ext uri="{9D8B030D-6E8A-4147-A177-3AD203B41FA5}">
                      <a16:colId xmlns:a16="http://schemas.microsoft.com/office/drawing/2014/main" val="147163816"/>
                    </a:ext>
                  </a:extLst>
                </a:gridCol>
                <a:gridCol w="792956">
                  <a:extLst>
                    <a:ext uri="{9D8B030D-6E8A-4147-A177-3AD203B41FA5}">
                      <a16:colId xmlns:a16="http://schemas.microsoft.com/office/drawing/2014/main" val="2970232180"/>
                    </a:ext>
                  </a:extLst>
                </a:gridCol>
                <a:gridCol w="792956">
                  <a:extLst>
                    <a:ext uri="{9D8B030D-6E8A-4147-A177-3AD203B41FA5}">
                      <a16:colId xmlns:a16="http://schemas.microsoft.com/office/drawing/2014/main" val="1838685423"/>
                    </a:ext>
                  </a:extLst>
                </a:gridCol>
                <a:gridCol w="792956">
                  <a:extLst>
                    <a:ext uri="{9D8B030D-6E8A-4147-A177-3AD203B41FA5}">
                      <a16:colId xmlns:a16="http://schemas.microsoft.com/office/drawing/2014/main" val="1954295394"/>
                    </a:ext>
                  </a:extLst>
                </a:gridCol>
                <a:gridCol w="792956">
                  <a:extLst>
                    <a:ext uri="{9D8B030D-6E8A-4147-A177-3AD203B41FA5}">
                      <a16:colId xmlns:a16="http://schemas.microsoft.com/office/drawing/2014/main" val="2063276268"/>
                    </a:ext>
                  </a:extLst>
                </a:gridCol>
              </a:tblGrid>
              <a:tr h="37068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Entry</a:t>
                      </a:r>
                      <a:endParaRPr lang="en-GB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Lewis Acid</a:t>
                      </a:r>
                      <a:endParaRPr lang="en-GB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Solvent</a:t>
                      </a:r>
                      <a:endParaRPr lang="en-GB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Temp. (℃)</a:t>
                      </a:r>
                      <a:endParaRPr lang="en-GB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Time (</a:t>
                      </a:r>
                      <a:r>
                        <a:rPr lang="en-US" sz="1100" dirty="0" err="1">
                          <a:effectLst/>
                        </a:rPr>
                        <a:t>hr</a:t>
                      </a:r>
                      <a:r>
                        <a:rPr lang="en-US" sz="1100" dirty="0">
                          <a:effectLst/>
                        </a:rPr>
                        <a:t>)</a:t>
                      </a:r>
                      <a:endParaRPr lang="en-GB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Conv. %</a:t>
                      </a:r>
                      <a:endParaRPr lang="en-GB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93919515"/>
                  </a:ext>
                </a:extLst>
              </a:tr>
              <a:tr h="29135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1</a:t>
                      </a:r>
                      <a:endParaRPr lang="en-GB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TiCl</a:t>
                      </a:r>
                      <a:r>
                        <a:rPr lang="en-US" sz="1100" baseline="-25000">
                          <a:effectLst/>
                        </a:rPr>
                        <a:t>4</a:t>
                      </a:r>
                      <a:endParaRPr lang="en-GB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DCM</a:t>
                      </a:r>
                      <a:endParaRPr lang="en-GB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-78</a:t>
                      </a:r>
                      <a:endParaRPr lang="en-GB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1</a:t>
                      </a:r>
                      <a:endParaRPr lang="en-GB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44</a:t>
                      </a:r>
                      <a:endParaRPr lang="en-GB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853387095"/>
                  </a:ext>
                </a:extLst>
              </a:tr>
              <a:tr h="29135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2</a:t>
                      </a:r>
                      <a:endParaRPr lang="en-GB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TiCl</a:t>
                      </a:r>
                      <a:r>
                        <a:rPr lang="en-US" sz="1100" baseline="-25000">
                          <a:effectLst/>
                        </a:rPr>
                        <a:t>4</a:t>
                      </a:r>
                      <a:endParaRPr lang="en-GB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DCM</a:t>
                      </a:r>
                      <a:endParaRPr lang="en-GB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-78</a:t>
                      </a:r>
                      <a:endParaRPr lang="en-GB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2</a:t>
                      </a:r>
                      <a:endParaRPr lang="en-GB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82</a:t>
                      </a:r>
                      <a:r>
                        <a:rPr lang="en-US" sz="1100" baseline="30000" dirty="0">
                          <a:effectLst/>
                        </a:rPr>
                        <a:t>b</a:t>
                      </a:r>
                      <a:endParaRPr lang="en-GB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363179778"/>
                  </a:ext>
                </a:extLst>
              </a:tr>
              <a:tr h="29135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3</a:t>
                      </a:r>
                      <a:endParaRPr lang="en-GB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TiCl</a:t>
                      </a:r>
                      <a:r>
                        <a:rPr lang="en-US" sz="1100" baseline="-25000">
                          <a:effectLst/>
                        </a:rPr>
                        <a:t>4</a:t>
                      </a:r>
                      <a:endParaRPr lang="en-GB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MeCN</a:t>
                      </a:r>
                      <a:endParaRPr lang="en-GB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-20</a:t>
                      </a:r>
                      <a:endParaRPr lang="en-GB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2</a:t>
                      </a:r>
                      <a:endParaRPr lang="en-GB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100</a:t>
                      </a:r>
                      <a:endParaRPr lang="en-GB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966142974"/>
                  </a:ext>
                </a:extLst>
              </a:tr>
              <a:tr h="29135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4</a:t>
                      </a:r>
                      <a:endParaRPr lang="en-GB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(Et)</a:t>
                      </a:r>
                      <a:r>
                        <a:rPr lang="en-US" sz="1100" baseline="-25000">
                          <a:effectLst/>
                        </a:rPr>
                        <a:t>2</a:t>
                      </a:r>
                      <a:r>
                        <a:rPr lang="en-US" sz="1100">
                          <a:effectLst/>
                        </a:rPr>
                        <a:t>AlCl</a:t>
                      </a:r>
                      <a:endParaRPr lang="en-GB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DCM</a:t>
                      </a:r>
                      <a:endParaRPr lang="en-GB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-78</a:t>
                      </a:r>
                      <a:endParaRPr lang="en-GB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1</a:t>
                      </a:r>
                      <a:endParaRPr lang="en-GB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100</a:t>
                      </a:r>
                      <a:endParaRPr lang="en-GB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567723307"/>
                  </a:ext>
                </a:extLst>
              </a:tr>
              <a:tr h="29135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5</a:t>
                      </a:r>
                      <a:endParaRPr lang="en-GB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(Et)</a:t>
                      </a:r>
                      <a:r>
                        <a:rPr lang="en-US" sz="1100" baseline="-25000">
                          <a:effectLst/>
                        </a:rPr>
                        <a:t>2</a:t>
                      </a:r>
                      <a:r>
                        <a:rPr lang="en-US" sz="1100">
                          <a:effectLst/>
                        </a:rPr>
                        <a:t>AlCl</a:t>
                      </a:r>
                      <a:endParaRPr lang="en-GB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DCM</a:t>
                      </a:r>
                      <a:endParaRPr lang="en-GB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25</a:t>
                      </a:r>
                      <a:endParaRPr lang="en-GB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0.5</a:t>
                      </a:r>
                      <a:endParaRPr lang="en-GB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100</a:t>
                      </a:r>
                      <a:endParaRPr lang="en-GB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8972773"/>
                  </a:ext>
                </a:extLst>
              </a:tr>
              <a:tr h="29135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6</a:t>
                      </a:r>
                      <a:endParaRPr lang="en-GB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(Et)</a:t>
                      </a:r>
                      <a:r>
                        <a:rPr lang="en-US" sz="1100" baseline="-25000">
                          <a:effectLst/>
                        </a:rPr>
                        <a:t>2</a:t>
                      </a:r>
                      <a:r>
                        <a:rPr lang="en-US" sz="1100">
                          <a:effectLst/>
                        </a:rPr>
                        <a:t>AlCl</a:t>
                      </a:r>
                      <a:endParaRPr lang="en-GB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DCM</a:t>
                      </a:r>
                      <a:endParaRPr lang="en-GB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25</a:t>
                      </a:r>
                      <a:endParaRPr lang="en-GB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1</a:t>
                      </a:r>
                      <a:endParaRPr lang="en-GB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100</a:t>
                      </a:r>
                      <a:endParaRPr lang="en-GB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52038171"/>
                  </a:ext>
                </a:extLst>
              </a:tr>
              <a:tr h="29135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7</a:t>
                      </a:r>
                      <a:endParaRPr lang="en-GB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Me</a:t>
                      </a:r>
                      <a:r>
                        <a:rPr lang="en-US" sz="1100" baseline="-25000">
                          <a:effectLst/>
                        </a:rPr>
                        <a:t>3</a:t>
                      </a:r>
                      <a:r>
                        <a:rPr lang="en-US" sz="1100">
                          <a:effectLst/>
                        </a:rPr>
                        <a:t>SiCl</a:t>
                      </a:r>
                      <a:endParaRPr lang="en-GB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DCM</a:t>
                      </a:r>
                      <a:endParaRPr lang="en-GB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-78</a:t>
                      </a:r>
                      <a:endParaRPr lang="en-GB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1</a:t>
                      </a:r>
                      <a:endParaRPr lang="en-GB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~50</a:t>
                      </a:r>
                      <a:endParaRPr lang="en-GB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644863171"/>
                  </a:ext>
                </a:extLst>
              </a:tr>
              <a:tr h="29135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8</a:t>
                      </a:r>
                      <a:endParaRPr lang="en-GB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Me</a:t>
                      </a:r>
                      <a:r>
                        <a:rPr lang="en-US" sz="1100" baseline="-25000">
                          <a:effectLst/>
                        </a:rPr>
                        <a:t>3</a:t>
                      </a:r>
                      <a:r>
                        <a:rPr lang="en-US" sz="1100">
                          <a:effectLst/>
                        </a:rPr>
                        <a:t>SiCl</a:t>
                      </a:r>
                      <a:endParaRPr lang="en-GB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DCM</a:t>
                      </a:r>
                      <a:endParaRPr lang="en-GB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25</a:t>
                      </a:r>
                      <a:endParaRPr lang="en-GB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1</a:t>
                      </a:r>
                      <a:endParaRPr lang="en-GB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100</a:t>
                      </a:r>
                      <a:endParaRPr lang="en-GB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923510854"/>
                  </a:ext>
                </a:extLst>
              </a:tr>
            </a:tbl>
          </a:graphicData>
        </a:graphic>
      </p:graphicFrame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FE97B024-4500-6AB6-813A-9E4993FC916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10200301"/>
              </p:ext>
            </p:extLst>
          </p:nvPr>
        </p:nvGraphicFramePr>
        <p:xfrm>
          <a:off x="3102437" y="1411804"/>
          <a:ext cx="5987125" cy="19178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2" imgW="4989271" imgH="1598226" progId="ChemDraw.Document.6.0">
                  <p:embed/>
                </p:oleObj>
              </mc:Choice>
              <mc:Fallback>
                <p:oleObj name="CS ChemDraw Drawing" r:id="rId2" imgW="4989271" imgH="1598226" progId="ChemDraw.Document.6.0">
                  <p:embed/>
                  <p:pic>
                    <p:nvPicPr>
                      <p:cNvPr id="5" name="Object 4">
                        <a:extLst>
                          <a:ext uri="{FF2B5EF4-FFF2-40B4-BE49-F238E27FC236}">
                            <a16:creationId xmlns:a16="http://schemas.microsoft.com/office/drawing/2014/main" id="{FE97B024-4500-6AB6-813A-9E4993FC916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02437" y="1411804"/>
                        <a:ext cx="5987125" cy="1917871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" name="Group 14">
            <a:extLst>
              <a:ext uri="{FF2B5EF4-FFF2-40B4-BE49-F238E27FC236}">
                <a16:creationId xmlns:a16="http://schemas.microsoft.com/office/drawing/2014/main" id="{F1A2EA6A-5DF3-1CDE-C2A4-D5AAA2AF3FDA}"/>
              </a:ext>
            </a:extLst>
          </p:cNvPr>
          <p:cNvGrpSpPr>
            <a:grpSpLocks/>
          </p:cNvGrpSpPr>
          <p:nvPr/>
        </p:nvGrpSpPr>
        <p:grpSpPr bwMode="auto">
          <a:xfrm>
            <a:off x="1" y="268804"/>
            <a:ext cx="9144000" cy="1143000"/>
            <a:chOff x="1" y="76200"/>
            <a:chExt cx="9144000" cy="1143000"/>
          </a:xfrm>
        </p:grpSpPr>
        <p:grpSp>
          <p:nvGrpSpPr>
            <p:cNvPr id="7" name="Group 15">
              <a:extLst>
                <a:ext uri="{FF2B5EF4-FFF2-40B4-BE49-F238E27FC236}">
                  <a16:creationId xmlns:a16="http://schemas.microsoft.com/office/drawing/2014/main" id="{510D6686-A2D2-4B86-7815-F37CBA54861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" y="161928"/>
              <a:ext cx="9144000" cy="993788"/>
              <a:chOff x="0" y="102"/>
              <a:chExt cx="5760" cy="626"/>
            </a:xfrm>
          </p:grpSpPr>
          <p:sp>
            <p:nvSpPr>
              <p:cNvPr id="10" name="Rectangle 3">
                <a:extLst>
                  <a:ext uri="{FF2B5EF4-FFF2-40B4-BE49-F238E27FC236}">
                    <a16:creationId xmlns:a16="http://schemas.microsoft.com/office/drawing/2014/main" id="{EE2919AD-4D80-23BD-3911-D64674EC8D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0" y="332"/>
                <a:ext cx="5760" cy="233"/>
              </a:xfrm>
              <a:prstGeom prst="rect">
                <a:avLst/>
              </a:prstGeom>
              <a:gradFill rotWithShape="1">
                <a:gsLst>
                  <a:gs pos="0">
                    <a:srgbClr val="DDDDDD"/>
                  </a:gs>
                  <a:gs pos="100000">
                    <a:schemeClr val="tx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800">
                  <a:latin typeface="Helvetica" panose="020B0604020202020204" pitchFamily="34" charset="0"/>
                  <a:cs typeface="Helvetica" panose="020B0604020202020204" pitchFamily="34" charset="0"/>
                </a:endParaRPr>
              </a:p>
            </p:txBody>
          </p:sp>
          <p:pic>
            <p:nvPicPr>
              <p:cNvPr id="11" name="Picture 5" descr="images">
                <a:extLst>
                  <a:ext uri="{FF2B5EF4-FFF2-40B4-BE49-F238E27FC236}">
                    <a16:creationId xmlns:a16="http://schemas.microsoft.com/office/drawing/2014/main" id="{9BF00ED1-EBE2-54B7-76ED-1CF436217C9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92" y="102"/>
                <a:ext cx="626" cy="6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2D656957-B127-CDAE-6190-8C190012934E}"/>
                </a:ext>
              </a:extLst>
            </p:cNvPr>
            <p:cNvSpPr/>
            <p:nvPr/>
          </p:nvSpPr>
          <p:spPr>
            <a:xfrm>
              <a:off x="152400" y="76200"/>
              <a:ext cx="1676400" cy="1143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US">
                <a:latin typeface="Helvetica" panose="020B0604020202020204" pitchFamily="34" charset="0"/>
                <a:cs typeface="Helvetica" panose="020B0604020202020204" pitchFamily="34" charset="0"/>
              </a:endParaRPr>
            </a:p>
          </p:txBody>
        </p:sp>
        <p:pic>
          <p:nvPicPr>
            <p:cNvPr id="9" name="Picture 8" descr="http://images.wikia.com/logopedia/images/4/4a/Western_Washington_University_2010.png">
              <a:extLst>
                <a:ext uri="{FF2B5EF4-FFF2-40B4-BE49-F238E27FC236}">
                  <a16:creationId xmlns:a16="http://schemas.microsoft.com/office/drawing/2014/main" id="{37074811-FA7E-1704-3A03-26DF91314E9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1237" y="76200"/>
              <a:ext cx="1663602" cy="838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FCF87EEA-674E-189E-A93C-6AC55E6AB252}"/>
              </a:ext>
            </a:extLst>
          </p:cNvPr>
          <p:cNvSpPr txBox="1"/>
          <p:nvPr/>
        </p:nvSpPr>
        <p:spPr>
          <a:xfrm>
            <a:off x="3717131" y="5989098"/>
            <a:ext cx="6096000" cy="298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00" baseline="3000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a</a:t>
            </a:r>
            <a:r>
              <a:rPr lang="en-US" sz="100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Conv</a:t>
            </a:r>
            <a:r>
              <a:rPr lang="en-US" sz="10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 % based on the amount of starting material reacted.</a:t>
            </a:r>
            <a:endParaRPr lang="en-GB" sz="1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0321DF7-AF25-1083-0832-D5060FB76CB6}"/>
              </a:ext>
            </a:extLst>
          </p:cNvPr>
          <p:cNvSpPr txBox="1"/>
          <p:nvPr/>
        </p:nvSpPr>
        <p:spPr>
          <a:xfrm>
            <a:off x="1814839" y="123796"/>
            <a:ext cx="60437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accent1"/>
                </a:solidFill>
                <a:latin typeface="+mj-lt"/>
              </a:rPr>
              <a:t>Attempts at an Intramolecular Epoxide Allylation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AFD85D5-07E0-C4C4-5552-93C574A9F087}"/>
              </a:ext>
            </a:extLst>
          </p:cNvPr>
          <p:cNvSpPr txBox="1"/>
          <p:nvPr/>
        </p:nvSpPr>
        <p:spPr>
          <a:xfrm>
            <a:off x="11814628" y="6518740"/>
            <a:ext cx="34176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29</a:t>
            </a:r>
          </a:p>
        </p:txBody>
      </p:sp>
    </p:spTree>
    <p:extLst>
      <p:ext uri="{BB962C8B-B14F-4D97-AF65-F5344CB8AC3E}">
        <p14:creationId xmlns:p14="http://schemas.microsoft.com/office/powerpoint/2010/main" val="38143498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14">
            <a:extLst>
              <a:ext uri="{FF2B5EF4-FFF2-40B4-BE49-F238E27FC236}">
                <a16:creationId xmlns:a16="http://schemas.microsoft.com/office/drawing/2014/main" id="{F1A2EA6A-5DF3-1CDE-C2A4-D5AAA2AF3FDA}"/>
              </a:ext>
            </a:extLst>
          </p:cNvPr>
          <p:cNvGrpSpPr>
            <a:grpSpLocks/>
          </p:cNvGrpSpPr>
          <p:nvPr/>
        </p:nvGrpSpPr>
        <p:grpSpPr bwMode="auto">
          <a:xfrm>
            <a:off x="1" y="268804"/>
            <a:ext cx="9144000" cy="1143000"/>
            <a:chOff x="1" y="76200"/>
            <a:chExt cx="9144000" cy="1143000"/>
          </a:xfrm>
        </p:grpSpPr>
        <p:grpSp>
          <p:nvGrpSpPr>
            <p:cNvPr id="7" name="Group 15">
              <a:extLst>
                <a:ext uri="{FF2B5EF4-FFF2-40B4-BE49-F238E27FC236}">
                  <a16:creationId xmlns:a16="http://schemas.microsoft.com/office/drawing/2014/main" id="{510D6686-A2D2-4B86-7815-F37CBA54861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" y="161928"/>
              <a:ext cx="9144000" cy="993788"/>
              <a:chOff x="0" y="102"/>
              <a:chExt cx="5760" cy="626"/>
            </a:xfrm>
          </p:grpSpPr>
          <p:sp>
            <p:nvSpPr>
              <p:cNvPr id="10" name="Rectangle 3">
                <a:extLst>
                  <a:ext uri="{FF2B5EF4-FFF2-40B4-BE49-F238E27FC236}">
                    <a16:creationId xmlns:a16="http://schemas.microsoft.com/office/drawing/2014/main" id="{EE2919AD-4D80-23BD-3911-D64674EC8D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0" y="332"/>
                <a:ext cx="5760" cy="233"/>
              </a:xfrm>
              <a:prstGeom prst="rect">
                <a:avLst/>
              </a:prstGeom>
              <a:gradFill rotWithShape="1">
                <a:gsLst>
                  <a:gs pos="0">
                    <a:srgbClr val="DDDDDD"/>
                  </a:gs>
                  <a:gs pos="100000">
                    <a:schemeClr val="tx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800">
                  <a:latin typeface="Helvetica" panose="020B0604020202020204" pitchFamily="34" charset="0"/>
                  <a:cs typeface="Helvetica" panose="020B0604020202020204" pitchFamily="34" charset="0"/>
                </a:endParaRPr>
              </a:p>
            </p:txBody>
          </p:sp>
          <p:pic>
            <p:nvPicPr>
              <p:cNvPr id="11" name="Picture 5" descr="images">
                <a:extLst>
                  <a:ext uri="{FF2B5EF4-FFF2-40B4-BE49-F238E27FC236}">
                    <a16:creationId xmlns:a16="http://schemas.microsoft.com/office/drawing/2014/main" id="{9BF00ED1-EBE2-54B7-76ED-1CF436217C9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92" y="102"/>
                <a:ext cx="626" cy="6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2D656957-B127-CDAE-6190-8C190012934E}"/>
                </a:ext>
              </a:extLst>
            </p:cNvPr>
            <p:cNvSpPr/>
            <p:nvPr/>
          </p:nvSpPr>
          <p:spPr>
            <a:xfrm>
              <a:off x="152400" y="76200"/>
              <a:ext cx="1676400" cy="1143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US">
                <a:latin typeface="Helvetica" panose="020B0604020202020204" pitchFamily="34" charset="0"/>
                <a:cs typeface="Helvetica" panose="020B0604020202020204" pitchFamily="34" charset="0"/>
              </a:endParaRPr>
            </a:p>
          </p:txBody>
        </p:sp>
        <p:pic>
          <p:nvPicPr>
            <p:cNvPr id="9" name="Picture 8" descr="http://images.wikia.com/logopedia/images/4/4a/Western_Washington_University_2010.png">
              <a:extLst>
                <a:ext uri="{FF2B5EF4-FFF2-40B4-BE49-F238E27FC236}">
                  <a16:creationId xmlns:a16="http://schemas.microsoft.com/office/drawing/2014/main" id="{37074811-FA7E-1704-3A03-26DF91314E9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1237" y="76200"/>
              <a:ext cx="1663602" cy="838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F77FFF02-1DF3-3703-726A-289F726E36CA}"/>
              </a:ext>
            </a:extLst>
          </p:cNvPr>
          <p:cNvSpPr txBox="1"/>
          <p:nvPr/>
        </p:nvSpPr>
        <p:spPr>
          <a:xfrm>
            <a:off x="1814839" y="123796"/>
            <a:ext cx="60437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accent1"/>
                </a:solidFill>
                <a:latin typeface="+mj-lt"/>
              </a:rPr>
              <a:t>Attempts at an Intramolecular Epoxide Allylation</a:t>
            </a:r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476DCDF5-8D1A-32D0-7CFB-7CE59D4537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1764619"/>
              </p:ext>
            </p:extLst>
          </p:nvPr>
        </p:nvGraphicFramePr>
        <p:xfrm>
          <a:off x="3698085" y="3250647"/>
          <a:ext cx="4795830" cy="336881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97689">
                  <a:extLst>
                    <a:ext uri="{9D8B030D-6E8A-4147-A177-3AD203B41FA5}">
                      <a16:colId xmlns:a16="http://schemas.microsoft.com/office/drawing/2014/main" val="400055814"/>
                    </a:ext>
                  </a:extLst>
                </a:gridCol>
                <a:gridCol w="1000921">
                  <a:extLst>
                    <a:ext uri="{9D8B030D-6E8A-4147-A177-3AD203B41FA5}">
                      <a16:colId xmlns:a16="http://schemas.microsoft.com/office/drawing/2014/main" val="1951600897"/>
                    </a:ext>
                  </a:extLst>
                </a:gridCol>
                <a:gridCol w="846929">
                  <a:extLst>
                    <a:ext uri="{9D8B030D-6E8A-4147-A177-3AD203B41FA5}">
                      <a16:colId xmlns:a16="http://schemas.microsoft.com/office/drawing/2014/main" val="2063914693"/>
                    </a:ext>
                  </a:extLst>
                </a:gridCol>
                <a:gridCol w="819150">
                  <a:extLst>
                    <a:ext uri="{9D8B030D-6E8A-4147-A177-3AD203B41FA5}">
                      <a16:colId xmlns:a16="http://schemas.microsoft.com/office/drawing/2014/main" val="2077457534"/>
                    </a:ext>
                  </a:extLst>
                </a:gridCol>
                <a:gridCol w="731836">
                  <a:extLst>
                    <a:ext uri="{9D8B030D-6E8A-4147-A177-3AD203B41FA5}">
                      <a16:colId xmlns:a16="http://schemas.microsoft.com/office/drawing/2014/main" val="3007662277"/>
                    </a:ext>
                  </a:extLst>
                </a:gridCol>
                <a:gridCol w="799305">
                  <a:extLst>
                    <a:ext uri="{9D8B030D-6E8A-4147-A177-3AD203B41FA5}">
                      <a16:colId xmlns:a16="http://schemas.microsoft.com/office/drawing/2014/main" val="2772174921"/>
                    </a:ext>
                  </a:extLst>
                </a:gridCol>
              </a:tblGrid>
              <a:tr h="30617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Entry</a:t>
                      </a:r>
                      <a:endParaRPr lang="en-GB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Lewis Acid</a:t>
                      </a:r>
                      <a:endParaRPr lang="en-GB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Solvent</a:t>
                      </a:r>
                      <a:endParaRPr lang="en-GB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Temp. (℃)</a:t>
                      </a:r>
                      <a:endParaRPr lang="en-GB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Time (hr)</a:t>
                      </a:r>
                      <a:endParaRPr lang="en-GB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Conv. %</a:t>
                      </a:r>
                      <a:endParaRPr lang="en-GB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64669737"/>
                  </a:ext>
                </a:extLst>
              </a:tr>
              <a:tr h="25522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1</a:t>
                      </a:r>
                      <a:endParaRPr lang="en-GB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BF</a:t>
                      </a:r>
                      <a:r>
                        <a:rPr lang="en-US" sz="1100" baseline="-25000">
                          <a:effectLst/>
                        </a:rPr>
                        <a:t>3</a:t>
                      </a:r>
                      <a:r>
                        <a:rPr lang="en-US" sz="1100">
                          <a:effectLst/>
                        </a:rPr>
                        <a:t>•Et</a:t>
                      </a:r>
                      <a:r>
                        <a:rPr lang="en-US" sz="1100" baseline="-25000">
                          <a:effectLst/>
                        </a:rPr>
                        <a:t>2</a:t>
                      </a:r>
                      <a:r>
                        <a:rPr lang="en-US" sz="1100">
                          <a:effectLst/>
                        </a:rPr>
                        <a:t>O</a:t>
                      </a:r>
                      <a:endParaRPr lang="en-GB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DCM</a:t>
                      </a:r>
                      <a:endParaRPr lang="en-GB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0</a:t>
                      </a:r>
                      <a:endParaRPr lang="en-GB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1</a:t>
                      </a:r>
                      <a:endParaRPr lang="en-GB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100</a:t>
                      </a:r>
                      <a:endParaRPr lang="en-GB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150848431"/>
                  </a:ext>
                </a:extLst>
              </a:tr>
              <a:tr h="25522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2</a:t>
                      </a:r>
                      <a:endParaRPr lang="en-GB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BF</a:t>
                      </a:r>
                      <a:r>
                        <a:rPr lang="en-US" sz="1100" baseline="-25000" dirty="0">
                          <a:effectLst/>
                        </a:rPr>
                        <a:t>3</a:t>
                      </a:r>
                      <a:r>
                        <a:rPr lang="en-US" sz="1100" dirty="0">
                          <a:effectLst/>
                        </a:rPr>
                        <a:t>•Et</a:t>
                      </a:r>
                      <a:r>
                        <a:rPr lang="en-US" sz="1100" baseline="-25000" dirty="0">
                          <a:effectLst/>
                        </a:rPr>
                        <a:t>2</a:t>
                      </a:r>
                      <a:r>
                        <a:rPr lang="en-US" sz="1100" dirty="0">
                          <a:effectLst/>
                        </a:rPr>
                        <a:t>O</a:t>
                      </a:r>
                      <a:endParaRPr lang="en-GB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DCM</a:t>
                      </a:r>
                      <a:endParaRPr lang="en-GB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-78</a:t>
                      </a:r>
                      <a:endParaRPr lang="en-GB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1</a:t>
                      </a:r>
                      <a:endParaRPr lang="en-GB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100</a:t>
                      </a:r>
                      <a:endParaRPr lang="en-GB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712056847"/>
                  </a:ext>
                </a:extLst>
              </a:tr>
              <a:tr h="25522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3</a:t>
                      </a:r>
                      <a:endParaRPr lang="en-GB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BF</a:t>
                      </a:r>
                      <a:r>
                        <a:rPr lang="en-US" sz="1100" baseline="-25000">
                          <a:effectLst/>
                        </a:rPr>
                        <a:t>3</a:t>
                      </a:r>
                      <a:r>
                        <a:rPr lang="en-US" sz="1100">
                          <a:effectLst/>
                        </a:rPr>
                        <a:t>•Et</a:t>
                      </a:r>
                      <a:r>
                        <a:rPr lang="en-US" sz="1100" baseline="-25000">
                          <a:effectLst/>
                        </a:rPr>
                        <a:t>2</a:t>
                      </a:r>
                      <a:r>
                        <a:rPr lang="en-US" sz="1100">
                          <a:effectLst/>
                        </a:rPr>
                        <a:t>O</a:t>
                      </a:r>
                      <a:endParaRPr lang="en-GB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DCM</a:t>
                      </a:r>
                      <a:endParaRPr lang="en-GB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-78</a:t>
                      </a:r>
                      <a:endParaRPr lang="en-GB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2</a:t>
                      </a:r>
                      <a:endParaRPr lang="en-GB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100</a:t>
                      </a:r>
                      <a:endParaRPr lang="en-GB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917447718"/>
                  </a:ext>
                </a:extLst>
              </a:tr>
              <a:tr h="25522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4</a:t>
                      </a:r>
                      <a:endParaRPr lang="en-GB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Ti(O-iPr)</a:t>
                      </a:r>
                      <a:r>
                        <a:rPr lang="en-US" sz="1100" baseline="-25000">
                          <a:effectLst/>
                        </a:rPr>
                        <a:t>4</a:t>
                      </a:r>
                      <a:endParaRPr lang="en-GB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DCM</a:t>
                      </a:r>
                      <a:endParaRPr lang="en-GB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0</a:t>
                      </a:r>
                      <a:endParaRPr lang="en-GB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1</a:t>
                      </a:r>
                      <a:endParaRPr lang="en-GB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0</a:t>
                      </a:r>
                      <a:endParaRPr lang="en-GB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257956928"/>
                  </a:ext>
                </a:extLst>
              </a:tr>
              <a:tr h="25522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5</a:t>
                      </a:r>
                      <a:endParaRPr lang="en-GB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Ti(O-iPr)</a:t>
                      </a:r>
                      <a:r>
                        <a:rPr lang="en-US" sz="1100" baseline="-25000">
                          <a:effectLst/>
                        </a:rPr>
                        <a:t>4</a:t>
                      </a:r>
                      <a:endParaRPr lang="en-GB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DCM</a:t>
                      </a:r>
                      <a:endParaRPr lang="en-GB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25</a:t>
                      </a:r>
                      <a:endParaRPr lang="en-GB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16</a:t>
                      </a:r>
                      <a:endParaRPr lang="en-GB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0</a:t>
                      </a:r>
                      <a:endParaRPr lang="en-GB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84421324"/>
                  </a:ext>
                </a:extLst>
              </a:tr>
              <a:tr h="25522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6</a:t>
                      </a:r>
                      <a:endParaRPr lang="en-GB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Ti(O-iPr)</a:t>
                      </a:r>
                      <a:r>
                        <a:rPr lang="en-US" sz="1100" baseline="-25000">
                          <a:effectLst/>
                        </a:rPr>
                        <a:t>4</a:t>
                      </a:r>
                      <a:endParaRPr lang="en-GB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PhMe</a:t>
                      </a:r>
                      <a:endParaRPr lang="en-GB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60</a:t>
                      </a:r>
                      <a:endParaRPr lang="en-GB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4</a:t>
                      </a:r>
                      <a:endParaRPr lang="en-GB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0</a:t>
                      </a:r>
                      <a:endParaRPr lang="en-GB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742581813"/>
                  </a:ext>
                </a:extLst>
              </a:tr>
              <a:tr h="25522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7</a:t>
                      </a:r>
                      <a:endParaRPr lang="en-GB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Ti(O-iPr)</a:t>
                      </a:r>
                      <a:r>
                        <a:rPr lang="en-US" sz="1100" baseline="-25000">
                          <a:effectLst/>
                        </a:rPr>
                        <a:t>4</a:t>
                      </a:r>
                      <a:endParaRPr lang="en-GB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HFIP</a:t>
                      </a:r>
                      <a:endParaRPr lang="en-GB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25</a:t>
                      </a:r>
                      <a:endParaRPr lang="en-GB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4</a:t>
                      </a:r>
                      <a:endParaRPr lang="en-GB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100</a:t>
                      </a:r>
                      <a:endParaRPr lang="en-GB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524459853"/>
                  </a:ext>
                </a:extLst>
              </a:tr>
              <a:tr h="25522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8</a:t>
                      </a:r>
                      <a:endParaRPr lang="en-GB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TBDMS Triflate</a:t>
                      </a:r>
                      <a:endParaRPr lang="en-GB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DCM</a:t>
                      </a:r>
                      <a:endParaRPr lang="en-GB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25</a:t>
                      </a:r>
                      <a:endParaRPr lang="en-GB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16</a:t>
                      </a:r>
                      <a:endParaRPr lang="en-GB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100</a:t>
                      </a:r>
                      <a:endParaRPr lang="en-GB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75553276"/>
                  </a:ext>
                </a:extLst>
              </a:tr>
              <a:tr h="25522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9</a:t>
                      </a:r>
                      <a:endParaRPr lang="en-GB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Sn(OTf)</a:t>
                      </a:r>
                      <a:r>
                        <a:rPr lang="en-US" sz="1100" baseline="-25000">
                          <a:effectLst/>
                        </a:rPr>
                        <a:t>2</a:t>
                      </a:r>
                      <a:endParaRPr lang="en-GB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DCM</a:t>
                      </a:r>
                      <a:endParaRPr lang="en-GB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25</a:t>
                      </a:r>
                      <a:endParaRPr lang="en-GB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16</a:t>
                      </a:r>
                      <a:endParaRPr lang="en-GB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100</a:t>
                      </a:r>
                      <a:endParaRPr lang="en-GB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532159848"/>
                  </a:ext>
                </a:extLst>
              </a:tr>
              <a:tr h="25522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10</a:t>
                      </a:r>
                      <a:endParaRPr lang="en-GB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Sc(OTf)</a:t>
                      </a:r>
                      <a:r>
                        <a:rPr lang="en-US" sz="1100" baseline="-25000">
                          <a:effectLst/>
                        </a:rPr>
                        <a:t>3</a:t>
                      </a:r>
                      <a:endParaRPr lang="en-GB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DCM</a:t>
                      </a:r>
                      <a:endParaRPr lang="en-GB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25</a:t>
                      </a:r>
                      <a:endParaRPr lang="en-GB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16</a:t>
                      </a:r>
                      <a:endParaRPr lang="en-GB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100</a:t>
                      </a:r>
                      <a:endParaRPr lang="en-GB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246436434"/>
                  </a:ext>
                </a:extLst>
              </a:tr>
              <a:tr h="25522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11</a:t>
                      </a:r>
                      <a:endParaRPr lang="en-GB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Bi(OTf)</a:t>
                      </a:r>
                      <a:r>
                        <a:rPr lang="en-US" sz="1100" baseline="-25000">
                          <a:effectLst/>
                        </a:rPr>
                        <a:t>3</a:t>
                      </a:r>
                      <a:endParaRPr lang="en-GB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DCM</a:t>
                      </a:r>
                      <a:endParaRPr lang="en-GB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25</a:t>
                      </a:r>
                      <a:endParaRPr lang="en-GB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16</a:t>
                      </a:r>
                      <a:endParaRPr lang="en-GB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100</a:t>
                      </a:r>
                      <a:endParaRPr lang="en-GB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057449250"/>
                  </a:ext>
                </a:extLst>
              </a:tr>
              <a:tr h="25522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12</a:t>
                      </a:r>
                      <a:endParaRPr lang="en-GB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BiBr</a:t>
                      </a:r>
                      <a:r>
                        <a:rPr lang="en-US" sz="1100" baseline="-25000">
                          <a:effectLst/>
                        </a:rPr>
                        <a:t>3</a:t>
                      </a:r>
                      <a:endParaRPr lang="en-GB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DCM</a:t>
                      </a:r>
                      <a:endParaRPr lang="en-GB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25</a:t>
                      </a:r>
                      <a:endParaRPr lang="en-GB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16</a:t>
                      </a:r>
                      <a:endParaRPr lang="en-GB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100</a:t>
                      </a:r>
                      <a:endParaRPr lang="en-GB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87928928"/>
                  </a:ext>
                </a:extLst>
              </a:tr>
            </a:tbl>
          </a:graphicData>
        </a:graphic>
      </p:graphicFrame>
      <p:graphicFrame>
        <p:nvGraphicFramePr>
          <p:cNvPr id="15" name="Object 14">
            <a:extLst>
              <a:ext uri="{FF2B5EF4-FFF2-40B4-BE49-F238E27FC236}">
                <a16:creationId xmlns:a16="http://schemas.microsoft.com/office/drawing/2014/main" id="{E4A04C0F-FC49-80A5-B0DF-8E19358F6FF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86502384"/>
              </p:ext>
            </p:extLst>
          </p:nvPr>
        </p:nvGraphicFramePr>
        <p:xfrm>
          <a:off x="3103352" y="1199233"/>
          <a:ext cx="5985296" cy="205141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4" imgW="4987747" imgH="1709512" progId="ChemDraw.Document.6.0">
                  <p:embed/>
                </p:oleObj>
              </mc:Choice>
              <mc:Fallback>
                <p:oleObj name="CS ChemDraw Drawing" r:id="rId4" imgW="4987747" imgH="1709512" progId="ChemDraw.Document.6.0">
                  <p:embed/>
                  <p:pic>
                    <p:nvPicPr>
                      <p:cNvPr id="15" name="Object 14">
                        <a:extLst>
                          <a:ext uri="{FF2B5EF4-FFF2-40B4-BE49-F238E27FC236}">
                            <a16:creationId xmlns:a16="http://schemas.microsoft.com/office/drawing/2014/main" id="{E4A04C0F-FC49-80A5-B0DF-8E19358F6FF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03352" y="1199233"/>
                        <a:ext cx="5985296" cy="205141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BCF9428C-3CCC-844D-DDDD-B3CBA986B5DF}"/>
              </a:ext>
            </a:extLst>
          </p:cNvPr>
          <p:cNvSpPr txBox="1"/>
          <p:nvPr/>
        </p:nvSpPr>
        <p:spPr>
          <a:xfrm>
            <a:off x="3698085" y="6549269"/>
            <a:ext cx="3431584" cy="298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00" baseline="3000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a</a:t>
            </a:r>
            <a:r>
              <a:rPr lang="en-US" sz="100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Conv</a:t>
            </a:r>
            <a:r>
              <a:rPr lang="en-US" sz="10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 % based on the amount of starting material reacted.</a:t>
            </a:r>
            <a:endParaRPr lang="en-GB" sz="1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B209741-AEEE-68EC-CAF1-131B7279BA87}"/>
              </a:ext>
            </a:extLst>
          </p:cNvPr>
          <p:cNvSpPr txBox="1"/>
          <p:nvPr/>
        </p:nvSpPr>
        <p:spPr>
          <a:xfrm>
            <a:off x="11814628" y="6518740"/>
            <a:ext cx="34176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30</a:t>
            </a:r>
          </a:p>
        </p:txBody>
      </p:sp>
    </p:spTree>
    <p:extLst>
      <p:ext uri="{BB962C8B-B14F-4D97-AF65-F5344CB8AC3E}">
        <p14:creationId xmlns:p14="http://schemas.microsoft.com/office/powerpoint/2010/main" val="6612869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>
            <a:extLst>
              <a:ext uri="{FF2B5EF4-FFF2-40B4-BE49-F238E27FC236}">
                <a16:creationId xmlns:a16="http://schemas.microsoft.com/office/drawing/2014/main" id="{3E8B913C-050D-9885-7AC7-BA5891356D1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73252" y="2563217"/>
          <a:ext cx="3719530" cy="11923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2" imgW="2861767" imgH="917102" progId="ChemDraw.Document.6.0">
                  <p:embed/>
                </p:oleObj>
              </mc:Choice>
              <mc:Fallback>
                <p:oleObj name="CS ChemDraw Drawing" r:id="rId2" imgW="2861767" imgH="917102" progId="ChemDraw.Document.6.0">
                  <p:embed/>
                  <p:pic>
                    <p:nvPicPr>
                      <p:cNvPr id="8" name="Object 7">
                        <a:extLst>
                          <a:ext uri="{FF2B5EF4-FFF2-40B4-BE49-F238E27FC236}">
                            <a16:creationId xmlns:a16="http://schemas.microsoft.com/office/drawing/2014/main" id="{3E8B913C-050D-9885-7AC7-BA5891356D1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473252" y="2563217"/>
                        <a:ext cx="3719530" cy="119239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4">
            <a:extLst>
              <a:ext uri="{FF2B5EF4-FFF2-40B4-BE49-F238E27FC236}">
                <a16:creationId xmlns:a16="http://schemas.microsoft.com/office/drawing/2014/main" id="{967A7A6C-988B-7147-B8F8-539117CBF709}"/>
              </a:ext>
            </a:extLst>
          </p:cNvPr>
          <p:cNvGrpSpPr>
            <a:grpSpLocks/>
          </p:cNvGrpSpPr>
          <p:nvPr/>
        </p:nvGrpSpPr>
        <p:grpSpPr bwMode="auto">
          <a:xfrm>
            <a:off x="1" y="268804"/>
            <a:ext cx="9144000" cy="1143000"/>
            <a:chOff x="1" y="76200"/>
            <a:chExt cx="9144000" cy="1143000"/>
          </a:xfrm>
        </p:grpSpPr>
        <p:grpSp>
          <p:nvGrpSpPr>
            <p:cNvPr id="3" name="Group 15">
              <a:extLst>
                <a:ext uri="{FF2B5EF4-FFF2-40B4-BE49-F238E27FC236}">
                  <a16:creationId xmlns:a16="http://schemas.microsoft.com/office/drawing/2014/main" id="{6972F34B-FB9C-7D49-8DA4-0F9A0521C10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" y="161928"/>
              <a:ext cx="9144000" cy="993788"/>
              <a:chOff x="0" y="102"/>
              <a:chExt cx="5760" cy="626"/>
            </a:xfrm>
          </p:grpSpPr>
          <p:sp>
            <p:nvSpPr>
              <p:cNvPr id="6" name="Rectangle 3">
                <a:extLst>
                  <a:ext uri="{FF2B5EF4-FFF2-40B4-BE49-F238E27FC236}">
                    <a16:creationId xmlns:a16="http://schemas.microsoft.com/office/drawing/2014/main" id="{0AE3FD6C-36C1-214C-AA1E-2E80D43EFC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0" y="332"/>
                <a:ext cx="5760" cy="233"/>
              </a:xfrm>
              <a:prstGeom prst="rect">
                <a:avLst/>
              </a:prstGeom>
              <a:gradFill rotWithShape="1">
                <a:gsLst>
                  <a:gs pos="0">
                    <a:srgbClr val="DDDDDD"/>
                  </a:gs>
                  <a:gs pos="100000">
                    <a:schemeClr val="tx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800">
                  <a:latin typeface="Helvetica" panose="020B0604020202020204" pitchFamily="34" charset="0"/>
                  <a:cs typeface="Helvetica" panose="020B0604020202020204" pitchFamily="34" charset="0"/>
                </a:endParaRPr>
              </a:p>
            </p:txBody>
          </p:sp>
          <p:pic>
            <p:nvPicPr>
              <p:cNvPr id="7" name="Picture 5" descr="images">
                <a:extLst>
                  <a:ext uri="{FF2B5EF4-FFF2-40B4-BE49-F238E27FC236}">
                    <a16:creationId xmlns:a16="http://schemas.microsoft.com/office/drawing/2014/main" id="{70027538-CD95-2A4E-902C-07AFD582D10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92" y="102"/>
                <a:ext cx="626" cy="6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D80A025B-99F0-A248-83F5-973E68B7FBA5}"/>
                </a:ext>
              </a:extLst>
            </p:cNvPr>
            <p:cNvSpPr/>
            <p:nvPr/>
          </p:nvSpPr>
          <p:spPr>
            <a:xfrm>
              <a:off x="152400" y="76200"/>
              <a:ext cx="1676400" cy="1143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US">
                <a:latin typeface="Helvetica" panose="020B0604020202020204" pitchFamily="34" charset="0"/>
                <a:cs typeface="Helvetica" panose="020B0604020202020204" pitchFamily="34" charset="0"/>
              </a:endParaRPr>
            </a:p>
          </p:txBody>
        </p:sp>
        <p:pic>
          <p:nvPicPr>
            <p:cNvPr id="5" name="Picture 4" descr="http://images.wikia.com/logopedia/images/4/4a/Western_Washington_University_2010.png">
              <a:extLst>
                <a:ext uri="{FF2B5EF4-FFF2-40B4-BE49-F238E27FC236}">
                  <a16:creationId xmlns:a16="http://schemas.microsoft.com/office/drawing/2014/main" id="{F20C0EB0-9B99-B34F-BCB6-D0C0B49CE2E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1237" y="76200"/>
              <a:ext cx="1663602" cy="838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3CD55881-2CFD-4D49-A5BD-780B539197E5}"/>
              </a:ext>
            </a:extLst>
          </p:cNvPr>
          <p:cNvSpPr txBox="1"/>
          <p:nvPr/>
        </p:nvSpPr>
        <p:spPr>
          <a:xfrm>
            <a:off x="1814839" y="123796"/>
            <a:ext cx="29899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accent1"/>
                </a:solidFill>
                <a:latin typeface="+mj-lt"/>
              </a:rPr>
              <a:t>Use of a </a:t>
            </a:r>
            <a:r>
              <a:rPr lang="en-US" sz="2400" b="1" dirty="0" err="1">
                <a:solidFill>
                  <a:schemeClr val="accent1"/>
                </a:solidFill>
                <a:latin typeface="+mj-lt"/>
              </a:rPr>
              <a:t>Brønsted</a:t>
            </a:r>
            <a:r>
              <a:rPr lang="en-US" sz="2400" b="1" dirty="0">
                <a:solidFill>
                  <a:schemeClr val="accent1"/>
                </a:solidFill>
                <a:latin typeface="+mj-lt"/>
              </a:rPr>
              <a:t> Acid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3A09FCE-E83D-6148-BC68-9DEA4EED714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79579" y="1093565"/>
            <a:ext cx="7512423" cy="576443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B42BDB02-7C8F-174B-B8A3-B01E617B940A}"/>
              </a:ext>
            </a:extLst>
          </p:cNvPr>
          <p:cNvSpPr txBox="1"/>
          <p:nvPr/>
        </p:nvSpPr>
        <p:spPr>
          <a:xfrm>
            <a:off x="0" y="6519450"/>
            <a:ext cx="39305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15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3E7EBC09-4C54-F3CF-6C79-8FD068D710AE}"/>
              </a:ext>
            </a:extLst>
          </p:cNvPr>
          <p:cNvCxnSpPr>
            <a:cxnSpLocks/>
          </p:cNvCxnSpPr>
          <p:nvPr/>
        </p:nvCxnSpPr>
        <p:spPr>
          <a:xfrm flipH="1">
            <a:off x="8202642" y="4644428"/>
            <a:ext cx="389097" cy="884827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E20A8363-05A8-61CF-C53E-B10F0260D9B6}"/>
              </a:ext>
            </a:extLst>
          </p:cNvPr>
          <p:cNvSpPr txBox="1"/>
          <p:nvPr/>
        </p:nvSpPr>
        <p:spPr>
          <a:xfrm>
            <a:off x="8139066" y="4200808"/>
            <a:ext cx="12346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rgbClr val="FF9933"/>
                </a:solidFill>
              </a:rPr>
              <a:t>this signal?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727F85F-23A6-FF61-3B31-D41535C2CE52}"/>
              </a:ext>
            </a:extLst>
          </p:cNvPr>
          <p:cNvSpPr/>
          <p:nvPr/>
        </p:nvSpPr>
        <p:spPr>
          <a:xfrm>
            <a:off x="4679579" y="1089554"/>
            <a:ext cx="1435744" cy="16531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DBBB2D5-2960-7315-18C4-A586D7DF2FC5}"/>
              </a:ext>
            </a:extLst>
          </p:cNvPr>
          <p:cNvSpPr txBox="1"/>
          <p:nvPr/>
        </p:nvSpPr>
        <p:spPr>
          <a:xfrm>
            <a:off x="11814628" y="6518740"/>
            <a:ext cx="34176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33</a:t>
            </a:r>
          </a:p>
        </p:txBody>
      </p:sp>
    </p:spTree>
    <p:extLst>
      <p:ext uri="{BB962C8B-B14F-4D97-AF65-F5344CB8AC3E}">
        <p14:creationId xmlns:p14="http://schemas.microsoft.com/office/powerpoint/2010/main" val="30269114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ct 8">
            <a:extLst>
              <a:ext uri="{FF2B5EF4-FFF2-40B4-BE49-F238E27FC236}">
                <a16:creationId xmlns:a16="http://schemas.microsoft.com/office/drawing/2014/main" id="{38526DCC-382F-CC4C-7939-1591104582B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4801" y="3084184"/>
          <a:ext cx="4873591" cy="8814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2" imgW="3466795" imgH="627507" progId="ChemDraw.Document.6.0">
                  <p:embed/>
                </p:oleObj>
              </mc:Choice>
              <mc:Fallback>
                <p:oleObj name="CS ChemDraw Drawing" r:id="rId2" imgW="3466795" imgH="627507" progId="ChemDraw.Document.6.0">
                  <p:embed/>
                  <p:pic>
                    <p:nvPicPr>
                      <p:cNvPr id="9" name="Object 8">
                        <a:extLst>
                          <a:ext uri="{FF2B5EF4-FFF2-40B4-BE49-F238E27FC236}">
                            <a16:creationId xmlns:a16="http://schemas.microsoft.com/office/drawing/2014/main" id="{38526DCC-382F-CC4C-7939-1591104582B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04801" y="3084184"/>
                        <a:ext cx="4873591" cy="88144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4">
            <a:extLst>
              <a:ext uri="{FF2B5EF4-FFF2-40B4-BE49-F238E27FC236}">
                <a16:creationId xmlns:a16="http://schemas.microsoft.com/office/drawing/2014/main" id="{967A7A6C-988B-7147-B8F8-539117CBF709}"/>
              </a:ext>
            </a:extLst>
          </p:cNvPr>
          <p:cNvGrpSpPr>
            <a:grpSpLocks/>
          </p:cNvGrpSpPr>
          <p:nvPr/>
        </p:nvGrpSpPr>
        <p:grpSpPr bwMode="auto">
          <a:xfrm>
            <a:off x="1" y="268804"/>
            <a:ext cx="9144000" cy="1143000"/>
            <a:chOff x="1" y="76200"/>
            <a:chExt cx="9144000" cy="1143000"/>
          </a:xfrm>
        </p:grpSpPr>
        <p:grpSp>
          <p:nvGrpSpPr>
            <p:cNvPr id="3" name="Group 15">
              <a:extLst>
                <a:ext uri="{FF2B5EF4-FFF2-40B4-BE49-F238E27FC236}">
                  <a16:creationId xmlns:a16="http://schemas.microsoft.com/office/drawing/2014/main" id="{6972F34B-FB9C-7D49-8DA4-0F9A0521C10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" y="161928"/>
              <a:ext cx="9144000" cy="993788"/>
              <a:chOff x="0" y="102"/>
              <a:chExt cx="5760" cy="626"/>
            </a:xfrm>
          </p:grpSpPr>
          <p:sp>
            <p:nvSpPr>
              <p:cNvPr id="6" name="Rectangle 3">
                <a:extLst>
                  <a:ext uri="{FF2B5EF4-FFF2-40B4-BE49-F238E27FC236}">
                    <a16:creationId xmlns:a16="http://schemas.microsoft.com/office/drawing/2014/main" id="{0AE3FD6C-36C1-214C-AA1E-2E80D43EFC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0" y="332"/>
                <a:ext cx="5760" cy="233"/>
              </a:xfrm>
              <a:prstGeom prst="rect">
                <a:avLst/>
              </a:prstGeom>
              <a:gradFill rotWithShape="1">
                <a:gsLst>
                  <a:gs pos="0">
                    <a:srgbClr val="DDDDDD"/>
                  </a:gs>
                  <a:gs pos="100000">
                    <a:schemeClr val="tx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800">
                  <a:latin typeface="Helvetica" panose="020B0604020202020204" pitchFamily="34" charset="0"/>
                  <a:cs typeface="Helvetica" panose="020B0604020202020204" pitchFamily="34" charset="0"/>
                </a:endParaRPr>
              </a:p>
            </p:txBody>
          </p:sp>
          <p:pic>
            <p:nvPicPr>
              <p:cNvPr id="7" name="Picture 5" descr="images">
                <a:extLst>
                  <a:ext uri="{FF2B5EF4-FFF2-40B4-BE49-F238E27FC236}">
                    <a16:creationId xmlns:a16="http://schemas.microsoft.com/office/drawing/2014/main" id="{70027538-CD95-2A4E-902C-07AFD582D10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92" y="102"/>
                <a:ext cx="626" cy="6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D80A025B-99F0-A248-83F5-973E68B7FBA5}"/>
                </a:ext>
              </a:extLst>
            </p:cNvPr>
            <p:cNvSpPr/>
            <p:nvPr/>
          </p:nvSpPr>
          <p:spPr>
            <a:xfrm>
              <a:off x="152400" y="76200"/>
              <a:ext cx="1676400" cy="1143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US">
                <a:latin typeface="Helvetica" panose="020B0604020202020204" pitchFamily="34" charset="0"/>
                <a:cs typeface="Helvetica" panose="020B0604020202020204" pitchFamily="34" charset="0"/>
              </a:endParaRPr>
            </a:p>
          </p:txBody>
        </p:sp>
        <p:pic>
          <p:nvPicPr>
            <p:cNvPr id="5" name="Picture 4" descr="http://images.wikia.com/logopedia/images/4/4a/Western_Washington_University_2010.png">
              <a:extLst>
                <a:ext uri="{FF2B5EF4-FFF2-40B4-BE49-F238E27FC236}">
                  <a16:creationId xmlns:a16="http://schemas.microsoft.com/office/drawing/2014/main" id="{F20C0EB0-9B99-B34F-BCB6-D0C0B49CE2E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1237" y="76200"/>
              <a:ext cx="1663602" cy="838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3CD55881-2CFD-4D49-A5BD-780B539197E5}"/>
              </a:ext>
            </a:extLst>
          </p:cNvPr>
          <p:cNvSpPr txBox="1"/>
          <p:nvPr/>
        </p:nvSpPr>
        <p:spPr>
          <a:xfrm>
            <a:off x="1814839" y="123796"/>
            <a:ext cx="29899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accent1"/>
                </a:solidFill>
                <a:latin typeface="+mj-lt"/>
              </a:rPr>
              <a:t>Use of a </a:t>
            </a:r>
            <a:r>
              <a:rPr lang="en-US" sz="2400" b="1" dirty="0" err="1">
                <a:solidFill>
                  <a:schemeClr val="accent1"/>
                </a:solidFill>
                <a:latin typeface="+mj-lt"/>
              </a:rPr>
              <a:t>Brønsted</a:t>
            </a:r>
            <a:r>
              <a:rPr lang="en-US" sz="2400" b="1" dirty="0">
                <a:solidFill>
                  <a:schemeClr val="accent1"/>
                </a:solidFill>
                <a:latin typeface="+mj-lt"/>
              </a:rPr>
              <a:t> Acid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3A09FCE-E83D-6148-BC68-9DEA4EED714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79579" y="1093565"/>
            <a:ext cx="7512423" cy="576443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B42BDB02-7C8F-174B-B8A3-B01E617B940A}"/>
              </a:ext>
            </a:extLst>
          </p:cNvPr>
          <p:cNvSpPr txBox="1"/>
          <p:nvPr/>
        </p:nvSpPr>
        <p:spPr>
          <a:xfrm>
            <a:off x="0" y="6519450"/>
            <a:ext cx="39305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16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3E7EBC09-4C54-F3CF-6C79-8FD068D710AE}"/>
              </a:ext>
            </a:extLst>
          </p:cNvPr>
          <p:cNvCxnSpPr>
            <a:cxnSpLocks/>
          </p:cNvCxnSpPr>
          <p:nvPr/>
        </p:nvCxnSpPr>
        <p:spPr>
          <a:xfrm flipH="1">
            <a:off x="8202642" y="4644428"/>
            <a:ext cx="389097" cy="884827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E20A8363-05A8-61CF-C53E-B10F0260D9B6}"/>
              </a:ext>
            </a:extLst>
          </p:cNvPr>
          <p:cNvSpPr txBox="1"/>
          <p:nvPr/>
        </p:nvSpPr>
        <p:spPr>
          <a:xfrm>
            <a:off x="8139066" y="4200808"/>
            <a:ext cx="12346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rgbClr val="FF9933"/>
                </a:solidFill>
              </a:rPr>
              <a:t>this signal?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B7960EF-0B9F-91BC-23C4-FC2A2EB9328D}"/>
              </a:ext>
            </a:extLst>
          </p:cNvPr>
          <p:cNvSpPr txBox="1"/>
          <p:nvPr/>
        </p:nvSpPr>
        <p:spPr>
          <a:xfrm>
            <a:off x="11814628" y="6518740"/>
            <a:ext cx="34176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34</a:t>
            </a:r>
          </a:p>
        </p:txBody>
      </p:sp>
    </p:spTree>
    <p:extLst>
      <p:ext uri="{BB962C8B-B14F-4D97-AF65-F5344CB8AC3E}">
        <p14:creationId xmlns:p14="http://schemas.microsoft.com/office/powerpoint/2010/main" val="15113611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4">
            <a:extLst>
              <a:ext uri="{FF2B5EF4-FFF2-40B4-BE49-F238E27FC236}">
                <a16:creationId xmlns:a16="http://schemas.microsoft.com/office/drawing/2014/main" id="{65A2043E-06C2-5848-8C0B-70A6E2C50D2D}"/>
              </a:ext>
            </a:extLst>
          </p:cNvPr>
          <p:cNvGrpSpPr>
            <a:grpSpLocks/>
          </p:cNvGrpSpPr>
          <p:nvPr/>
        </p:nvGrpSpPr>
        <p:grpSpPr bwMode="auto">
          <a:xfrm>
            <a:off x="1" y="268804"/>
            <a:ext cx="9144000" cy="1143000"/>
            <a:chOff x="1" y="76200"/>
            <a:chExt cx="9144000" cy="1143000"/>
          </a:xfrm>
        </p:grpSpPr>
        <p:grpSp>
          <p:nvGrpSpPr>
            <p:cNvPr id="3" name="Group 15">
              <a:extLst>
                <a:ext uri="{FF2B5EF4-FFF2-40B4-BE49-F238E27FC236}">
                  <a16:creationId xmlns:a16="http://schemas.microsoft.com/office/drawing/2014/main" id="{3DAAB6E5-4D29-2242-A591-BC45218A6D6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" y="161928"/>
              <a:ext cx="9144000" cy="993788"/>
              <a:chOff x="0" y="102"/>
              <a:chExt cx="5760" cy="626"/>
            </a:xfrm>
          </p:grpSpPr>
          <p:sp>
            <p:nvSpPr>
              <p:cNvPr id="6" name="Rectangle 3">
                <a:extLst>
                  <a:ext uri="{FF2B5EF4-FFF2-40B4-BE49-F238E27FC236}">
                    <a16:creationId xmlns:a16="http://schemas.microsoft.com/office/drawing/2014/main" id="{E9FF18C7-2DC3-C44B-918A-1CEB70C48D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0" y="332"/>
                <a:ext cx="5760" cy="233"/>
              </a:xfrm>
              <a:prstGeom prst="rect">
                <a:avLst/>
              </a:prstGeom>
              <a:gradFill rotWithShape="1">
                <a:gsLst>
                  <a:gs pos="0">
                    <a:srgbClr val="DDDDDD"/>
                  </a:gs>
                  <a:gs pos="100000">
                    <a:schemeClr val="tx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800">
                  <a:latin typeface="Helvetica" panose="020B0604020202020204" pitchFamily="34" charset="0"/>
                  <a:cs typeface="Helvetica" panose="020B0604020202020204" pitchFamily="34" charset="0"/>
                </a:endParaRPr>
              </a:p>
            </p:txBody>
          </p:sp>
          <p:pic>
            <p:nvPicPr>
              <p:cNvPr id="7" name="Picture 5" descr="images">
                <a:extLst>
                  <a:ext uri="{FF2B5EF4-FFF2-40B4-BE49-F238E27FC236}">
                    <a16:creationId xmlns:a16="http://schemas.microsoft.com/office/drawing/2014/main" id="{840D5F59-789A-1148-BA22-FE99ADE05D7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92" y="102"/>
                <a:ext cx="626" cy="6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508CF105-9A3A-844B-83A3-0816273A4AE1}"/>
                </a:ext>
              </a:extLst>
            </p:cNvPr>
            <p:cNvSpPr/>
            <p:nvPr/>
          </p:nvSpPr>
          <p:spPr>
            <a:xfrm>
              <a:off x="152400" y="76200"/>
              <a:ext cx="1676400" cy="1143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US">
                <a:latin typeface="Helvetica" panose="020B0604020202020204" pitchFamily="34" charset="0"/>
                <a:cs typeface="Helvetica" panose="020B0604020202020204" pitchFamily="34" charset="0"/>
              </a:endParaRPr>
            </a:p>
          </p:txBody>
        </p:sp>
        <p:pic>
          <p:nvPicPr>
            <p:cNvPr id="5" name="Picture 4" descr="http://images.wikia.com/logopedia/images/4/4a/Western_Washington_University_2010.png">
              <a:extLst>
                <a:ext uri="{FF2B5EF4-FFF2-40B4-BE49-F238E27FC236}">
                  <a16:creationId xmlns:a16="http://schemas.microsoft.com/office/drawing/2014/main" id="{32ACE6C6-5E24-D846-B46F-238B1800B70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1237" y="76200"/>
              <a:ext cx="1663602" cy="838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A69A154C-9D4A-5148-6F81-82C027EF21F1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dirty="0"/>
              <a:t>A strive for the addition of fluorine to organic molecules has risen and is in more than 30 % of the 100 best-selling small molecule drugs.</a:t>
            </a:r>
            <a:endParaRPr lang="en-US" sz="2000" baseline="30000" dirty="0"/>
          </a:p>
          <a:p>
            <a:pPr marL="0" indent="0">
              <a:buNone/>
            </a:pPr>
            <a:r>
              <a:rPr lang="en-US" sz="2000" dirty="0"/>
              <a:t>Fluorine has some unique properties including increasing the lipophilicity and potency of the drug. </a:t>
            </a:r>
          </a:p>
          <a:p>
            <a:pPr marL="0" indent="0">
              <a:buNone/>
            </a:pPr>
            <a:r>
              <a:rPr lang="en-US" sz="2000" dirty="0"/>
              <a:t>Similar in size to hydrogen but more polar.</a:t>
            </a:r>
          </a:p>
          <a:p>
            <a:pPr marL="0" indent="0">
              <a:buNone/>
            </a:pPr>
            <a:r>
              <a:rPr lang="en-US" sz="2000" dirty="0"/>
              <a:t>Positron-emission-tomography (PET) scans. Labeled fluorine-18 can be used to track the physiology of drugs. Important due to nuclear decay properties of fluorine. The half-life is “just right”.</a:t>
            </a:r>
          </a:p>
          <a:p>
            <a:pPr marL="0" indent="0">
              <a:buNone/>
            </a:pPr>
            <a:r>
              <a:rPr lang="en-US" sz="2000" dirty="0"/>
              <a:t>As of August 2021, there are 16 FDA-approved PET tracers, in which 10 of them contain fluorine.</a:t>
            </a:r>
          </a:p>
          <a:p>
            <a:pPr marL="0" indent="0">
              <a:buNone/>
            </a:pPr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57EDA4B-BFB6-2E4C-9EB3-60401D4A1E7A}"/>
              </a:ext>
            </a:extLst>
          </p:cNvPr>
          <p:cNvSpPr txBox="1"/>
          <p:nvPr/>
        </p:nvSpPr>
        <p:spPr>
          <a:xfrm>
            <a:off x="1814843" y="123796"/>
            <a:ext cx="183133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accent1"/>
                </a:solidFill>
                <a:latin typeface="+mj-lt"/>
              </a:rPr>
              <a:t>Why Fluorine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E733EC2-F7AA-9842-87B6-F4D74C20B779}"/>
              </a:ext>
            </a:extLst>
          </p:cNvPr>
          <p:cNvSpPr txBox="1"/>
          <p:nvPr/>
        </p:nvSpPr>
        <p:spPr>
          <a:xfrm>
            <a:off x="0" y="6341789"/>
            <a:ext cx="3840803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McGrath, N. A.; </a:t>
            </a:r>
            <a:r>
              <a:rPr lang="en-US" sz="900" dirty="0" err="1"/>
              <a:t>Brichacek</a:t>
            </a:r>
            <a:r>
              <a:rPr lang="en-US" sz="900" dirty="0"/>
              <a:t>, M.; </a:t>
            </a:r>
            <a:r>
              <a:rPr lang="en-US" sz="900" dirty="0" err="1"/>
              <a:t>Njardarson</a:t>
            </a:r>
            <a:r>
              <a:rPr lang="en-US" sz="900" dirty="0"/>
              <a:t>, J. T. </a:t>
            </a:r>
            <a:r>
              <a:rPr lang="en-US" sz="900" i="1" dirty="0"/>
              <a:t>J. Chem. Educ. </a:t>
            </a:r>
            <a:r>
              <a:rPr lang="en-US" sz="900" b="1" dirty="0"/>
              <a:t>2010</a:t>
            </a:r>
            <a:r>
              <a:rPr lang="en-US" sz="900" dirty="0"/>
              <a:t>, </a:t>
            </a:r>
            <a:r>
              <a:rPr lang="en-US" sz="900" i="1" dirty="0"/>
              <a:t>87</a:t>
            </a:r>
            <a:r>
              <a:rPr lang="en-US" sz="900" dirty="0"/>
              <a:t>, 1348. </a:t>
            </a:r>
          </a:p>
          <a:p>
            <a:r>
              <a:rPr lang="en-US" sz="900" dirty="0"/>
              <a:t>Gillis, E. P.; Eastman, K. J.; Hill, M. D.; Donnelly, D. J.; Meanwell, N. A. </a:t>
            </a:r>
            <a:r>
              <a:rPr lang="en-US" sz="900" i="1" dirty="0"/>
              <a:t>J. Med. Chem. </a:t>
            </a:r>
            <a:r>
              <a:rPr lang="en-US" sz="900" b="1" dirty="0"/>
              <a:t>2015</a:t>
            </a:r>
            <a:r>
              <a:rPr lang="en-US" sz="900" dirty="0"/>
              <a:t>, </a:t>
            </a:r>
            <a:r>
              <a:rPr lang="en-US" sz="900" i="1" dirty="0"/>
              <a:t>58</a:t>
            </a:r>
            <a:r>
              <a:rPr lang="en-US" sz="900" dirty="0"/>
              <a:t>, 8315. </a:t>
            </a:r>
          </a:p>
          <a:p>
            <a:pPr marL="342891" indent="-342891">
              <a:buAutoNum type="arabicParenBoth"/>
            </a:pPr>
            <a:endParaRPr lang="en-US" sz="900" dirty="0"/>
          </a:p>
          <a:p>
            <a:endParaRPr lang="en-US" sz="900" dirty="0"/>
          </a:p>
        </p:txBody>
      </p:sp>
      <p:graphicFrame>
        <p:nvGraphicFramePr>
          <p:cNvPr id="9" name="Object 8">
            <a:extLst>
              <a:ext uri="{FF2B5EF4-FFF2-40B4-BE49-F238E27FC236}">
                <a16:creationId xmlns:a16="http://schemas.microsoft.com/office/drawing/2014/main" id="{1C9F2BB7-046F-B7A0-B8FF-3EA2173D487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31102991"/>
              </p:ext>
            </p:extLst>
          </p:nvPr>
        </p:nvGraphicFramePr>
        <p:xfrm>
          <a:off x="4510088" y="4889500"/>
          <a:ext cx="3181350" cy="754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4" imgW="2656027" imgH="629066" progId="ChemDraw.Document.6.0">
                  <p:embed/>
                </p:oleObj>
              </mc:Choice>
              <mc:Fallback>
                <p:oleObj name="CS ChemDraw Drawing" r:id="rId4" imgW="2656027" imgH="629066" progId="ChemDraw.Document.6.0">
                  <p:embed/>
                  <p:pic>
                    <p:nvPicPr>
                      <p:cNvPr id="9" name="Object 8">
                        <a:extLst>
                          <a:ext uri="{FF2B5EF4-FFF2-40B4-BE49-F238E27FC236}">
                            <a16:creationId xmlns:a16="http://schemas.microsoft.com/office/drawing/2014/main" id="{1C9F2BB7-046F-B7A0-B8FF-3EA2173D487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510088" y="4889500"/>
                        <a:ext cx="3181350" cy="7540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87B50369-06DF-4AD3-ED15-862DF64CD85F}"/>
              </a:ext>
            </a:extLst>
          </p:cNvPr>
          <p:cNvSpPr txBox="1"/>
          <p:nvPr/>
        </p:nvSpPr>
        <p:spPr>
          <a:xfrm>
            <a:off x="11814628" y="6518740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045185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4">
            <a:extLst>
              <a:ext uri="{FF2B5EF4-FFF2-40B4-BE49-F238E27FC236}">
                <a16:creationId xmlns:a16="http://schemas.microsoft.com/office/drawing/2014/main" id="{1E994403-9114-28BD-39C4-82D13F0A60F4}"/>
              </a:ext>
            </a:extLst>
          </p:cNvPr>
          <p:cNvGrpSpPr>
            <a:grpSpLocks/>
          </p:cNvGrpSpPr>
          <p:nvPr/>
        </p:nvGrpSpPr>
        <p:grpSpPr bwMode="auto">
          <a:xfrm>
            <a:off x="1" y="268804"/>
            <a:ext cx="9144000" cy="1143000"/>
            <a:chOff x="1" y="76200"/>
            <a:chExt cx="9144000" cy="1143000"/>
          </a:xfrm>
        </p:grpSpPr>
        <p:grpSp>
          <p:nvGrpSpPr>
            <p:cNvPr id="3" name="Group 15">
              <a:extLst>
                <a:ext uri="{FF2B5EF4-FFF2-40B4-BE49-F238E27FC236}">
                  <a16:creationId xmlns:a16="http://schemas.microsoft.com/office/drawing/2014/main" id="{A1E918F3-C076-10D8-55BA-E24B50A108F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" y="161928"/>
              <a:ext cx="9144000" cy="993788"/>
              <a:chOff x="0" y="102"/>
              <a:chExt cx="5760" cy="626"/>
            </a:xfrm>
          </p:grpSpPr>
          <p:sp>
            <p:nvSpPr>
              <p:cNvPr id="6" name="Rectangle 3">
                <a:extLst>
                  <a:ext uri="{FF2B5EF4-FFF2-40B4-BE49-F238E27FC236}">
                    <a16:creationId xmlns:a16="http://schemas.microsoft.com/office/drawing/2014/main" id="{8060E8C5-60EA-B2F5-ACE8-B59CDDF092E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0" y="332"/>
                <a:ext cx="5760" cy="233"/>
              </a:xfrm>
              <a:prstGeom prst="rect">
                <a:avLst/>
              </a:prstGeom>
              <a:gradFill rotWithShape="1">
                <a:gsLst>
                  <a:gs pos="0">
                    <a:srgbClr val="DDDDDD"/>
                  </a:gs>
                  <a:gs pos="100000">
                    <a:schemeClr val="tx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800">
                  <a:latin typeface="Helvetica" panose="020B0604020202020204" pitchFamily="34" charset="0"/>
                  <a:cs typeface="Helvetica" panose="020B0604020202020204" pitchFamily="34" charset="0"/>
                </a:endParaRPr>
              </a:p>
            </p:txBody>
          </p:sp>
          <p:pic>
            <p:nvPicPr>
              <p:cNvPr id="7" name="Picture 5" descr="images">
                <a:extLst>
                  <a:ext uri="{FF2B5EF4-FFF2-40B4-BE49-F238E27FC236}">
                    <a16:creationId xmlns:a16="http://schemas.microsoft.com/office/drawing/2014/main" id="{F400CDAC-0AA5-C446-F7E3-F982DCC3453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92" y="102"/>
                <a:ext cx="626" cy="6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A0845C0B-AA5E-23F6-7736-365ABB9A1987}"/>
                </a:ext>
              </a:extLst>
            </p:cNvPr>
            <p:cNvSpPr/>
            <p:nvPr/>
          </p:nvSpPr>
          <p:spPr>
            <a:xfrm>
              <a:off x="152400" y="76200"/>
              <a:ext cx="1676400" cy="1143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US">
                <a:latin typeface="Helvetica" panose="020B0604020202020204" pitchFamily="34" charset="0"/>
                <a:cs typeface="Helvetica" panose="020B0604020202020204" pitchFamily="34" charset="0"/>
              </a:endParaRPr>
            </a:p>
          </p:txBody>
        </p:sp>
        <p:pic>
          <p:nvPicPr>
            <p:cNvPr id="5" name="Picture 4" descr="http://images.wikia.com/logopedia/images/4/4a/Western_Washington_University_2010.png">
              <a:extLst>
                <a:ext uri="{FF2B5EF4-FFF2-40B4-BE49-F238E27FC236}">
                  <a16:creationId xmlns:a16="http://schemas.microsoft.com/office/drawing/2014/main" id="{E13DEF79-296B-9D42-82D4-0793838F6AD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1237" y="76200"/>
              <a:ext cx="1663602" cy="838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9A72D80A-CC70-461E-0880-091CEF86BBA4}"/>
              </a:ext>
            </a:extLst>
          </p:cNvPr>
          <p:cNvSpPr txBox="1"/>
          <p:nvPr/>
        </p:nvSpPr>
        <p:spPr>
          <a:xfrm>
            <a:off x="1814839" y="123796"/>
            <a:ext cx="40901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accent1"/>
                </a:solidFill>
                <a:latin typeface="+mj-lt"/>
              </a:rPr>
              <a:t>Initial Discovery of Fluorohydrin </a:t>
            </a: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A06D5070-D160-25DD-829A-3BA994C3B8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33875" y="280987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  <p:graphicFrame>
        <p:nvGraphicFramePr>
          <p:cNvPr id="10" name="Object 9">
            <a:extLst>
              <a:ext uri="{FF2B5EF4-FFF2-40B4-BE49-F238E27FC236}">
                <a16:creationId xmlns:a16="http://schemas.microsoft.com/office/drawing/2014/main" id="{0A90A052-9C10-9094-19E1-2228055F6C5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094561" y="3672947"/>
          <a:ext cx="4002877" cy="6927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4" imgW="3335731" imgH="577319" progId="ChemDraw.Document.6.0">
                  <p:embed/>
                </p:oleObj>
              </mc:Choice>
              <mc:Fallback>
                <p:oleObj name="CS ChemDraw Drawing" r:id="rId4" imgW="3335731" imgH="577319" progId="ChemDraw.Document.6.0">
                  <p:embed/>
                  <p:pic>
                    <p:nvPicPr>
                      <p:cNvPr id="10" name="Object 9">
                        <a:extLst>
                          <a:ext uri="{FF2B5EF4-FFF2-40B4-BE49-F238E27FC236}">
                            <a16:creationId xmlns:a16="http://schemas.microsoft.com/office/drawing/2014/main" id="{0A90A052-9C10-9094-19E1-2228055F6C5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94561" y="3672947"/>
                        <a:ext cx="4002877" cy="69278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56236E53-439F-785E-A3B1-5918237C68C3}"/>
              </a:ext>
            </a:extLst>
          </p:cNvPr>
          <p:cNvSpPr txBox="1"/>
          <p:nvPr/>
        </p:nvSpPr>
        <p:spPr>
          <a:xfrm>
            <a:off x="1298576" y="1454684"/>
            <a:ext cx="9474199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HF•Pyr</a:t>
            </a:r>
            <a:r>
              <a:rPr lang="en-US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 led to a more complex mixture.</a:t>
            </a:r>
            <a:endParaRPr lang="en-US" dirty="0">
              <a:solidFill>
                <a:srgbClr val="000000"/>
              </a:solidFill>
              <a:latin typeface="Calibri" panose="020F0502020204030204" pitchFamily="34" charset="0"/>
              <a:ea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HF•TEA was rather clean, with little to no side products.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The formation of the fluorohydrin took place in mild conditions being that it proceeded at room temperature with five equivalents of HF•TEA.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This was appealing because the reagent HF•TEA is a milder version, being significantly less acidic and therefore easier to handle.</a:t>
            </a:r>
            <a:endParaRPr lang="en-GB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5524245-9377-093A-ECC8-3458D37353BE}"/>
              </a:ext>
            </a:extLst>
          </p:cNvPr>
          <p:cNvSpPr txBox="1"/>
          <p:nvPr/>
        </p:nvSpPr>
        <p:spPr>
          <a:xfrm>
            <a:off x="11814628" y="6518740"/>
            <a:ext cx="34176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35</a:t>
            </a:r>
          </a:p>
        </p:txBody>
      </p:sp>
    </p:spTree>
    <p:extLst>
      <p:ext uri="{BB962C8B-B14F-4D97-AF65-F5344CB8AC3E}">
        <p14:creationId xmlns:p14="http://schemas.microsoft.com/office/powerpoint/2010/main" val="3188893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4">
            <a:extLst>
              <a:ext uri="{FF2B5EF4-FFF2-40B4-BE49-F238E27FC236}">
                <a16:creationId xmlns:a16="http://schemas.microsoft.com/office/drawing/2014/main" id="{6FFA88E9-9DDB-F5FE-E49C-3A6CA8FC3AF8}"/>
              </a:ext>
            </a:extLst>
          </p:cNvPr>
          <p:cNvGrpSpPr>
            <a:grpSpLocks/>
          </p:cNvGrpSpPr>
          <p:nvPr/>
        </p:nvGrpSpPr>
        <p:grpSpPr bwMode="auto">
          <a:xfrm>
            <a:off x="1" y="268804"/>
            <a:ext cx="9144000" cy="1143000"/>
            <a:chOff x="1" y="76200"/>
            <a:chExt cx="9144000" cy="1143000"/>
          </a:xfrm>
        </p:grpSpPr>
        <p:grpSp>
          <p:nvGrpSpPr>
            <p:cNvPr id="3" name="Group 15">
              <a:extLst>
                <a:ext uri="{FF2B5EF4-FFF2-40B4-BE49-F238E27FC236}">
                  <a16:creationId xmlns:a16="http://schemas.microsoft.com/office/drawing/2014/main" id="{94790C34-3FC2-C805-563F-2BC596128C2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" y="161928"/>
              <a:ext cx="9144000" cy="993788"/>
              <a:chOff x="0" y="102"/>
              <a:chExt cx="5760" cy="626"/>
            </a:xfrm>
          </p:grpSpPr>
          <p:sp>
            <p:nvSpPr>
              <p:cNvPr id="6" name="Rectangle 3">
                <a:extLst>
                  <a:ext uri="{FF2B5EF4-FFF2-40B4-BE49-F238E27FC236}">
                    <a16:creationId xmlns:a16="http://schemas.microsoft.com/office/drawing/2014/main" id="{77C081ED-CF3C-D08E-4DF9-0927F7F037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0" y="332"/>
                <a:ext cx="5760" cy="233"/>
              </a:xfrm>
              <a:prstGeom prst="rect">
                <a:avLst/>
              </a:prstGeom>
              <a:gradFill rotWithShape="1">
                <a:gsLst>
                  <a:gs pos="0">
                    <a:srgbClr val="DDDDDD"/>
                  </a:gs>
                  <a:gs pos="100000">
                    <a:schemeClr val="tx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800">
                  <a:latin typeface="Helvetica" panose="020B0604020202020204" pitchFamily="34" charset="0"/>
                  <a:cs typeface="Helvetica" panose="020B0604020202020204" pitchFamily="34" charset="0"/>
                </a:endParaRPr>
              </a:p>
            </p:txBody>
          </p:sp>
          <p:pic>
            <p:nvPicPr>
              <p:cNvPr id="7" name="Picture 5" descr="images">
                <a:extLst>
                  <a:ext uri="{FF2B5EF4-FFF2-40B4-BE49-F238E27FC236}">
                    <a16:creationId xmlns:a16="http://schemas.microsoft.com/office/drawing/2014/main" id="{1B306D63-50CE-22D1-22DD-A74D2D48363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92" y="102"/>
                <a:ext cx="626" cy="6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62D551A7-127E-2421-2FE8-36A806AD3E5A}"/>
                </a:ext>
              </a:extLst>
            </p:cNvPr>
            <p:cNvSpPr/>
            <p:nvPr/>
          </p:nvSpPr>
          <p:spPr>
            <a:xfrm>
              <a:off x="152400" y="76200"/>
              <a:ext cx="1676400" cy="1143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US">
                <a:latin typeface="Helvetica" panose="020B0604020202020204" pitchFamily="34" charset="0"/>
                <a:cs typeface="Helvetica" panose="020B0604020202020204" pitchFamily="34" charset="0"/>
              </a:endParaRPr>
            </a:p>
          </p:txBody>
        </p:sp>
        <p:pic>
          <p:nvPicPr>
            <p:cNvPr id="5" name="Picture 4" descr="http://images.wikia.com/logopedia/images/4/4a/Western_Washington_University_2010.png">
              <a:extLst>
                <a:ext uri="{FF2B5EF4-FFF2-40B4-BE49-F238E27FC236}">
                  <a16:creationId xmlns:a16="http://schemas.microsoft.com/office/drawing/2014/main" id="{DD7004CA-E86B-C5CE-A31F-CB3A8D815C6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1237" y="76200"/>
              <a:ext cx="1663602" cy="838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DDC4A401-F94C-5699-0C13-CF85AF930549}"/>
              </a:ext>
            </a:extLst>
          </p:cNvPr>
          <p:cNvSpPr txBox="1"/>
          <p:nvPr/>
        </p:nvSpPr>
        <p:spPr>
          <a:xfrm>
            <a:off x="1814839" y="123796"/>
            <a:ext cx="51497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accent1"/>
                </a:solidFill>
                <a:latin typeface="+mj-lt"/>
              </a:rPr>
              <a:t>Synthesis of Fluorohydrins from Epoxides</a:t>
            </a: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45BE04C4-F767-9C3B-6CC6-437D4CCA21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48264" y="208597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  <p:graphicFrame>
        <p:nvGraphicFramePr>
          <p:cNvPr id="10" name="Object 9">
            <a:extLst>
              <a:ext uri="{FF2B5EF4-FFF2-40B4-BE49-F238E27FC236}">
                <a16:creationId xmlns:a16="http://schemas.microsoft.com/office/drawing/2014/main" id="{72BC3906-CAE5-48F8-25B4-B728A9D24BB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79939482"/>
              </p:ext>
            </p:extLst>
          </p:nvPr>
        </p:nvGraphicFramePr>
        <p:xfrm>
          <a:off x="2528888" y="2547938"/>
          <a:ext cx="7134225" cy="3173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4" imgW="5944819" imgH="2643759" progId="ChemDraw.Document.6.0">
                  <p:embed/>
                </p:oleObj>
              </mc:Choice>
              <mc:Fallback>
                <p:oleObj name="CS ChemDraw Drawing" r:id="rId4" imgW="5944819" imgH="2643759" progId="ChemDraw.Document.6.0">
                  <p:embed/>
                  <p:pic>
                    <p:nvPicPr>
                      <p:cNvPr id="10" name="Object 9">
                        <a:extLst>
                          <a:ext uri="{FF2B5EF4-FFF2-40B4-BE49-F238E27FC236}">
                            <a16:creationId xmlns:a16="http://schemas.microsoft.com/office/drawing/2014/main" id="{72BC3906-CAE5-48F8-25B4-B728A9D24BB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28888" y="2547938"/>
                        <a:ext cx="7134225" cy="31734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708BC481-B7AF-978D-9F36-629CFF3D76B6}"/>
              </a:ext>
            </a:extLst>
          </p:cNvPr>
          <p:cNvSpPr txBox="1"/>
          <p:nvPr/>
        </p:nvSpPr>
        <p:spPr>
          <a:xfrm>
            <a:off x="1379477" y="1520613"/>
            <a:ext cx="847889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Times New Roman" panose="02020603050405020304" pitchFamily="18" charset="0"/>
              </a:rPr>
              <a:t>Usually the conditions need to open epoxides with HF·TEA require long run times with high temperatures. </a:t>
            </a:r>
            <a:endParaRPr lang="en-US" sz="1800" dirty="0">
              <a:effectLst/>
              <a:latin typeface="Calibri" panose="020F0502020204030204" pitchFamily="34" charset="0"/>
              <a:ea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B595727-34B7-9516-915C-50F295D8DB82}"/>
              </a:ext>
            </a:extLst>
          </p:cNvPr>
          <p:cNvSpPr txBox="1"/>
          <p:nvPr/>
        </p:nvSpPr>
        <p:spPr>
          <a:xfrm>
            <a:off x="1622" y="6456480"/>
            <a:ext cx="6094378" cy="40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9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Chen, J.-L.; Zheng, F.; Huang, Y.; Qing, F.-L., </a:t>
            </a:r>
            <a:r>
              <a:rPr lang="en-US" sz="9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J. Org. Chem.</a:t>
            </a:r>
            <a:r>
              <a:rPr lang="en-US" sz="9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2011</a:t>
            </a:r>
            <a:r>
              <a:rPr lang="en-US" sz="9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9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76</a:t>
            </a:r>
            <a:r>
              <a:rPr lang="en-US" sz="9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(16), 6525–6533.</a:t>
            </a:r>
            <a:endParaRPr lang="en-GB" sz="9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9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Al-</a:t>
            </a:r>
            <a:r>
              <a:rPr lang="en-US" sz="9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Maharik</a:t>
            </a:r>
            <a:r>
              <a:rPr lang="en-US" sz="9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N.; Kirsch, P.; Slawin, A. M. Z.; O’Hagan, D., </a:t>
            </a:r>
            <a:r>
              <a:rPr lang="en-US" sz="9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Tetrahedron</a:t>
            </a:r>
            <a:r>
              <a:rPr lang="en-US" sz="9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2014</a:t>
            </a:r>
            <a:r>
              <a:rPr lang="en-US" sz="9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9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70</a:t>
            </a:r>
            <a:r>
              <a:rPr lang="en-US" sz="9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(31), 4626–4630.</a:t>
            </a:r>
            <a:endParaRPr lang="en-GB" sz="9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650C37E-08F4-E86C-A1E9-8A4D623295C1}"/>
              </a:ext>
            </a:extLst>
          </p:cNvPr>
          <p:cNvSpPr txBox="1"/>
          <p:nvPr/>
        </p:nvSpPr>
        <p:spPr>
          <a:xfrm>
            <a:off x="11814628" y="6518740"/>
            <a:ext cx="34176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37</a:t>
            </a:r>
          </a:p>
        </p:txBody>
      </p:sp>
    </p:spTree>
    <p:extLst>
      <p:ext uri="{BB962C8B-B14F-4D97-AF65-F5344CB8AC3E}">
        <p14:creationId xmlns:p14="http://schemas.microsoft.com/office/powerpoint/2010/main" val="15375857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4">
            <a:extLst>
              <a:ext uri="{FF2B5EF4-FFF2-40B4-BE49-F238E27FC236}">
                <a16:creationId xmlns:a16="http://schemas.microsoft.com/office/drawing/2014/main" id="{6FFA88E9-9DDB-F5FE-E49C-3A6CA8FC3AF8}"/>
              </a:ext>
            </a:extLst>
          </p:cNvPr>
          <p:cNvGrpSpPr>
            <a:grpSpLocks/>
          </p:cNvGrpSpPr>
          <p:nvPr/>
        </p:nvGrpSpPr>
        <p:grpSpPr bwMode="auto">
          <a:xfrm>
            <a:off x="1" y="268804"/>
            <a:ext cx="9144000" cy="1143000"/>
            <a:chOff x="1" y="76200"/>
            <a:chExt cx="9144000" cy="1143000"/>
          </a:xfrm>
        </p:grpSpPr>
        <p:grpSp>
          <p:nvGrpSpPr>
            <p:cNvPr id="3" name="Group 15">
              <a:extLst>
                <a:ext uri="{FF2B5EF4-FFF2-40B4-BE49-F238E27FC236}">
                  <a16:creationId xmlns:a16="http://schemas.microsoft.com/office/drawing/2014/main" id="{94790C34-3FC2-C805-563F-2BC596128C2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" y="161928"/>
              <a:ext cx="9144000" cy="993788"/>
              <a:chOff x="0" y="102"/>
              <a:chExt cx="5760" cy="626"/>
            </a:xfrm>
          </p:grpSpPr>
          <p:sp>
            <p:nvSpPr>
              <p:cNvPr id="6" name="Rectangle 3">
                <a:extLst>
                  <a:ext uri="{FF2B5EF4-FFF2-40B4-BE49-F238E27FC236}">
                    <a16:creationId xmlns:a16="http://schemas.microsoft.com/office/drawing/2014/main" id="{77C081ED-CF3C-D08E-4DF9-0927F7F037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0" y="332"/>
                <a:ext cx="5760" cy="233"/>
              </a:xfrm>
              <a:prstGeom prst="rect">
                <a:avLst/>
              </a:prstGeom>
              <a:gradFill rotWithShape="1">
                <a:gsLst>
                  <a:gs pos="0">
                    <a:srgbClr val="DDDDDD"/>
                  </a:gs>
                  <a:gs pos="100000">
                    <a:schemeClr val="tx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800">
                  <a:latin typeface="Helvetica" panose="020B0604020202020204" pitchFamily="34" charset="0"/>
                  <a:cs typeface="Helvetica" panose="020B0604020202020204" pitchFamily="34" charset="0"/>
                </a:endParaRPr>
              </a:p>
            </p:txBody>
          </p:sp>
          <p:pic>
            <p:nvPicPr>
              <p:cNvPr id="7" name="Picture 5" descr="images">
                <a:extLst>
                  <a:ext uri="{FF2B5EF4-FFF2-40B4-BE49-F238E27FC236}">
                    <a16:creationId xmlns:a16="http://schemas.microsoft.com/office/drawing/2014/main" id="{1B306D63-50CE-22D1-22DD-A74D2D48363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92" y="102"/>
                <a:ext cx="626" cy="6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62D551A7-127E-2421-2FE8-36A806AD3E5A}"/>
                </a:ext>
              </a:extLst>
            </p:cNvPr>
            <p:cNvSpPr/>
            <p:nvPr/>
          </p:nvSpPr>
          <p:spPr>
            <a:xfrm>
              <a:off x="152400" y="76200"/>
              <a:ext cx="1676400" cy="1143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US">
                <a:latin typeface="Helvetica" panose="020B0604020202020204" pitchFamily="34" charset="0"/>
                <a:cs typeface="Helvetica" panose="020B0604020202020204" pitchFamily="34" charset="0"/>
              </a:endParaRPr>
            </a:p>
          </p:txBody>
        </p:sp>
        <p:pic>
          <p:nvPicPr>
            <p:cNvPr id="5" name="Picture 4" descr="http://images.wikia.com/logopedia/images/4/4a/Western_Washington_University_2010.png">
              <a:extLst>
                <a:ext uri="{FF2B5EF4-FFF2-40B4-BE49-F238E27FC236}">
                  <a16:creationId xmlns:a16="http://schemas.microsoft.com/office/drawing/2014/main" id="{DD7004CA-E86B-C5CE-A31F-CB3A8D815C6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1237" y="76200"/>
              <a:ext cx="1663602" cy="838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9" name="Rectangle 2">
            <a:extLst>
              <a:ext uri="{FF2B5EF4-FFF2-40B4-BE49-F238E27FC236}">
                <a16:creationId xmlns:a16="http://schemas.microsoft.com/office/drawing/2014/main" id="{F17D61E0-C7D5-32F4-26A8-82C3A742F8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  <p:graphicFrame>
        <p:nvGraphicFramePr>
          <p:cNvPr id="10" name="Object 9">
            <a:extLst>
              <a:ext uri="{FF2B5EF4-FFF2-40B4-BE49-F238E27FC236}">
                <a16:creationId xmlns:a16="http://schemas.microsoft.com/office/drawing/2014/main" id="{5B78C694-3899-3656-15D2-3EC70CC4B0B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51663140"/>
              </p:ext>
            </p:extLst>
          </p:nvPr>
        </p:nvGraphicFramePr>
        <p:xfrm>
          <a:off x="3098800" y="2241550"/>
          <a:ext cx="5992813" cy="3109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4" imgW="4993843" imgH="2592012" progId="ChemDraw.Document.6.0">
                  <p:embed/>
                </p:oleObj>
              </mc:Choice>
              <mc:Fallback>
                <p:oleObj name="CS ChemDraw Drawing" r:id="rId4" imgW="4993843" imgH="2592012" progId="ChemDraw.Document.6.0">
                  <p:embed/>
                  <p:pic>
                    <p:nvPicPr>
                      <p:cNvPr id="10" name="Object 9">
                        <a:extLst>
                          <a:ext uri="{FF2B5EF4-FFF2-40B4-BE49-F238E27FC236}">
                            <a16:creationId xmlns:a16="http://schemas.microsoft.com/office/drawing/2014/main" id="{5B78C694-3899-3656-15D2-3EC70CC4B0B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98800" y="2241550"/>
                        <a:ext cx="5992813" cy="31099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631D0F7C-F3F4-A6A7-6FA8-FCEFD935109E}"/>
              </a:ext>
            </a:extLst>
          </p:cNvPr>
          <p:cNvSpPr txBox="1"/>
          <p:nvPr/>
        </p:nvSpPr>
        <p:spPr>
          <a:xfrm>
            <a:off x="1379477" y="1520613"/>
            <a:ext cx="84788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Times New Roman" panose="02020603050405020304" pitchFamily="18" charset="0"/>
              </a:rPr>
              <a:t>Another case of high temperatures with long run times.</a:t>
            </a:r>
            <a:endParaRPr lang="en-US" sz="1800" dirty="0">
              <a:effectLst/>
              <a:latin typeface="Calibri" panose="020F0502020204030204" pitchFamily="34" charset="0"/>
              <a:ea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AFF4C0B-8820-0554-C608-75644A13A050}"/>
              </a:ext>
            </a:extLst>
          </p:cNvPr>
          <p:cNvSpPr txBox="1"/>
          <p:nvPr/>
        </p:nvSpPr>
        <p:spPr>
          <a:xfrm>
            <a:off x="1814839" y="123796"/>
            <a:ext cx="51497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accent1"/>
                </a:solidFill>
                <a:latin typeface="+mj-lt"/>
              </a:rPr>
              <a:t>Synthesis of Fluorohydrins from Epoxides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650179C-CBC7-9752-12F6-FB560A665F85}"/>
              </a:ext>
            </a:extLst>
          </p:cNvPr>
          <p:cNvSpPr txBox="1"/>
          <p:nvPr/>
        </p:nvSpPr>
        <p:spPr>
          <a:xfrm>
            <a:off x="0" y="6456480"/>
            <a:ext cx="4027251" cy="40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9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Brunet, V. A.; Slawin, A. M. Z.; O’Hagan, D. Three Step Synthesis of Single </a:t>
            </a:r>
            <a:r>
              <a:rPr lang="en-US" sz="9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Diastereoisomers</a:t>
            </a:r>
            <a:r>
              <a:rPr lang="en-US" sz="9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of the Vicinal Trifluoro Motif. </a:t>
            </a:r>
            <a:r>
              <a:rPr lang="en-US" sz="900" i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Beilstein</a:t>
            </a:r>
            <a:r>
              <a:rPr lang="en-US" sz="9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J. Org. Chem.</a:t>
            </a:r>
            <a:r>
              <a:rPr lang="en-US" sz="9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2009</a:t>
            </a:r>
            <a:r>
              <a:rPr lang="en-US" sz="9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9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</a:t>
            </a:r>
            <a:r>
              <a:rPr lang="en-US" sz="9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61.</a:t>
            </a:r>
            <a:endParaRPr lang="en-GB" sz="9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280BCB9-3D37-12BE-F268-70B398036282}"/>
              </a:ext>
            </a:extLst>
          </p:cNvPr>
          <p:cNvSpPr txBox="1"/>
          <p:nvPr/>
        </p:nvSpPr>
        <p:spPr>
          <a:xfrm>
            <a:off x="11814628" y="6518740"/>
            <a:ext cx="34176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38</a:t>
            </a:r>
          </a:p>
        </p:txBody>
      </p:sp>
    </p:spTree>
    <p:extLst>
      <p:ext uri="{BB962C8B-B14F-4D97-AF65-F5344CB8AC3E}">
        <p14:creationId xmlns:p14="http://schemas.microsoft.com/office/powerpoint/2010/main" val="368171303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4">
            <a:extLst>
              <a:ext uri="{FF2B5EF4-FFF2-40B4-BE49-F238E27FC236}">
                <a16:creationId xmlns:a16="http://schemas.microsoft.com/office/drawing/2014/main" id="{6FFA88E9-9DDB-F5FE-E49C-3A6CA8FC3AF8}"/>
              </a:ext>
            </a:extLst>
          </p:cNvPr>
          <p:cNvGrpSpPr>
            <a:grpSpLocks/>
          </p:cNvGrpSpPr>
          <p:nvPr/>
        </p:nvGrpSpPr>
        <p:grpSpPr bwMode="auto">
          <a:xfrm>
            <a:off x="1" y="268804"/>
            <a:ext cx="9144000" cy="1143000"/>
            <a:chOff x="1" y="76200"/>
            <a:chExt cx="9144000" cy="1143000"/>
          </a:xfrm>
        </p:grpSpPr>
        <p:grpSp>
          <p:nvGrpSpPr>
            <p:cNvPr id="3" name="Group 15">
              <a:extLst>
                <a:ext uri="{FF2B5EF4-FFF2-40B4-BE49-F238E27FC236}">
                  <a16:creationId xmlns:a16="http://schemas.microsoft.com/office/drawing/2014/main" id="{94790C34-3FC2-C805-563F-2BC596128C2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" y="161928"/>
              <a:ext cx="9144000" cy="993788"/>
              <a:chOff x="0" y="102"/>
              <a:chExt cx="5760" cy="626"/>
            </a:xfrm>
          </p:grpSpPr>
          <p:sp>
            <p:nvSpPr>
              <p:cNvPr id="6" name="Rectangle 3">
                <a:extLst>
                  <a:ext uri="{FF2B5EF4-FFF2-40B4-BE49-F238E27FC236}">
                    <a16:creationId xmlns:a16="http://schemas.microsoft.com/office/drawing/2014/main" id="{77C081ED-CF3C-D08E-4DF9-0927F7F037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0" y="332"/>
                <a:ext cx="5760" cy="233"/>
              </a:xfrm>
              <a:prstGeom prst="rect">
                <a:avLst/>
              </a:prstGeom>
              <a:gradFill rotWithShape="1">
                <a:gsLst>
                  <a:gs pos="0">
                    <a:srgbClr val="DDDDDD"/>
                  </a:gs>
                  <a:gs pos="100000">
                    <a:schemeClr val="tx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800">
                  <a:latin typeface="Helvetica" panose="020B0604020202020204" pitchFamily="34" charset="0"/>
                  <a:cs typeface="Helvetica" panose="020B0604020202020204" pitchFamily="34" charset="0"/>
                </a:endParaRPr>
              </a:p>
            </p:txBody>
          </p:sp>
          <p:pic>
            <p:nvPicPr>
              <p:cNvPr id="7" name="Picture 5" descr="images">
                <a:extLst>
                  <a:ext uri="{FF2B5EF4-FFF2-40B4-BE49-F238E27FC236}">
                    <a16:creationId xmlns:a16="http://schemas.microsoft.com/office/drawing/2014/main" id="{1B306D63-50CE-22D1-22DD-A74D2D48363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92" y="102"/>
                <a:ext cx="626" cy="6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62D551A7-127E-2421-2FE8-36A806AD3E5A}"/>
                </a:ext>
              </a:extLst>
            </p:cNvPr>
            <p:cNvSpPr/>
            <p:nvPr/>
          </p:nvSpPr>
          <p:spPr>
            <a:xfrm>
              <a:off x="152400" y="76200"/>
              <a:ext cx="1676400" cy="1143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US">
                <a:latin typeface="Helvetica" panose="020B0604020202020204" pitchFamily="34" charset="0"/>
                <a:cs typeface="Helvetica" panose="020B0604020202020204" pitchFamily="34" charset="0"/>
              </a:endParaRPr>
            </a:p>
          </p:txBody>
        </p:sp>
        <p:pic>
          <p:nvPicPr>
            <p:cNvPr id="5" name="Picture 4" descr="http://images.wikia.com/logopedia/images/4/4a/Western_Washington_University_2010.png">
              <a:extLst>
                <a:ext uri="{FF2B5EF4-FFF2-40B4-BE49-F238E27FC236}">
                  <a16:creationId xmlns:a16="http://schemas.microsoft.com/office/drawing/2014/main" id="{DD7004CA-E86B-C5CE-A31F-CB3A8D815C6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1237" y="76200"/>
              <a:ext cx="1663602" cy="838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F107CB16-2D5C-5323-63D4-C114FE99C78A}"/>
              </a:ext>
            </a:extLst>
          </p:cNvPr>
          <p:cNvSpPr txBox="1"/>
          <p:nvPr/>
        </p:nvSpPr>
        <p:spPr>
          <a:xfrm>
            <a:off x="1814839" y="123796"/>
            <a:ext cx="33191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accent1"/>
                </a:solidFill>
                <a:latin typeface="+mj-lt"/>
              </a:rPr>
              <a:t>Epoxidation of Allylsilanes</a:t>
            </a: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0C7C93EF-D544-601B-2F2F-1EE9043578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  <p:graphicFrame>
        <p:nvGraphicFramePr>
          <p:cNvPr id="10" name="Object 9">
            <a:extLst>
              <a:ext uri="{FF2B5EF4-FFF2-40B4-BE49-F238E27FC236}">
                <a16:creationId xmlns:a16="http://schemas.microsoft.com/office/drawing/2014/main" id="{3077C7C0-6230-B326-8EF8-01B6BD82AE4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49819683"/>
              </p:ext>
            </p:extLst>
          </p:nvPr>
        </p:nvGraphicFramePr>
        <p:xfrm>
          <a:off x="3887786" y="2106073"/>
          <a:ext cx="4416425" cy="2684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4" imgW="3680155" imgH="2236643" progId="ChemDraw.Document.6.0">
                  <p:embed/>
                </p:oleObj>
              </mc:Choice>
              <mc:Fallback>
                <p:oleObj name="CS ChemDraw Drawing" r:id="rId4" imgW="3680155" imgH="2236643" progId="ChemDraw.Document.6.0">
                  <p:embed/>
                  <p:pic>
                    <p:nvPicPr>
                      <p:cNvPr id="10" name="Object 9">
                        <a:extLst>
                          <a:ext uri="{FF2B5EF4-FFF2-40B4-BE49-F238E27FC236}">
                            <a16:creationId xmlns:a16="http://schemas.microsoft.com/office/drawing/2014/main" id="{3077C7C0-6230-B326-8EF8-01B6BD82AE4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87786" y="2106073"/>
                        <a:ext cx="4416425" cy="26844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B5CFBE45-5FCE-54A4-B168-8E5808FCC45A}"/>
              </a:ext>
            </a:extLst>
          </p:cNvPr>
          <p:cNvSpPr txBox="1"/>
          <p:nvPr/>
        </p:nvSpPr>
        <p:spPr>
          <a:xfrm>
            <a:off x="3638533" y="4790536"/>
            <a:ext cx="5051118" cy="8269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baseline="300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a </a:t>
            </a:r>
            <a:r>
              <a:rPr lang="en-US" sz="11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Reagents and conditions: TBAHS (0.04 eq.), K</a:t>
            </a:r>
            <a:r>
              <a:rPr lang="en-US" sz="1100" baseline="-250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2</a:t>
            </a:r>
            <a:r>
              <a:rPr lang="en-US" sz="11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CO</a:t>
            </a:r>
            <a:r>
              <a:rPr lang="en-US" sz="1100" baseline="-250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3</a:t>
            </a:r>
            <a:r>
              <a:rPr lang="en-US" sz="11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 (0.1 M aq., 0.2 eq.), CH</a:t>
            </a:r>
            <a:r>
              <a:rPr lang="en-US" sz="1100" baseline="-250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3</a:t>
            </a:r>
            <a:r>
              <a:rPr lang="en-US" sz="11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CN:DMM (2:1) (0.125 M), oxone (3 eq. in 0.125M 4 x 10</a:t>
            </a:r>
            <a:r>
              <a:rPr lang="en-US" sz="1100" baseline="300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-4</a:t>
            </a:r>
            <a:r>
              <a:rPr lang="en-US" sz="11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 M EDTA), K</a:t>
            </a:r>
            <a:r>
              <a:rPr lang="en-US" sz="1100" baseline="-250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2</a:t>
            </a:r>
            <a:r>
              <a:rPr lang="en-US" sz="11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CO</a:t>
            </a:r>
            <a:r>
              <a:rPr lang="en-US" sz="1100" baseline="-250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3</a:t>
            </a:r>
            <a:r>
              <a:rPr lang="en-US" sz="11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 (13.3 eq. in 0.125 M H2O). </a:t>
            </a:r>
            <a:r>
              <a:rPr lang="en-US" sz="1100" baseline="300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b</a:t>
            </a:r>
            <a:r>
              <a:rPr lang="en-US" sz="11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 mCPBA (1.2 eq.), DCM (0.067 M)</a:t>
            </a:r>
            <a:endParaRPr lang="en-GB" sz="1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33CF049-CA9E-212F-3503-6023400EDD0C}"/>
              </a:ext>
            </a:extLst>
          </p:cNvPr>
          <p:cNvSpPr txBox="1"/>
          <p:nvPr/>
        </p:nvSpPr>
        <p:spPr>
          <a:xfrm>
            <a:off x="1379477" y="1520613"/>
            <a:ext cx="84788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Times New Roman" panose="02020603050405020304" pitchFamily="18" charset="0"/>
              </a:rPr>
              <a:t>Exploring other allylsilanes that could be converted to the fluorohydrin.</a:t>
            </a:r>
            <a:endParaRPr lang="en-US" sz="1800" dirty="0">
              <a:effectLst/>
              <a:latin typeface="Calibri" panose="020F0502020204030204" pitchFamily="34" charset="0"/>
              <a:ea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FAC403E-8D04-F744-2A7F-CB9D65B8CE04}"/>
              </a:ext>
            </a:extLst>
          </p:cNvPr>
          <p:cNvSpPr txBox="1"/>
          <p:nvPr/>
        </p:nvSpPr>
        <p:spPr>
          <a:xfrm>
            <a:off x="11814628" y="6518740"/>
            <a:ext cx="34176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39</a:t>
            </a:r>
          </a:p>
        </p:txBody>
      </p:sp>
    </p:spTree>
    <p:extLst>
      <p:ext uri="{BB962C8B-B14F-4D97-AF65-F5344CB8AC3E}">
        <p14:creationId xmlns:p14="http://schemas.microsoft.com/office/powerpoint/2010/main" val="17447968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Object 9">
            <a:extLst>
              <a:ext uri="{FF2B5EF4-FFF2-40B4-BE49-F238E27FC236}">
                <a16:creationId xmlns:a16="http://schemas.microsoft.com/office/drawing/2014/main" id="{3E9FB642-9633-859C-84BF-119D0C32D92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32084593"/>
              </p:ext>
            </p:extLst>
          </p:nvPr>
        </p:nvGraphicFramePr>
        <p:xfrm>
          <a:off x="3398838" y="2106613"/>
          <a:ext cx="5395912" cy="3503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2" imgW="5394655" imgH="3503191" progId="ChemDraw.Document.6.0">
                  <p:embed/>
                </p:oleObj>
              </mc:Choice>
              <mc:Fallback>
                <p:oleObj name="CS ChemDraw Drawing" r:id="rId2" imgW="5394655" imgH="3503191" progId="ChemDraw.Document.6.0">
                  <p:embed/>
                  <p:pic>
                    <p:nvPicPr>
                      <p:cNvPr id="10" name="Object 9">
                        <a:extLst>
                          <a:ext uri="{FF2B5EF4-FFF2-40B4-BE49-F238E27FC236}">
                            <a16:creationId xmlns:a16="http://schemas.microsoft.com/office/drawing/2014/main" id="{3E9FB642-9633-859C-84BF-119D0C32D92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98838" y="2106613"/>
                        <a:ext cx="5395912" cy="35036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4">
            <a:extLst>
              <a:ext uri="{FF2B5EF4-FFF2-40B4-BE49-F238E27FC236}">
                <a16:creationId xmlns:a16="http://schemas.microsoft.com/office/drawing/2014/main" id="{6FFA88E9-9DDB-F5FE-E49C-3A6CA8FC3AF8}"/>
              </a:ext>
            </a:extLst>
          </p:cNvPr>
          <p:cNvGrpSpPr>
            <a:grpSpLocks/>
          </p:cNvGrpSpPr>
          <p:nvPr/>
        </p:nvGrpSpPr>
        <p:grpSpPr bwMode="auto">
          <a:xfrm>
            <a:off x="1" y="268804"/>
            <a:ext cx="9144000" cy="1143000"/>
            <a:chOff x="1" y="76200"/>
            <a:chExt cx="9144000" cy="1143000"/>
          </a:xfrm>
        </p:grpSpPr>
        <p:grpSp>
          <p:nvGrpSpPr>
            <p:cNvPr id="3" name="Group 15">
              <a:extLst>
                <a:ext uri="{FF2B5EF4-FFF2-40B4-BE49-F238E27FC236}">
                  <a16:creationId xmlns:a16="http://schemas.microsoft.com/office/drawing/2014/main" id="{94790C34-3FC2-C805-563F-2BC596128C2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" y="161928"/>
              <a:ext cx="9144000" cy="993788"/>
              <a:chOff x="0" y="102"/>
              <a:chExt cx="5760" cy="626"/>
            </a:xfrm>
          </p:grpSpPr>
          <p:sp>
            <p:nvSpPr>
              <p:cNvPr id="6" name="Rectangle 3">
                <a:extLst>
                  <a:ext uri="{FF2B5EF4-FFF2-40B4-BE49-F238E27FC236}">
                    <a16:creationId xmlns:a16="http://schemas.microsoft.com/office/drawing/2014/main" id="{77C081ED-CF3C-D08E-4DF9-0927F7F037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0" y="332"/>
                <a:ext cx="5760" cy="233"/>
              </a:xfrm>
              <a:prstGeom prst="rect">
                <a:avLst/>
              </a:prstGeom>
              <a:gradFill rotWithShape="1">
                <a:gsLst>
                  <a:gs pos="0">
                    <a:srgbClr val="DDDDDD"/>
                  </a:gs>
                  <a:gs pos="100000">
                    <a:schemeClr val="tx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800">
                  <a:latin typeface="Helvetica" panose="020B0604020202020204" pitchFamily="34" charset="0"/>
                  <a:cs typeface="Helvetica" panose="020B0604020202020204" pitchFamily="34" charset="0"/>
                </a:endParaRPr>
              </a:p>
            </p:txBody>
          </p:sp>
          <p:pic>
            <p:nvPicPr>
              <p:cNvPr id="7" name="Picture 5" descr="images">
                <a:extLst>
                  <a:ext uri="{FF2B5EF4-FFF2-40B4-BE49-F238E27FC236}">
                    <a16:creationId xmlns:a16="http://schemas.microsoft.com/office/drawing/2014/main" id="{1B306D63-50CE-22D1-22DD-A74D2D48363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92" y="102"/>
                <a:ext cx="626" cy="6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62D551A7-127E-2421-2FE8-36A806AD3E5A}"/>
                </a:ext>
              </a:extLst>
            </p:cNvPr>
            <p:cNvSpPr/>
            <p:nvPr/>
          </p:nvSpPr>
          <p:spPr>
            <a:xfrm>
              <a:off x="152400" y="76200"/>
              <a:ext cx="1676400" cy="1143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US">
                <a:latin typeface="Helvetica" panose="020B0604020202020204" pitchFamily="34" charset="0"/>
                <a:cs typeface="Helvetica" panose="020B0604020202020204" pitchFamily="34" charset="0"/>
              </a:endParaRPr>
            </a:p>
          </p:txBody>
        </p:sp>
        <p:pic>
          <p:nvPicPr>
            <p:cNvPr id="5" name="Picture 4" descr="http://images.wikia.com/logopedia/images/4/4a/Western_Washington_University_2010.png">
              <a:extLst>
                <a:ext uri="{FF2B5EF4-FFF2-40B4-BE49-F238E27FC236}">
                  <a16:creationId xmlns:a16="http://schemas.microsoft.com/office/drawing/2014/main" id="{DD7004CA-E86B-C5CE-A31F-CB3A8D815C6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1237" y="76200"/>
              <a:ext cx="1663602" cy="838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DD30D270-8517-EECD-9F2E-787C3C6883CA}"/>
              </a:ext>
            </a:extLst>
          </p:cNvPr>
          <p:cNvSpPr txBox="1"/>
          <p:nvPr/>
        </p:nvSpPr>
        <p:spPr>
          <a:xfrm>
            <a:off x="1814839" y="123796"/>
            <a:ext cx="47169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accent1"/>
                </a:solidFill>
                <a:latin typeface="+mj-lt"/>
              </a:rPr>
              <a:t>Fluorohydrin Synthesis from Epoxides</a:t>
            </a: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E16F0A4D-9E2E-3B87-1A7F-174A291016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48966" y="1497532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F129AA0-E497-7E88-0B6C-2A54F12D5BB3}"/>
              </a:ext>
            </a:extLst>
          </p:cNvPr>
          <p:cNvSpPr txBox="1"/>
          <p:nvPr/>
        </p:nvSpPr>
        <p:spPr>
          <a:xfrm>
            <a:off x="3447025" y="5565296"/>
            <a:ext cx="4456114" cy="5730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The isolated yield is given in paratheses, followed by the overall yield from allylsilanes. </a:t>
            </a:r>
            <a:r>
              <a:rPr lang="en-US" sz="1100" baseline="300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 a</a:t>
            </a:r>
            <a:r>
              <a:rPr lang="en-US" sz="11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 HF</a:t>
            </a:r>
            <a:r>
              <a:rPr lang="en-US" sz="1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•</a:t>
            </a:r>
            <a:r>
              <a:rPr lang="en-US" sz="11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TEA (10 eq.), DCM (0.1 M).</a:t>
            </a:r>
            <a:endParaRPr lang="en-GB" sz="1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F11EAB1-F913-AA30-CC61-D555A0569355}"/>
              </a:ext>
            </a:extLst>
          </p:cNvPr>
          <p:cNvSpPr txBox="1"/>
          <p:nvPr/>
        </p:nvSpPr>
        <p:spPr>
          <a:xfrm>
            <a:off x="1298576" y="1152847"/>
            <a:ext cx="847889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Times New Roman" panose="02020603050405020304" pitchFamily="18" charset="0"/>
              </a:rPr>
              <a:t>Transforming epoxysilanes into fluorohydrins under mild conditions.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Times New Roman" panose="02020603050405020304" pitchFamily="18" charset="0"/>
              </a:rPr>
              <a:t>Minor impurities include the diol and a </a:t>
            </a:r>
            <a:r>
              <a:rPr lang="en-GB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Meinwald-type rearrangement</a:t>
            </a:r>
            <a:r>
              <a:rPr lang="en-US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Times New Roman" panose="02020603050405020304" pitchFamily="18" charset="0"/>
              </a:rPr>
              <a:t>Regioselectivity.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C14638E-1650-D943-F5C5-60CD864CF97C}"/>
              </a:ext>
            </a:extLst>
          </p:cNvPr>
          <p:cNvSpPr txBox="1"/>
          <p:nvPr/>
        </p:nvSpPr>
        <p:spPr>
          <a:xfrm>
            <a:off x="11814628" y="6518740"/>
            <a:ext cx="34176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40</a:t>
            </a:r>
          </a:p>
        </p:txBody>
      </p:sp>
    </p:spTree>
    <p:extLst>
      <p:ext uri="{BB962C8B-B14F-4D97-AF65-F5344CB8AC3E}">
        <p14:creationId xmlns:p14="http://schemas.microsoft.com/office/powerpoint/2010/main" val="31203957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4">
            <a:extLst>
              <a:ext uri="{FF2B5EF4-FFF2-40B4-BE49-F238E27FC236}">
                <a16:creationId xmlns:a16="http://schemas.microsoft.com/office/drawing/2014/main" id="{6FFA88E9-9DDB-F5FE-E49C-3A6CA8FC3AF8}"/>
              </a:ext>
            </a:extLst>
          </p:cNvPr>
          <p:cNvGrpSpPr>
            <a:grpSpLocks/>
          </p:cNvGrpSpPr>
          <p:nvPr/>
        </p:nvGrpSpPr>
        <p:grpSpPr bwMode="auto">
          <a:xfrm>
            <a:off x="1" y="268804"/>
            <a:ext cx="9144000" cy="1143000"/>
            <a:chOff x="1" y="76200"/>
            <a:chExt cx="9144000" cy="1143000"/>
          </a:xfrm>
        </p:grpSpPr>
        <p:grpSp>
          <p:nvGrpSpPr>
            <p:cNvPr id="3" name="Group 15">
              <a:extLst>
                <a:ext uri="{FF2B5EF4-FFF2-40B4-BE49-F238E27FC236}">
                  <a16:creationId xmlns:a16="http://schemas.microsoft.com/office/drawing/2014/main" id="{94790C34-3FC2-C805-563F-2BC596128C2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" y="161928"/>
              <a:ext cx="9144000" cy="993788"/>
              <a:chOff x="0" y="102"/>
              <a:chExt cx="5760" cy="626"/>
            </a:xfrm>
          </p:grpSpPr>
          <p:sp>
            <p:nvSpPr>
              <p:cNvPr id="6" name="Rectangle 3">
                <a:extLst>
                  <a:ext uri="{FF2B5EF4-FFF2-40B4-BE49-F238E27FC236}">
                    <a16:creationId xmlns:a16="http://schemas.microsoft.com/office/drawing/2014/main" id="{77C081ED-CF3C-D08E-4DF9-0927F7F037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0" y="332"/>
                <a:ext cx="5760" cy="233"/>
              </a:xfrm>
              <a:prstGeom prst="rect">
                <a:avLst/>
              </a:prstGeom>
              <a:gradFill rotWithShape="1">
                <a:gsLst>
                  <a:gs pos="0">
                    <a:srgbClr val="DDDDDD"/>
                  </a:gs>
                  <a:gs pos="100000">
                    <a:schemeClr val="tx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800">
                  <a:latin typeface="Helvetica" panose="020B0604020202020204" pitchFamily="34" charset="0"/>
                  <a:cs typeface="Helvetica" panose="020B0604020202020204" pitchFamily="34" charset="0"/>
                </a:endParaRPr>
              </a:p>
            </p:txBody>
          </p:sp>
          <p:pic>
            <p:nvPicPr>
              <p:cNvPr id="7" name="Picture 5" descr="images">
                <a:extLst>
                  <a:ext uri="{FF2B5EF4-FFF2-40B4-BE49-F238E27FC236}">
                    <a16:creationId xmlns:a16="http://schemas.microsoft.com/office/drawing/2014/main" id="{1B306D63-50CE-22D1-22DD-A74D2D48363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92" y="102"/>
                <a:ext cx="626" cy="6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62D551A7-127E-2421-2FE8-36A806AD3E5A}"/>
                </a:ext>
              </a:extLst>
            </p:cNvPr>
            <p:cNvSpPr/>
            <p:nvPr/>
          </p:nvSpPr>
          <p:spPr>
            <a:xfrm>
              <a:off x="152400" y="76200"/>
              <a:ext cx="1676400" cy="1143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US">
                <a:latin typeface="Helvetica" panose="020B0604020202020204" pitchFamily="34" charset="0"/>
                <a:cs typeface="Helvetica" panose="020B0604020202020204" pitchFamily="34" charset="0"/>
              </a:endParaRPr>
            </a:p>
          </p:txBody>
        </p:sp>
        <p:pic>
          <p:nvPicPr>
            <p:cNvPr id="5" name="Picture 4" descr="http://images.wikia.com/logopedia/images/4/4a/Western_Washington_University_2010.png">
              <a:extLst>
                <a:ext uri="{FF2B5EF4-FFF2-40B4-BE49-F238E27FC236}">
                  <a16:creationId xmlns:a16="http://schemas.microsoft.com/office/drawing/2014/main" id="{DD7004CA-E86B-C5CE-A31F-CB3A8D815C6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1237" y="76200"/>
              <a:ext cx="1663602" cy="838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DD30D270-8517-EECD-9F2E-787C3C6883CA}"/>
              </a:ext>
            </a:extLst>
          </p:cNvPr>
          <p:cNvSpPr txBox="1"/>
          <p:nvPr/>
        </p:nvSpPr>
        <p:spPr>
          <a:xfrm>
            <a:off x="1814839" y="123796"/>
            <a:ext cx="47169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accent1"/>
                </a:solidFill>
                <a:latin typeface="+mj-lt"/>
              </a:rPr>
              <a:t>Fluorohydrin Synthesis from Epoxides</a:t>
            </a: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E16F0A4D-9E2E-3B87-1A7F-174A291016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48966" y="1497532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F129AA0-E497-7E88-0B6C-2A54F12D5BB3}"/>
              </a:ext>
            </a:extLst>
          </p:cNvPr>
          <p:cNvSpPr txBox="1"/>
          <p:nvPr/>
        </p:nvSpPr>
        <p:spPr>
          <a:xfrm>
            <a:off x="3447025" y="5565296"/>
            <a:ext cx="4456114" cy="5730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The isolated yield is given in paratheses, followed by the overall yield from allylsilanes. </a:t>
            </a:r>
            <a:r>
              <a:rPr lang="en-US" sz="1100" baseline="300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 a</a:t>
            </a:r>
            <a:r>
              <a:rPr lang="en-US" sz="11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 HF</a:t>
            </a:r>
            <a:r>
              <a:rPr lang="en-US" sz="1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•</a:t>
            </a:r>
            <a:r>
              <a:rPr lang="en-US" sz="11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TEA (10 eq.), DCM (0.1 M).</a:t>
            </a:r>
            <a:endParaRPr lang="en-GB" sz="1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F11EAB1-F913-AA30-CC61-D555A0569355}"/>
              </a:ext>
            </a:extLst>
          </p:cNvPr>
          <p:cNvSpPr txBox="1"/>
          <p:nvPr/>
        </p:nvSpPr>
        <p:spPr>
          <a:xfrm>
            <a:off x="1298576" y="1152847"/>
            <a:ext cx="847889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Times New Roman" panose="02020603050405020304" pitchFamily="18" charset="0"/>
              </a:rPr>
              <a:t>Transforming epoxysilanes into fluorohydrins under mild conditions.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Times New Roman" panose="02020603050405020304" pitchFamily="18" charset="0"/>
              </a:rPr>
              <a:t>Minor impurities include the diol and a </a:t>
            </a:r>
            <a:r>
              <a:rPr lang="en-GB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Meinwald-type rearrangement</a:t>
            </a:r>
            <a:r>
              <a:rPr lang="en-US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Times New Roman" panose="02020603050405020304" pitchFamily="18" charset="0"/>
              </a:rPr>
              <a:t>Regioselectivity.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E6FB798E-3F79-8476-3244-4C96A07129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4700855"/>
              </p:ext>
            </p:extLst>
          </p:nvPr>
        </p:nvGraphicFramePr>
        <p:xfrm>
          <a:off x="8067675" y="5493310"/>
          <a:ext cx="4124325" cy="104527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028700">
                  <a:extLst>
                    <a:ext uri="{9D8B030D-6E8A-4147-A177-3AD203B41FA5}">
                      <a16:colId xmlns:a16="http://schemas.microsoft.com/office/drawing/2014/main" val="2154837224"/>
                    </a:ext>
                  </a:extLst>
                </a:gridCol>
                <a:gridCol w="1495425">
                  <a:extLst>
                    <a:ext uri="{9D8B030D-6E8A-4147-A177-3AD203B41FA5}">
                      <a16:colId xmlns:a16="http://schemas.microsoft.com/office/drawing/2014/main" val="1479339386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719044043"/>
                    </a:ext>
                  </a:extLst>
                </a:gridCol>
              </a:tblGrid>
              <a:tr h="28024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Entry</a:t>
                      </a:r>
                      <a:endParaRPr lang="en-GB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Solvent</a:t>
                      </a:r>
                      <a:endParaRPr lang="en-GB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Conv. % to final prod.</a:t>
                      </a:r>
                      <a:endParaRPr lang="en-GB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687942196"/>
                  </a:ext>
                </a:extLst>
              </a:tr>
              <a:tr h="25501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1</a:t>
                      </a:r>
                      <a:endParaRPr lang="en-GB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DCM</a:t>
                      </a:r>
                      <a:endParaRPr lang="en-GB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50</a:t>
                      </a:r>
                      <a:endParaRPr lang="en-GB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572762230"/>
                  </a:ext>
                </a:extLst>
              </a:tr>
              <a:tr h="25501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2</a:t>
                      </a:r>
                      <a:endParaRPr lang="en-GB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MeCN</a:t>
                      </a:r>
                      <a:endParaRPr lang="en-GB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18</a:t>
                      </a:r>
                      <a:endParaRPr lang="en-GB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664614954"/>
                  </a:ext>
                </a:extLst>
              </a:tr>
              <a:tr h="25501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3</a:t>
                      </a:r>
                      <a:endParaRPr lang="en-GB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THF</a:t>
                      </a:r>
                      <a:endParaRPr lang="en-GB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0</a:t>
                      </a:r>
                      <a:endParaRPr lang="en-GB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124784558"/>
                  </a:ext>
                </a:extLst>
              </a:tr>
            </a:tbl>
          </a:graphicData>
        </a:graphic>
      </p:graphicFrame>
      <p:graphicFrame>
        <p:nvGraphicFramePr>
          <p:cNvPr id="14" name="Object 13">
            <a:extLst>
              <a:ext uri="{FF2B5EF4-FFF2-40B4-BE49-F238E27FC236}">
                <a16:creationId xmlns:a16="http://schemas.microsoft.com/office/drawing/2014/main" id="{70048E43-3217-B86B-5796-5ADD30F398B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04716286"/>
              </p:ext>
            </p:extLst>
          </p:nvPr>
        </p:nvGraphicFramePr>
        <p:xfrm>
          <a:off x="8487119" y="4923527"/>
          <a:ext cx="3285439" cy="554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4" imgW="3285439" imgH="554563" progId="ChemDraw.Document.6.0">
                  <p:embed/>
                </p:oleObj>
              </mc:Choice>
              <mc:Fallback>
                <p:oleObj name="CS ChemDraw Drawing" r:id="rId4" imgW="3285439" imgH="554563" progId="ChemDraw.Document.6.0">
                  <p:embed/>
                  <p:pic>
                    <p:nvPicPr>
                      <p:cNvPr id="14" name="Object 13">
                        <a:extLst>
                          <a:ext uri="{FF2B5EF4-FFF2-40B4-BE49-F238E27FC236}">
                            <a16:creationId xmlns:a16="http://schemas.microsoft.com/office/drawing/2014/main" id="{70048E43-3217-B86B-5796-5ADD30F398B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87119" y="4923527"/>
                        <a:ext cx="3285439" cy="5545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BCDAA04A-94A3-36DF-B7D2-166C3363861C}"/>
              </a:ext>
            </a:extLst>
          </p:cNvPr>
          <p:cNvSpPr txBox="1"/>
          <p:nvPr/>
        </p:nvSpPr>
        <p:spPr>
          <a:xfrm>
            <a:off x="11814628" y="6518740"/>
            <a:ext cx="34176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41</a:t>
            </a:r>
          </a:p>
        </p:txBody>
      </p:sp>
      <p:graphicFrame>
        <p:nvGraphicFramePr>
          <p:cNvPr id="15" name="Object 14">
            <a:extLst>
              <a:ext uri="{FF2B5EF4-FFF2-40B4-BE49-F238E27FC236}">
                <a16:creationId xmlns:a16="http://schemas.microsoft.com/office/drawing/2014/main" id="{EFDDECB7-C788-2DBF-540C-C0C7775229A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99214647"/>
              </p:ext>
            </p:extLst>
          </p:nvPr>
        </p:nvGraphicFramePr>
        <p:xfrm>
          <a:off x="3398838" y="2106613"/>
          <a:ext cx="5395912" cy="3503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6" imgW="5394655" imgH="3503191" progId="ChemDraw.Document.6.0">
                  <p:embed/>
                </p:oleObj>
              </mc:Choice>
              <mc:Fallback>
                <p:oleObj name="CS ChemDraw Drawing" r:id="rId6" imgW="5394655" imgH="3503191" progId="ChemDraw.Document.6.0">
                  <p:embed/>
                  <p:pic>
                    <p:nvPicPr>
                      <p:cNvPr id="15" name="Object 14">
                        <a:extLst>
                          <a:ext uri="{FF2B5EF4-FFF2-40B4-BE49-F238E27FC236}">
                            <a16:creationId xmlns:a16="http://schemas.microsoft.com/office/drawing/2014/main" id="{EFDDECB7-C788-2DBF-540C-C0C7775229A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98838" y="2106613"/>
                        <a:ext cx="5395912" cy="35036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84369727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D36F8482-4D01-871B-47DD-66BE1FCFE180}"/>
              </a:ext>
            </a:extLst>
          </p:cNvPr>
          <p:cNvSpPr/>
          <p:nvPr/>
        </p:nvSpPr>
        <p:spPr>
          <a:xfrm>
            <a:off x="733751" y="4951379"/>
            <a:ext cx="2162175" cy="489788"/>
          </a:xfrm>
          <a:prstGeom prst="rect">
            <a:avLst/>
          </a:prstGeom>
          <a:solidFill>
            <a:schemeClr val="bg2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2" name="Group 14">
            <a:extLst>
              <a:ext uri="{FF2B5EF4-FFF2-40B4-BE49-F238E27FC236}">
                <a16:creationId xmlns:a16="http://schemas.microsoft.com/office/drawing/2014/main" id="{6FFA88E9-9DDB-F5FE-E49C-3A6CA8FC3AF8}"/>
              </a:ext>
            </a:extLst>
          </p:cNvPr>
          <p:cNvGrpSpPr>
            <a:grpSpLocks/>
          </p:cNvGrpSpPr>
          <p:nvPr/>
        </p:nvGrpSpPr>
        <p:grpSpPr bwMode="auto">
          <a:xfrm>
            <a:off x="1" y="268804"/>
            <a:ext cx="9144000" cy="1143000"/>
            <a:chOff x="1" y="76200"/>
            <a:chExt cx="9144000" cy="1143000"/>
          </a:xfrm>
        </p:grpSpPr>
        <p:grpSp>
          <p:nvGrpSpPr>
            <p:cNvPr id="3" name="Group 15">
              <a:extLst>
                <a:ext uri="{FF2B5EF4-FFF2-40B4-BE49-F238E27FC236}">
                  <a16:creationId xmlns:a16="http://schemas.microsoft.com/office/drawing/2014/main" id="{94790C34-3FC2-C805-563F-2BC596128C2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" y="161928"/>
              <a:ext cx="9144000" cy="993788"/>
              <a:chOff x="0" y="102"/>
              <a:chExt cx="5760" cy="626"/>
            </a:xfrm>
          </p:grpSpPr>
          <p:sp>
            <p:nvSpPr>
              <p:cNvPr id="6" name="Rectangle 3">
                <a:extLst>
                  <a:ext uri="{FF2B5EF4-FFF2-40B4-BE49-F238E27FC236}">
                    <a16:creationId xmlns:a16="http://schemas.microsoft.com/office/drawing/2014/main" id="{77C081ED-CF3C-D08E-4DF9-0927F7F037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0" y="332"/>
                <a:ext cx="5760" cy="233"/>
              </a:xfrm>
              <a:prstGeom prst="rect">
                <a:avLst/>
              </a:prstGeom>
              <a:gradFill rotWithShape="1">
                <a:gsLst>
                  <a:gs pos="0">
                    <a:srgbClr val="DDDDDD"/>
                  </a:gs>
                  <a:gs pos="100000">
                    <a:schemeClr val="tx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800">
                  <a:latin typeface="Helvetica" panose="020B0604020202020204" pitchFamily="34" charset="0"/>
                  <a:cs typeface="Helvetica" panose="020B0604020202020204" pitchFamily="34" charset="0"/>
                </a:endParaRPr>
              </a:p>
            </p:txBody>
          </p:sp>
          <p:pic>
            <p:nvPicPr>
              <p:cNvPr id="7" name="Picture 5" descr="images">
                <a:extLst>
                  <a:ext uri="{FF2B5EF4-FFF2-40B4-BE49-F238E27FC236}">
                    <a16:creationId xmlns:a16="http://schemas.microsoft.com/office/drawing/2014/main" id="{1B306D63-50CE-22D1-22DD-A74D2D48363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92" y="102"/>
                <a:ext cx="626" cy="6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62D551A7-127E-2421-2FE8-36A806AD3E5A}"/>
                </a:ext>
              </a:extLst>
            </p:cNvPr>
            <p:cNvSpPr/>
            <p:nvPr/>
          </p:nvSpPr>
          <p:spPr>
            <a:xfrm>
              <a:off x="152400" y="76200"/>
              <a:ext cx="1676400" cy="1143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US">
                <a:latin typeface="Helvetica" panose="020B0604020202020204" pitchFamily="34" charset="0"/>
                <a:cs typeface="Helvetica" panose="020B0604020202020204" pitchFamily="34" charset="0"/>
              </a:endParaRPr>
            </a:p>
          </p:txBody>
        </p:sp>
        <p:pic>
          <p:nvPicPr>
            <p:cNvPr id="5" name="Picture 4" descr="http://images.wikia.com/logopedia/images/4/4a/Western_Washington_University_2010.png">
              <a:extLst>
                <a:ext uri="{FF2B5EF4-FFF2-40B4-BE49-F238E27FC236}">
                  <a16:creationId xmlns:a16="http://schemas.microsoft.com/office/drawing/2014/main" id="{DD7004CA-E86B-C5CE-A31F-CB3A8D815C6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1237" y="76200"/>
              <a:ext cx="1663602" cy="838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DD30D270-8517-EECD-9F2E-787C3C6883CA}"/>
              </a:ext>
            </a:extLst>
          </p:cNvPr>
          <p:cNvSpPr txBox="1"/>
          <p:nvPr/>
        </p:nvSpPr>
        <p:spPr>
          <a:xfrm>
            <a:off x="1814839" y="123796"/>
            <a:ext cx="47169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accent1"/>
                </a:solidFill>
                <a:latin typeface="+mj-lt"/>
              </a:rPr>
              <a:t>Fluorohydrin Synthesis from Epoxides</a:t>
            </a: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E16F0A4D-9E2E-3B87-1A7F-174A291016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48966" y="1497532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F129AA0-E497-7E88-0B6C-2A54F12D5BB3}"/>
              </a:ext>
            </a:extLst>
          </p:cNvPr>
          <p:cNvSpPr txBox="1"/>
          <p:nvPr/>
        </p:nvSpPr>
        <p:spPr>
          <a:xfrm>
            <a:off x="3447025" y="5565296"/>
            <a:ext cx="4456114" cy="5730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The isolated yield is given in paratheses, followed by the overall yield from allylsilanes. </a:t>
            </a:r>
            <a:r>
              <a:rPr lang="en-US" sz="1100" baseline="300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 a</a:t>
            </a:r>
            <a:r>
              <a:rPr lang="en-US" sz="11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 HF</a:t>
            </a:r>
            <a:r>
              <a:rPr lang="en-US" sz="1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•</a:t>
            </a:r>
            <a:r>
              <a:rPr lang="en-US" sz="11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TEA (10 eq.), DCM (0.1 M).</a:t>
            </a:r>
            <a:endParaRPr lang="en-GB" sz="1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F11EAB1-F913-AA30-CC61-D555A0569355}"/>
              </a:ext>
            </a:extLst>
          </p:cNvPr>
          <p:cNvSpPr txBox="1"/>
          <p:nvPr/>
        </p:nvSpPr>
        <p:spPr>
          <a:xfrm>
            <a:off x="1298576" y="1152847"/>
            <a:ext cx="847889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Times New Roman" panose="02020603050405020304" pitchFamily="18" charset="0"/>
              </a:rPr>
              <a:t>Transforming epoxysilanes into fluorohydrins under mild conditions.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Times New Roman" panose="02020603050405020304" pitchFamily="18" charset="0"/>
              </a:rPr>
              <a:t>Minor impurities include the diol and a </a:t>
            </a:r>
            <a:r>
              <a:rPr lang="en-GB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Meinwald-type rearrangement</a:t>
            </a:r>
            <a:r>
              <a:rPr lang="en-US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Times New Roman" panose="02020603050405020304" pitchFamily="18" charset="0"/>
              </a:rPr>
              <a:t>Regioselectivity.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E6FB798E-3F79-8476-3244-4C96A071291B}"/>
              </a:ext>
            </a:extLst>
          </p:cNvPr>
          <p:cNvGraphicFramePr>
            <a:graphicFrameLocks noGrp="1"/>
          </p:cNvGraphicFramePr>
          <p:nvPr/>
        </p:nvGraphicFramePr>
        <p:xfrm>
          <a:off x="8067675" y="5493310"/>
          <a:ext cx="4124325" cy="104527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028700">
                  <a:extLst>
                    <a:ext uri="{9D8B030D-6E8A-4147-A177-3AD203B41FA5}">
                      <a16:colId xmlns:a16="http://schemas.microsoft.com/office/drawing/2014/main" val="2154837224"/>
                    </a:ext>
                  </a:extLst>
                </a:gridCol>
                <a:gridCol w="1495425">
                  <a:extLst>
                    <a:ext uri="{9D8B030D-6E8A-4147-A177-3AD203B41FA5}">
                      <a16:colId xmlns:a16="http://schemas.microsoft.com/office/drawing/2014/main" val="1479339386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719044043"/>
                    </a:ext>
                  </a:extLst>
                </a:gridCol>
              </a:tblGrid>
              <a:tr h="28024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Entry</a:t>
                      </a:r>
                      <a:endParaRPr lang="en-GB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Solvent</a:t>
                      </a:r>
                      <a:endParaRPr lang="en-GB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Conv. % to final prod.</a:t>
                      </a:r>
                      <a:endParaRPr lang="en-GB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687942196"/>
                  </a:ext>
                </a:extLst>
              </a:tr>
              <a:tr h="25501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1</a:t>
                      </a:r>
                      <a:endParaRPr lang="en-GB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DCM</a:t>
                      </a:r>
                      <a:endParaRPr lang="en-GB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50</a:t>
                      </a:r>
                      <a:endParaRPr lang="en-GB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572762230"/>
                  </a:ext>
                </a:extLst>
              </a:tr>
              <a:tr h="25501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2</a:t>
                      </a:r>
                      <a:endParaRPr lang="en-GB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MeCN</a:t>
                      </a:r>
                      <a:endParaRPr lang="en-GB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18</a:t>
                      </a:r>
                      <a:endParaRPr lang="en-GB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664614954"/>
                  </a:ext>
                </a:extLst>
              </a:tr>
              <a:tr h="25501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3</a:t>
                      </a:r>
                      <a:endParaRPr lang="en-GB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THF</a:t>
                      </a:r>
                      <a:endParaRPr lang="en-GB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0</a:t>
                      </a:r>
                      <a:endParaRPr lang="en-GB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124784558"/>
                  </a:ext>
                </a:extLst>
              </a:tr>
            </a:tbl>
          </a:graphicData>
        </a:graphic>
      </p:graphicFrame>
      <p:graphicFrame>
        <p:nvGraphicFramePr>
          <p:cNvPr id="14" name="Object 13">
            <a:extLst>
              <a:ext uri="{FF2B5EF4-FFF2-40B4-BE49-F238E27FC236}">
                <a16:creationId xmlns:a16="http://schemas.microsoft.com/office/drawing/2014/main" id="{70048E43-3217-B86B-5796-5ADD30F398B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487119" y="4923527"/>
          <a:ext cx="3285439" cy="554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4" imgW="3285439" imgH="554563" progId="ChemDraw.Document.6.0">
                  <p:embed/>
                </p:oleObj>
              </mc:Choice>
              <mc:Fallback>
                <p:oleObj name="CS ChemDraw Drawing" r:id="rId4" imgW="3285439" imgH="554563" progId="ChemDraw.Document.6.0">
                  <p:embed/>
                  <p:pic>
                    <p:nvPicPr>
                      <p:cNvPr id="14" name="Object 13">
                        <a:extLst>
                          <a:ext uri="{FF2B5EF4-FFF2-40B4-BE49-F238E27FC236}">
                            <a16:creationId xmlns:a16="http://schemas.microsoft.com/office/drawing/2014/main" id="{70048E43-3217-B86B-5796-5ADD30F398B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87119" y="4923527"/>
                        <a:ext cx="3285439" cy="5545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14">
            <a:extLst>
              <a:ext uri="{FF2B5EF4-FFF2-40B4-BE49-F238E27FC236}">
                <a16:creationId xmlns:a16="http://schemas.microsoft.com/office/drawing/2014/main" id="{2748D651-2B63-CD4F-8AA2-B689072A5AB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33425" y="4718050"/>
          <a:ext cx="2163763" cy="989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6" imgW="2163775" imgH="988799" progId="ChemDraw.Document.6.0">
                  <p:embed/>
                </p:oleObj>
              </mc:Choice>
              <mc:Fallback>
                <p:oleObj name="CS ChemDraw Drawing" r:id="rId6" imgW="2163775" imgH="988799" progId="ChemDraw.Document.6.0">
                  <p:embed/>
                  <p:pic>
                    <p:nvPicPr>
                      <p:cNvPr id="15" name="Object 14">
                        <a:extLst>
                          <a:ext uri="{FF2B5EF4-FFF2-40B4-BE49-F238E27FC236}">
                            <a16:creationId xmlns:a16="http://schemas.microsoft.com/office/drawing/2014/main" id="{2748D651-2B63-CD4F-8AA2-B689072A5AB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733425" y="4718050"/>
                        <a:ext cx="2163763" cy="9890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BCDAA04A-94A3-36DF-B7D2-166C3363861C}"/>
              </a:ext>
            </a:extLst>
          </p:cNvPr>
          <p:cNvSpPr txBox="1"/>
          <p:nvPr/>
        </p:nvSpPr>
        <p:spPr>
          <a:xfrm>
            <a:off x="11814628" y="6518740"/>
            <a:ext cx="34176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42</a:t>
            </a:r>
          </a:p>
        </p:txBody>
      </p:sp>
      <p:graphicFrame>
        <p:nvGraphicFramePr>
          <p:cNvPr id="18" name="Object 17">
            <a:extLst>
              <a:ext uri="{FF2B5EF4-FFF2-40B4-BE49-F238E27FC236}">
                <a16:creationId xmlns:a16="http://schemas.microsoft.com/office/drawing/2014/main" id="{0049E2F1-67EF-31C5-7825-3213C3DE26A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99214647"/>
              </p:ext>
            </p:extLst>
          </p:nvPr>
        </p:nvGraphicFramePr>
        <p:xfrm>
          <a:off x="3398838" y="2106613"/>
          <a:ext cx="5395912" cy="3503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8" imgW="5394655" imgH="3503191" progId="ChemDraw.Document.6.0">
                  <p:embed/>
                </p:oleObj>
              </mc:Choice>
              <mc:Fallback>
                <p:oleObj name="CS ChemDraw Drawing" r:id="rId8" imgW="5394655" imgH="3503191" progId="ChemDraw.Document.6.0">
                  <p:embed/>
                  <p:pic>
                    <p:nvPicPr>
                      <p:cNvPr id="18" name="Object 17">
                        <a:extLst>
                          <a:ext uri="{FF2B5EF4-FFF2-40B4-BE49-F238E27FC236}">
                            <a16:creationId xmlns:a16="http://schemas.microsoft.com/office/drawing/2014/main" id="{0049E2F1-67EF-31C5-7825-3213C3DE26A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98838" y="2106613"/>
                        <a:ext cx="5395912" cy="35036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68667250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4">
            <a:extLst>
              <a:ext uri="{FF2B5EF4-FFF2-40B4-BE49-F238E27FC236}">
                <a16:creationId xmlns:a16="http://schemas.microsoft.com/office/drawing/2014/main" id="{6FFA88E9-9DDB-F5FE-E49C-3A6CA8FC3AF8}"/>
              </a:ext>
            </a:extLst>
          </p:cNvPr>
          <p:cNvGrpSpPr>
            <a:grpSpLocks/>
          </p:cNvGrpSpPr>
          <p:nvPr/>
        </p:nvGrpSpPr>
        <p:grpSpPr bwMode="auto">
          <a:xfrm>
            <a:off x="1" y="268804"/>
            <a:ext cx="9144000" cy="1143000"/>
            <a:chOff x="1" y="76200"/>
            <a:chExt cx="9144000" cy="1143000"/>
          </a:xfrm>
        </p:grpSpPr>
        <p:grpSp>
          <p:nvGrpSpPr>
            <p:cNvPr id="3" name="Group 15">
              <a:extLst>
                <a:ext uri="{FF2B5EF4-FFF2-40B4-BE49-F238E27FC236}">
                  <a16:creationId xmlns:a16="http://schemas.microsoft.com/office/drawing/2014/main" id="{94790C34-3FC2-C805-563F-2BC596128C2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" y="161928"/>
              <a:ext cx="9144000" cy="993788"/>
              <a:chOff x="0" y="102"/>
              <a:chExt cx="5760" cy="626"/>
            </a:xfrm>
          </p:grpSpPr>
          <p:sp>
            <p:nvSpPr>
              <p:cNvPr id="6" name="Rectangle 3">
                <a:extLst>
                  <a:ext uri="{FF2B5EF4-FFF2-40B4-BE49-F238E27FC236}">
                    <a16:creationId xmlns:a16="http://schemas.microsoft.com/office/drawing/2014/main" id="{77C081ED-CF3C-D08E-4DF9-0927F7F037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0" y="332"/>
                <a:ext cx="5760" cy="233"/>
              </a:xfrm>
              <a:prstGeom prst="rect">
                <a:avLst/>
              </a:prstGeom>
              <a:gradFill rotWithShape="1">
                <a:gsLst>
                  <a:gs pos="0">
                    <a:srgbClr val="DDDDDD"/>
                  </a:gs>
                  <a:gs pos="100000">
                    <a:schemeClr val="tx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800">
                  <a:latin typeface="Helvetica" panose="020B0604020202020204" pitchFamily="34" charset="0"/>
                  <a:cs typeface="Helvetica" panose="020B0604020202020204" pitchFamily="34" charset="0"/>
                </a:endParaRPr>
              </a:p>
            </p:txBody>
          </p:sp>
          <p:pic>
            <p:nvPicPr>
              <p:cNvPr id="7" name="Picture 5" descr="images">
                <a:extLst>
                  <a:ext uri="{FF2B5EF4-FFF2-40B4-BE49-F238E27FC236}">
                    <a16:creationId xmlns:a16="http://schemas.microsoft.com/office/drawing/2014/main" id="{1B306D63-50CE-22D1-22DD-A74D2D48363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92" y="102"/>
                <a:ext cx="626" cy="6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62D551A7-127E-2421-2FE8-36A806AD3E5A}"/>
                </a:ext>
              </a:extLst>
            </p:cNvPr>
            <p:cNvSpPr/>
            <p:nvPr/>
          </p:nvSpPr>
          <p:spPr>
            <a:xfrm>
              <a:off x="152400" y="76200"/>
              <a:ext cx="1676400" cy="1143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US">
                <a:latin typeface="Helvetica" panose="020B0604020202020204" pitchFamily="34" charset="0"/>
                <a:cs typeface="Helvetica" panose="020B0604020202020204" pitchFamily="34" charset="0"/>
              </a:endParaRPr>
            </a:p>
          </p:txBody>
        </p:sp>
        <p:pic>
          <p:nvPicPr>
            <p:cNvPr id="5" name="Picture 4" descr="http://images.wikia.com/logopedia/images/4/4a/Western_Washington_University_2010.png">
              <a:extLst>
                <a:ext uri="{FF2B5EF4-FFF2-40B4-BE49-F238E27FC236}">
                  <a16:creationId xmlns:a16="http://schemas.microsoft.com/office/drawing/2014/main" id="{DD7004CA-E86B-C5CE-A31F-CB3A8D815C6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1237" y="76200"/>
              <a:ext cx="1663602" cy="838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9" name="Rectangle 2">
            <a:extLst>
              <a:ext uri="{FF2B5EF4-FFF2-40B4-BE49-F238E27FC236}">
                <a16:creationId xmlns:a16="http://schemas.microsoft.com/office/drawing/2014/main" id="{2B313E0D-5EE6-A6B4-859F-B363840B6A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95525" y="260985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10" name="Object 9">
            <a:extLst>
              <a:ext uri="{FF2B5EF4-FFF2-40B4-BE49-F238E27FC236}">
                <a16:creationId xmlns:a16="http://schemas.microsoft.com/office/drawing/2014/main" id="{A0B17910-0B09-4F1F-1AC2-080E2193D4F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42835942"/>
              </p:ext>
            </p:extLst>
          </p:nvPr>
        </p:nvGraphicFramePr>
        <p:xfrm>
          <a:off x="2952750" y="2609850"/>
          <a:ext cx="6286500" cy="2954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4" imgW="5239207" imgH="2462334" progId="ChemDraw.Document.6.0">
                  <p:embed/>
                </p:oleObj>
              </mc:Choice>
              <mc:Fallback>
                <p:oleObj name="CS ChemDraw Drawing" r:id="rId4" imgW="5239207" imgH="2462334" progId="ChemDraw.Document.6.0">
                  <p:embed/>
                  <p:pic>
                    <p:nvPicPr>
                      <p:cNvPr id="10" name="Object 9">
                        <a:extLst>
                          <a:ext uri="{FF2B5EF4-FFF2-40B4-BE49-F238E27FC236}">
                            <a16:creationId xmlns:a16="http://schemas.microsoft.com/office/drawing/2014/main" id="{A0B17910-0B09-4F1F-1AC2-080E2193D4F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52750" y="2609850"/>
                        <a:ext cx="6286500" cy="29543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F79F3512-E4C6-F8B8-F92D-893B3F2D7E32}"/>
              </a:ext>
            </a:extLst>
          </p:cNvPr>
          <p:cNvSpPr txBox="1"/>
          <p:nvPr/>
        </p:nvSpPr>
        <p:spPr>
          <a:xfrm>
            <a:off x="1814839" y="123796"/>
            <a:ext cx="44340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accent1"/>
                </a:solidFill>
                <a:latin typeface="+mj-lt"/>
              </a:rPr>
              <a:t>One-pot Synthesis of Fluorohydrins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42B9392-1751-81B6-B6DF-9C063740138C}"/>
              </a:ext>
            </a:extLst>
          </p:cNvPr>
          <p:cNvSpPr txBox="1"/>
          <p:nvPr/>
        </p:nvSpPr>
        <p:spPr>
          <a:xfrm>
            <a:off x="1379477" y="1415838"/>
            <a:ext cx="847889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Times New Roman" panose="02020603050405020304" pitchFamily="18" charset="0"/>
              </a:rPr>
              <a:t>To our satisfaction, the TMS fluorohydrin was isolated along with the </a:t>
            </a:r>
            <a:r>
              <a:rPr lang="en-US" dirty="0" err="1">
                <a:latin typeface="Calibri" panose="020F0502020204030204" pitchFamily="34" charset="0"/>
                <a:ea typeface="Times New Roman" panose="02020603050405020304" pitchFamily="18" charset="0"/>
              </a:rPr>
              <a:t>allyldimethylsilyl</a:t>
            </a:r>
            <a:r>
              <a:rPr lang="en-US" dirty="0">
                <a:latin typeface="Calibri" panose="020F0502020204030204" pitchFamily="34" charset="0"/>
                <a:ea typeface="Times New Roman" panose="02020603050405020304" pitchFamily="18" charset="0"/>
              </a:rPr>
              <a:t> fluorohydrin and </a:t>
            </a:r>
            <a:r>
              <a:rPr lang="en-US" dirty="0" err="1">
                <a:latin typeface="Calibri" panose="020F0502020204030204" pitchFamily="34" charset="0"/>
                <a:ea typeface="Times New Roman" panose="02020603050405020304" pitchFamily="18" charset="0"/>
              </a:rPr>
              <a:t>allyldiphenylsilyl</a:t>
            </a:r>
            <a:r>
              <a:rPr lang="en-US" dirty="0">
                <a:latin typeface="Calibri" panose="020F0502020204030204" pitchFamily="34" charset="0"/>
                <a:ea typeface="Times New Roman" panose="02020603050405020304" pitchFamily="18" charset="0"/>
              </a:rPr>
              <a:t> fluorohydrin in higher yield.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Times New Roman" panose="02020603050405020304" pitchFamily="18" charset="0"/>
              </a:rPr>
              <a:t>Formation of hydroxy ester (minor impurity).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Calibri" panose="020F0502020204030204" pitchFamily="34" charset="0"/>
              <a:ea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>
              <a:effectLst/>
              <a:latin typeface="Calibri" panose="020F0502020204030204" pitchFamily="34" charset="0"/>
              <a:ea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60C8BE7-99A5-4F81-B6FF-D1CB52E9472F}"/>
              </a:ext>
            </a:extLst>
          </p:cNvPr>
          <p:cNvSpPr txBox="1"/>
          <p:nvPr/>
        </p:nvSpPr>
        <p:spPr>
          <a:xfrm>
            <a:off x="11814628" y="6518740"/>
            <a:ext cx="34176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44</a:t>
            </a:r>
          </a:p>
        </p:txBody>
      </p:sp>
    </p:spTree>
    <p:extLst>
      <p:ext uri="{BB962C8B-B14F-4D97-AF65-F5344CB8AC3E}">
        <p14:creationId xmlns:p14="http://schemas.microsoft.com/office/powerpoint/2010/main" val="365875072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4">
            <a:extLst>
              <a:ext uri="{FF2B5EF4-FFF2-40B4-BE49-F238E27FC236}">
                <a16:creationId xmlns:a16="http://schemas.microsoft.com/office/drawing/2014/main" id="{6FFA88E9-9DDB-F5FE-E49C-3A6CA8FC3AF8}"/>
              </a:ext>
            </a:extLst>
          </p:cNvPr>
          <p:cNvGrpSpPr>
            <a:grpSpLocks/>
          </p:cNvGrpSpPr>
          <p:nvPr/>
        </p:nvGrpSpPr>
        <p:grpSpPr bwMode="auto">
          <a:xfrm>
            <a:off x="1" y="268804"/>
            <a:ext cx="9144000" cy="1143000"/>
            <a:chOff x="1" y="76200"/>
            <a:chExt cx="9144000" cy="1143000"/>
          </a:xfrm>
        </p:grpSpPr>
        <p:grpSp>
          <p:nvGrpSpPr>
            <p:cNvPr id="3" name="Group 15">
              <a:extLst>
                <a:ext uri="{FF2B5EF4-FFF2-40B4-BE49-F238E27FC236}">
                  <a16:creationId xmlns:a16="http://schemas.microsoft.com/office/drawing/2014/main" id="{94790C34-3FC2-C805-563F-2BC596128C2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" y="161928"/>
              <a:ext cx="9144000" cy="993788"/>
              <a:chOff x="0" y="102"/>
              <a:chExt cx="5760" cy="626"/>
            </a:xfrm>
          </p:grpSpPr>
          <p:sp>
            <p:nvSpPr>
              <p:cNvPr id="6" name="Rectangle 3">
                <a:extLst>
                  <a:ext uri="{FF2B5EF4-FFF2-40B4-BE49-F238E27FC236}">
                    <a16:creationId xmlns:a16="http://schemas.microsoft.com/office/drawing/2014/main" id="{77C081ED-CF3C-D08E-4DF9-0927F7F037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0" y="332"/>
                <a:ext cx="5760" cy="233"/>
              </a:xfrm>
              <a:prstGeom prst="rect">
                <a:avLst/>
              </a:prstGeom>
              <a:gradFill rotWithShape="1">
                <a:gsLst>
                  <a:gs pos="0">
                    <a:srgbClr val="DDDDDD"/>
                  </a:gs>
                  <a:gs pos="100000">
                    <a:schemeClr val="tx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800">
                  <a:latin typeface="Helvetica" panose="020B0604020202020204" pitchFamily="34" charset="0"/>
                  <a:cs typeface="Helvetica" panose="020B0604020202020204" pitchFamily="34" charset="0"/>
                </a:endParaRPr>
              </a:p>
            </p:txBody>
          </p:sp>
          <p:pic>
            <p:nvPicPr>
              <p:cNvPr id="7" name="Picture 5" descr="images">
                <a:extLst>
                  <a:ext uri="{FF2B5EF4-FFF2-40B4-BE49-F238E27FC236}">
                    <a16:creationId xmlns:a16="http://schemas.microsoft.com/office/drawing/2014/main" id="{1B306D63-50CE-22D1-22DD-A74D2D48363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92" y="102"/>
                <a:ext cx="626" cy="6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62D551A7-127E-2421-2FE8-36A806AD3E5A}"/>
                </a:ext>
              </a:extLst>
            </p:cNvPr>
            <p:cNvSpPr/>
            <p:nvPr/>
          </p:nvSpPr>
          <p:spPr>
            <a:xfrm>
              <a:off x="152400" y="76200"/>
              <a:ext cx="1676400" cy="1143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US">
                <a:latin typeface="Helvetica" panose="020B0604020202020204" pitchFamily="34" charset="0"/>
                <a:cs typeface="Helvetica" panose="020B0604020202020204" pitchFamily="34" charset="0"/>
              </a:endParaRPr>
            </a:p>
          </p:txBody>
        </p:sp>
        <p:pic>
          <p:nvPicPr>
            <p:cNvPr id="5" name="Picture 4" descr="http://images.wikia.com/logopedia/images/4/4a/Western_Washington_University_2010.png">
              <a:extLst>
                <a:ext uri="{FF2B5EF4-FFF2-40B4-BE49-F238E27FC236}">
                  <a16:creationId xmlns:a16="http://schemas.microsoft.com/office/drawing/2014/main" id="{DD7004CA-E86B-C5CE-A31F-CB3A8D815C6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1237" y="76200"/>
              <a:ext cx="1663602" cy="838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9" name="Rectangle 2">
            <a:extLst>
              <a:ext uri="{FF2B5EF4-FFF2-40B4-BE49-F238E27FC236}">
                <a16:creationId xmlns:a16="http://schemas.microsoft.com/office/drawing/2014/main" id="{2B313E0D-5EE6-A6B4-859F-B363840B6A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95525" y="260985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60C8BE7-99A5-4F81-B6FF-D1CB52E9472F}"/>
              </a:ext>
            </a:extLst>
          </p:cNvPr>
          <p:cNvSpPr txBox="1"/>
          <p:nvPr/>
        </p:nvSpPr>
        <p:spPr>
          <a:xfrm>
            <a:off x="11814628" y="6518740"/>
            <a:ext cx="34176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44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528FFC7-4CF0-EF43-66BA-9A416C5140D2}"/>
              </a:ext>
            </a:extLst>
          </p:cNvPr>
          <p:cNvSpPr txBox="1"/>
          <p:nvPr/>
        </p:nvSpPr>
        <p:spPr>
          <a:xfrm>
            <a:off x="1814839" y="123796"/>
            <a:ext cx="296401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accent1"/>
                </a:solidFill>
                <a:latin typeface="+mj-lt"/>
              </a:rPr>
              <a:t>Substituted </a:t>
            </a:r>
            <a:r>
              <a:rPr lang="en-US" sz="2400" b="1" dirty="0" err="1">
                <a:solidFill>
                  <a:schemeClr val="accent1"/>
                </a:solidFill>
                <a:latin typeface="+mj-lt"/>
              </a:rPr>
              <a:t>Allylsilanes</a:t>
            </a:r>
            <a:endParaRPr lang="en-US" sz="2400" b="1" dirty="0">
              <a:solidFill>
                <a:schemeClr val="accent1"/>
              </a:solidFill>
              <a:latin typeface="+mj-lt"/>
            </a:endParaRPr>
          </a:p>
        </p:txBody>
      </p:sp>
      <p:graphicFrame>
        <p:nvGraphicFramePr>
          <p:cNvPr id="17" name="Object 16">
            <a:extLst>
              <a:ext uri="{FF2B5EF4-FFF2-40B4-BE49-F238E27FC236}">
                <a16:creationId xmlns:a16="http://schemas.microsoft.com/office/drawing/2014/main" id="{C18198EB-A8B3-70F9-1483-6E7951CE758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81537837"/>
              </p:ext>
            </p:extLst>
          </p:nvPr>
        </p:nvGraphicFramePr>
        <p:xfrm>
          <a:off x="1814839" y="2154262"/>
          <a:ext cx="4793378" cy="43644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4" imgW="4134307" imgH="3764107" progId="ChemDraw.Document.6.0">
                  <p:embed/>
                </p:oleObj>
              </mc:Choice>
              <mc:Fallback>
                <p:oleObj name="CS ChemDraw Drawing" r:id="rId4" imgW="4134307" imgH="3764107" progId="ChemDraw.Document.6.0">
                  <p:embed/>
                  <p:pic>
                    <p:nvPicPr>
                      <p:cNvPr id="17" name="Object 16">
                        <a:extLst>
                          <a:ext uri="{FF2B5EF4-FFF2-40B4-BE49-F238E27FC236}">
                            <a16:creationId xmlns:a16="http://schemas.microsoft.com/office/drawing/2014/main" id="{C18198EB-A8B3-70F9-1483-6E7951CE758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814839" y="2154262"/>
                        <a:ext cx="4793378" cy="436447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B9CDDC4B-5D9C-92EE-25D0-4386ACDD2525}"/>
              </a:ext>
            </a:extLst>
          </p:cNvPr>
          <p:cNvSpPr txBox="1"/>
          <p:nvPr/>
        </p:nvSpPr>
        <p:spPr>
          <a:xfrm>
            <a:off x="5706077" y="4265551"/>
            <a:ext cx="226722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(More info on the next slide)</a:t>
            </a:r>
            <a:endParaRPr lang="en-GB" sz="14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DD6A1EE-9167-C977-A9D1-E90C83726B8A}"/>
              </a:ext>
            </a:extLst>
          </p:cNvPr>
          <p:cNvSpPr txBox="1"/>
          <p:nvPr/>
        </p:nvSpPr>
        <p:spPr>
          <a:xfrm>
            <a:off x="1379477" y="1415838"/>
            <a:ext cx="847889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Times New Roman" panose="02020603050405020304" pitchFamily="18" charset="0"/>
              </a:rPr>
              <a:t>Attempts at an alpha, beta, gamma substituted allylsilane (ex: 1-3)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Times New Roman" panose="02020603050405020304" pitchFamily="18" charset="0"/>
              </a:rPr>
              <a:t>Attempting a more “charged” allylsilane (ex: 4)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Calibri" panose="020F0502020204030204" pitchFamily="34" charset="0"/>
              <a:ea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>
              <a:effectLst/>
              <a:latin typeface="Calibri" panose="020F0502020204030204" pitchFamily="34" charset="0"/>
              <a:ea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40F9DB6-886E-CCF7-E6E6-921EE62E11C4}"/>
              </a:ext>
            </a:extLst>
          </p:cNvPr>
          <p:cNvSpPr txBox="1"/>
          <p:nvPr/>
        </p:nvSpPr>
        <p:spPr>
          <a:xfrm>
            <a:off x="1431888" y="2321169"/>
            <a:ext cx="330540" cy="33239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1)</a:t>
            </a:r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r>
              <a:rPr lang="en-US" sz="1400" dirty="0"/>
              <a:t>2)</a:t>
            </a:r>
          </a:p>
          <a:p>
            <a:endParaRPr lang="en-US" sz="1400" dirty="0"/>
          </a:p>
          <a:p>
            <a:endParaRPr lang="en-US" sz="1400" dirty="0"/>
          </a:p>
          <a:p>
            <a:r>
              <a:rPr lang="en-US" sz="1400" dirty="0"/>
              <a:t>3)</a:t>
            </a:r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r>
              <a:rPr lang="en-US" sz="1400" dirty="0"/>
              <a:t>4)</a:t>
            </a:r>
            <a:endParaRPr lang="en-GB" sz="1400" dirty="0"/>
          </a:p>
        </p:txBody>
      </p:sp>
    </p:spTree>
    <p:extLst>
      <p:ext uri="{BB962C8B-B14F-4D97-AF65-F5344CB8AC3E}">
        <p14:creationId xmlns:p14="http://schemas.microsoft.com/office/powerpoint/2010/main" val="44893098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4">
            <a:extLst>
              <a:ext uri="{FF2B5EF4-FFF2-40B4-BE49-F238E27FC236}">
                <a16:creationId xmlns:a16="http://schemas.microsoft.com/office/drawing/2014/main" id="{6FFA88E9-9DDB-F5FE-E49C-3A6CA8FC3AF8}"/>
              </a:ext>
            </a:extLst>
          </p:cNvPr>
          <p:cNvGrpSpPr>
            <a:grpSpLocks/>
          </p:cNvGrpSpPr>
          <p:nvPr/>
        </p:nvGrpSpPr>
        <p:grpSpPr bwMode="auto">
          <a:xfrm>
            <a:off x="1" y="268804"/>
            <a:ext cx="9144000" cy="1143000"/>
            <a:chOff x="1" y="76200"/>
            <a:chExt cx="9144000" cy="1143000"/>
          </a:xfrm>
        </p:grpSpPr>
        <p:grpSp>
          <p:nvGrpSpPr>
            <p:cNvPr id="3" name="Group 15">
              <a:extLst>
                <a:ext uri="{FF2B5EF4-FFF2-40B4-BE49-F238E27FC236}">
                  <a16:creationId xmlns:a16="http://schemas.microsoft.com/office/drawing/2014/main" id="{94790C34-3FC2-C805-563F-2BC596128C2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" y="161928"/>
              <a:ext cx="9144000" cy="993788"/>
              <a:chOff x="0" y="102"/>
              <a:chExt cx="5760" cy="626"/>
            </a:xfrm>
          </p:grpSpPr>
          <p:sp>
            <p:nvSpPr>
              <p:cNvPr id="6" name="Rectangle 3">
                <a:extLst>
                  <a:ext uri="{FF2B5EF4-FFF2-40B4-BE49-F238E27FC236}">
                    <a16:creationId xmlns:a16="http://schemas.microsoft.com/office/drawing/2014/main" id="{77C081ED-CF3C-D08E-4DF9-0927F7F037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0" y="332"/>
                <a:ext cx="5760" cy="233"/>
              </a:xfrm>
              <a:prstGeom prst="rect">
                <a:avLst/>
              </a:prstGeom>
              <a:gradFill rotWithShape="1">
                <a:gsLst>
                  <a:gs pos="0">
                    <a:srgbClr val="DDDDDD"/>
                  </a:gs>
                  <a:gs pos="100000">
                    <a:schemeClr val="tx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800">
                  <a:latin typeface="Helvetica" panose="020B0604020202020204" pitchFamily="34" charset="0"/>
                  <a:cs typeface="Helvetica" panose="020B0604020202020204" pitchFamily="34" charset="0"/>
                </a:endParaRPr>
              </a:p>
            </p:txBody>
          </p:sp>
          <p:pic>
            <p:nvPicPr>
              <p:cNvPr id="7" name="Picture 5" descr="images">
                <a:extLst>
                  <a:ext uri="{FF2B5EF4-FFF2-40B4-BE49-F238E27FC236}">
                    <a16:creationId xmlns:a16="http://schemas.microsoft.com/office/drawing/2014/main" id="{1B306D63-50CE-22D1-22DD-A74D2D48363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92" y="102"/>
                <a:ext cx="626" cy="6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62D551A7-127E-2421-2FE8-36A806AD3E5A}"/>
                </a:ext>
              </a:extLst>
            </p:cNvPr>
            <p:cNvSpPr/>
            <p:nvPr/>
          </p:nvSpPr>
          <p:spPr>
            <a:xfrm>
              <a:off x="152400" y="76200"/>
              <a:ext cx="1676400" cy="1143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US">
                <a:latin typeface="Helvetica" panose="020B0604020202020204" pitchFamily="34" charset="0"/>
                <a:cs typeface="Helvetica" panose="020B0604020202020204" pitchFamily="34" charset="0"/>
              </a:endParaRPr>
            </a:p>
          </p:txBody>
        </p:sp>
        <p:pic>
          <p:nvPicPr>
            <p:cNvPr id="5" name="Picture 4" descr="http://images.wikia.com/logopedia/images/4/4a/Western_Washington_University_2010.png">
              <a:extLst>
                <a:ext uri="{FF2B5EF4-FFF2-40B4-BE49-F238E27FC236}">
                  <a16:creationId xmlns:a16="http://schemas.microsoft.com/office/drawing/2014/main" id="{DD7004CA-E86B-C5CE-A31F-CB3A8D815C6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1237" y="76200"/>
              <a:ext cx="1663602" cy="838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aphicFrame>
        <p:nvGraphicFramePr>
          <p:cNvPr id="9" name="Object 8">
            <a:extLst>
              <a:ext uri="{FF2B5EF4-FFF2-40B4-BE49-F238E27FC236}">
                <a16:creationId xmlns:a16="http://schemas.microsoft.com/office/drawing/2014/main" id="{A927EA3F-3290-60A5-3739-3F735C246C5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96667155"/>
              </p:ext>
            </p:extLst>
          </p:nvPr>
        </p:nvGraphicFramePr>
        <p:xfrm>
          <a:off x="2506662" y="1892765"/>
          <a:ext cx="7178675" cy="4625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4" imgW="5981395" imgH="3859807" progId="ChemDraw.Document.6.0">
                  <p:embed/>
                </p:oleObj>
              </mc:Choice>
              <mc:Fallback>
                <p:oleObj name="CS ChemDraw Drawing" r:id="rId4" imgW="5981395" imgH="3859807" progId="ChemDraw.Document.6.0">
                  <p:embed/>
                  <p:pic>
                    <p:nvPicPr>
                      <p:cNvPr id="9" name="Object 8">
                        <a:extLst>
                          <a:ext uri="{FF2B5EF4-FFF2-40B4-BE49-F238E27FC236}">
                            <a16:creationId xmlns:a16="http://schemas.microsoft.com/office/drawing/2014/main" id="{A927EA3F-3290-60A5-3739-3F735C246C5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506662" y="1892765"/>
                        <a:ext cx="7178675" cy="46259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EFF44279-29E2-2AB7-FABA-BE09F91B46E3}"/>
              </a:ext>
            </a:extLst>
          </p:cNvPr>
          <p:cNvSpPr txBox="1"/>
          <p:nvPr/>
        </p:nvSpPr>
        <p:spPr>
          <a:xfrm>
            <a:off x="1379477" y="1415838"/>
            <a:ext cx="84788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We hoped using a less sensitive </a:t>
            </a:r>
            <a:r>
              <a:rPr lang="en-US" sz="180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allylsilane</a:t>
            </a:r>
            <a:r>
              <a:rPr lang="en-US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 would allow us to make this transformation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E145217-2B3A-13D2-57AC-C81BB68CC932}"/>
              </a:ext>
            </a:extLst>
          </p:cNvPr>
          <p:cNvSpPr txBox="1"/>
          <p:nvPr/>
        </p:nvSpPr>
        <p:spPr>
          <a:xfrm>
            <a:off x="1814839" y="123796"/>
            <a:ext cx="296401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accent1"/>
                </a:solidFill>
                <a:latin typeface="+mj-lt"/>
              </a:rPr>
              <a:t>Substituted </a:t>
            </a:r>
            <a:r>
              <a:rPr lang="en-US" sz="2400" b="1" dirty="0" err="1">
                <a:solidFill>
                  <a:schemeClr val="accent1"/>
                </a:solidFill>
                <a:latin typeface="+mj-lt"/>
              </a:rPr>
              <a:t>Allylsilanes</a:t>
            </a:r>
            <a:endParaRPr lang="en-US" sz="2400" b="1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79D6DCF-1304-A1E0-B14B-5D13C19FF0AC}"/>
              </a:ext>
            </a:extLst>
          </p:cNvPr>
          <p:cNvSpPr txBox="1"/>
          <p:nvPr/>
        </p:nvSpPr>
        <p:spPr>
          <a:xfrm>
            <a:off x="11814628" y="6518740"/>
            <a:ext cx="34176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54</a:t>
            </a:r>
          </a:p>
        </p:txBody>
      </p:sp>
    </p:spTree>
    <p:extLst>
      <p:ext uri="{BB962C8B-B14F-4D97-AF65-F5344CB8AC3E}">
        <p14:creationId xmlns:p14="http://schemas.microsoft.com/office/powerpoint/2010/main" val="271458128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4">
            <a:extLst>
              <a:ext uri="{FF2B5EF4-FFF2-40B4-BE49-F238E27FC236}">
                <a16:creationId xmlns:a16="http://schemas.microsoft.com/office/drawing/2014/main" id="{6FFA88E9-9DDB-F5FE-E49C-3A6CA8FC3AF8}"/>
              </a:ext>
            </a:extLst>
          </p:cNvPr>
          <p:cNvGrpSpPr>
            <a:grpSpLocks/>
          </p:cNvGrpSpPr>
          <p:nvPr/>
        </p:nvGrpSpPr>
        <p:grpSpPr bwMode="auto">
          <a:xfrm>
            <a:off x="1" y="268804"/>
            <a:ext cx="9144000" cy="1143000"/>
            <a:chOff x="1" y="76200"/>
            <a:chExt cx="9144000" cy="1143000"/>
          </a:xfrm>
        </p:grpSpPr>
        <p:grpSp>
          <p:nvGrpSpPr>
            <p:cNvPr id="3" name="Group 15">
              <a:extLst>
                <a:ext uri="{FF2B5EF4-FFF2-40B4-BE49-F238E27FC236}">
                  <a16:creationId xmlns:a16="http://schemas.microsoft.com/office/drawing/2014/main" id="{94790C34-3FC2-C805-563F-2BC596128C2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" y="161928"/>
              <a:ext cx="9144000" cy="993788"/>
              <a:chOff x="0" y="102"/>
              <a:chExt cx="5760" cy="626"/>
            </a:xfrm>
          </p:grpSpPr>
          <p:sp>
            <p:nvSpPr>
              <p:cNvPr id="6" name="Rectangle 3">
                <a:extLst>
                  <a:ext uri="{FF2B5EF4-FFF2-40B4-BE49-F238E27FC236}">
                    <a16:creationId xmlns:a16="http://schemas.microsoft.com/office/drawing/2014/main" id="{77C081ED-CF3C-D08E-4DF9-0927F7F037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0" y="332"/>
                <a:ext cx="5760" cy="233"/>
              </a:xfrm>
              <a:prstGeom prst="rect">
                <a:avLst/>
              </a:prstGeom>
              <a:gradFill rotWithShape="1">
                <a:gsLst>
                  <a:gs pos="0">
                    <a:srgbClr val="DDDDDD"/>
                  </a:gs>
                  <a:gs pos="100000">
                    <a:schemeClr val="tx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800">
                  <a:latin typeface="Helvetica" panose="020B0604020202020204" pitchFamily="34" charset="0"/>
                  <a:cs typeface="Helvetica" panose="020B0604020202020204" pitchFamily="34" charset="0"/>
                </a:endParaRPr>
              </a:p>
            </p:txBody>
          </p:sp>
          <p:pic>
            <p:nvPicPr>
              <p:cNvPr id="7" name="Picture 5" descr="images">
                <a:extLst>
                  <a:ext uri="{FF2B5EF4-FFF2-40B4-BE49-F238E27FC236}">
                    <a16:creationId xmlns:a16="http://schemas.microsoft.com/office/drawing/2014/main" id="{1B306D63-50CE-22D1-22DD-A74D2D48363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92" y="102"/>
                <a:ext cx="626" cy="6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62D551A7-127E-2421-2FE8-36A806AD3E5A}"/>
                </a:ext>
              </a:extLst>
            </p:cNvPr>
            <p:cNvSpPr/>
            <p:nvPr/>
          </p:nvSpPr>
          <p:spPr>
            <a:xfrm>
              <a:off x="152400" y="76200"/>
              <a:ext cx="1676400" cy="1143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US">
                <a:latin typeface="Helvetica" panose="020B0604020202020204" pitchFamily="34" charset="0"/>
                <a:cs typeface="Helvetica" panose="020B0604020202020204" pitchFamily="34" charset="0"/>
              </a:endParaRPr>
            </a:p>
          </p:txBody>
        </p:sp>
        <p:pic>
          <p:nvPicPr>
            <p:cNvPr id="5" name="Picture 4" descr="http://images.wikia.com/logopedia/images/4/4a/Western_Washington_University_2010.png">
              <a:extLst>
                <a:ext uri="{FF2B5EF4-FFF2-40B4-BE49-F238E27FC236}">
                  <a16:creationId xmlns:a16="http://schemas.microsoft.com/office/drawing/2014/main" id="{DD7004CA-E86B-C5CE-A31F-CB3A8D815C6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1237" y="76200"/>
              <a:ext cx="1663602" cy="838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DD30D270-8517-EECD-9F2E-787C3C6883CA}"/>
              </a:ext>
            </a:extLst>
          </p:cNvPr>
          <p:cNvSpPr txBox="1"/>
          <p:nvPr/>
        </p:nvSpPr>
        <p:spPr>
          <a:xfrm>
            <a:off x="1814839" y="123796"/>
            <a:ext cx="306904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accent1"/>
                </a:solidFill>
                <a:latin typeface="+mj-lt"/>
              </a:rPr>
              <a:t>Probing the Mechanism</a:t>
            </a: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18E67959-AB36-52B7-3A79-C47CB2B4DF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10" name="Object 9">
            <a:extLst>
              <a:ext uri="{FF2B5EF4-FFF2-40B4-BE49-F238E27FC236}">
                <a16:creationId xmlns:a16="http://schemas.microsoft.com/office/drawing/2014/main" id="{A2E21799-DBD1-8EA3-A3F7-9296A531221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67197506"/>
              </p:ext>
            </p:extLst>
          </p:nvPr>
        </p:nvGraphicFramePr>
        <p:xfrm>
          <a:off x="3986213" y="2763838"/>
          <a:ext cx="4219575" cy="3049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4" imgW="3515563" imgH="2541512" progId="ChemDraw.Document.6.0">
                  <p:embed/>
                </p:oleObj>
              </mc:Choice>
              <mc:Fallback>
                <p:oleObj name="CS ChemDraw Drawing" r:id="rId4" imgW="3515563" imgH="2541512" progId="ChemDraw.Document.6.0">
                  <p:embed/>
                  <p:pic>
                    <p:nvPicPr>
                      <p:cNvPr id="10" name="Object 9">
                        <a:extLst>
                          <a:ext uri="{FF2B5EF4-FFF2-40B4-BE49-F238E27FC236}">
                            <a16:creationId xmlns:a16="http://schemas.microsoft.com/office/drawing/2014/main" id="{A2E21799-DBD1-8EA3-A3F7-9296A531221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86213" y="2763838"/>
                        <a:ext cx="4219575" cy="304958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9C7DA636-8ABA-FC9E-ED7F-236543EA6F8A}"/>
              </a:ext>
            </a:extLst>
          </p:cNvPr>
          <p:cNvSpPr txBox="1"/>
          <p:nvPr/>
        </p:nvSpPr>
        <p:spPr>
          <a:xfrm>
            <a:off x="1379477" y="1415838"/>
            <a:ext cx="8478898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Times New Roman" panose="02020603050405020304" pitchFamily="18" charset="0"/>
              </a:rPr>
              <a:t>To determine if the mechanism of this transformation was more S</a:t>
            </a:r>
            <a:r>
              <a:rPr lang="en-US" baseline="-25000" dirty="0">
                <a:latin typeface="Calibri" panose="020F0502020204030204" pitchFamily="34" charset="0"/>
                <a:ea typeface="Times New Roman" panose="02020603050405020304" pitchFamily="18" charset="0"/>
              </a:rPr>
              <a:t>N</a:t>
            </a:r>
            <a:r>
              <a:rPr lang="en-US" dirty="0">
                <a:latin typeface="Calibri" panose="020F0502020204030204" pitchFamily="34" charset="0"/>
                <a:ea typeface="Times New Roman" panose="02020603050405020304" pitchFamily="18" charset="0"/>
              </a:rPr>
              <a:t>1 or S</a:t>
            </a:r>
            <a:r>
              <a:rPr lang="en-US" baseline="-25000" dirty="0">
                <a:latin typeface="Calibri" panose="020F0502020204030204" pitchFamily="34" charset="0"/>
                <a:ea typeface="Times New Roman" panose="02020603050405020304" pitchFamily="18" charset="0"/>
              </a:rPr>
              <a:t>N</a:t>
            </a:r>
            <a:r>
              <a:rPr lang="en-US" dirty="0">
                <a:latin typeface="Calibri" panose="020F0502020204030204" pitchFamily="34" charset="0"/>
                <a:ea typeface="Times New Roman" panose="02020603050405020304" pitchFamily="18" charset="0"/>
              </a:rPr>
              <a:t>2 like, three different enantioenriched epoxides were prepared.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Using the measured optical activity for triisopropyl silyl epoxide</a:t>
            </a:r>
            <a:r>
              <a:rPr lang="en-US" sz="18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,</a:t>
            </a:r>
            <a:r>
              <a:rPr lang="en-US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 a comparison was made with what was reported previously in literature.</a:t>
            </a:r>
            <a:endParaRPr lang="en-US" dirty="0">
              <a:latin typeface="Calibri" panose="020F0502020204030204" pitchFamily="34" charset="0"/>
              <a:ea typeface="Times New Roman" panose="02020603050405020304" pitchFamily="18" charset="0"/>
            </a:endParaRPr>
          </a:p>
          <a:p>
            <a:r>
              <a:rPr lang="en-US" dirty="0">
                <a:latin typeface="Calibri" panose="020F0502020204030204" pitchFamily="34" charset="0"/>
                <a:ea typeface="Times New Roman" panose="02020603050405020304" pitchFamily="18" charset="0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Calibri" panose="020F0502020204030204" pitchFamily="34" charset="0"/>
              <a:ea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>
              <a:effectLst/>
              <a:latin typeface="Calibri" panose="020F0502020204030204" pitchFamily="34" charset="0"/>
              <a:ea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2E65AB7-97E4-93C9-EE32-6E97C4CE14F8}"/>
              </a:ext>
            </a:extLst>
          </p:cNvPr>
          <p:cNvSpPr txBox="1"/>
          <p:nvPr/>
        </p:nvSpPr>
        <p:spPr>
          <a:xfrm>
            <a:off x="11814628" y="6518740"/>
            <a:ext cx="34176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45</a:t>
            </a:r>
          </a:p>
        </p:txBody>
      </p:sp>
    </p:spTree>
    <p:extLst>
      <p:ext uri="{BB962C8B-B14F-4D97-AF65-F5344CB8AC3E}">
        <p14:creationId xmlns:p14="http://schemas.microsoft.com/office/powerpoint/2010/main" val="65352590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4">
            <a:extLst>
              <a:ext uri="{FF2B5EF4-FFF2-40B4-BE49-F238E27FC236}">
                <a16:creationId xmlns:a16="http://schemas.microsoft.com/office/drawing/2014/main" id="{6FFA88E9-9DDB-F5FE-E49C-3A6CA8FC3AF8}"/>
              </a:ext>
            </a:extLst>
          </p:cNvPr>
          <p:cNvGrpSpPr>
            <a:grpSpLocks/>
          </p:cNvGrpSpPr>
          <p:nvPr/>
        </p:nvGrpSpPr>
        <p:grpSpPr bwMode="auto">
          <a:xfrm>
            <a:off x="1" y="268804"/>
            <a:ext cx="9144000" cy="1143000"/>
            <a:chOff x="1" y="76200"/>
            <a:chExt cx="9144000" cy="1143000"/>
          </a:xfrm>
        </p:grpSpPr>
        <p:grpSp>
          <p:nvGrpSpPr>
            <p:cNvPr id="3" name="Group 15">
              <a:extLst>
                <a:ext uri="{FF2B5EF4-FFF2-40B4-BE49-F238E27FC236}">
                  <a16:creationId xmlns:a16="http://schemas.microsoft.com/office/drawing/2014/main" id="{94790C34-3FC2-C805-563F-2BC596128C2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" y="161928"/>
              <a:ext cx="9144000" cy="993788"/>
              <a:chOff x="0" y="102"/>
              <a:chExt cx="5760" cy="626"/>
            </a:xfrm>
          </p:grpSpPr>
          <p:sp>
            <p:nvSpPr>
              <p:cNvPr id="6" name="Rectangle 3">
                <a:extLst>
                  <a:ext uri="{FF2B5EF4-FFF2-40B4-BE49-F238E27FC236}">
                    <a16:creationId xmlns:a16="http://schemas.microsoft.com/office/drawing/2014/main" id="{77C081ED-CF3C-D08E-4DF9-0927F7F037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0" y="332"/>
                <a:ext cx="5760" cy="233"/>
              </a:xfrm>
              <a:prstGeom prst="rect">
                <a:avLst/>
              </a:prstGeom>
              <a:gradFill rotWithShape="1">
                <a:gsLst>
                  <a:gs pos="0">
                    <a:srgbClr val="DDDDDD"/>
                  </a:gs>
                  <a:gs pos="100000">
                    <a:schemeClr val="tx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800">
                  <a:latin typeface="Helvetica" panose="020B0604020202020204" pitchFamily="34" charset="0"/>
                  <a:cs typeface="Helvetica" panose="020B0604020202020204" pitchFamily="34" charset="0"/>
                </a:endParaRPr>
              </a:p>
            </p:txBody>
          </p:sp>
          <p:pic>
            <p:nvPicPr>
              <p:cNvPr id="7" name="Picture 5" descr="images">
                <a:extLst>
                  <a:ext uri="{FF2B5EF4-FFF2-40B4-BE49-F238E27FC236}">
                    <a16:creationId xmlns:a16="http://schemas.microsoft.com/office/drawing/2014/main" id="{1B306D63-50CE-22D1-22DD-A74D2D48363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92" y="102"/>
                <a:ext cx="626" cy="6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62D551A7-127E-2421-2FE8-36A806AD3E5A}"/>
                </a:ext>
              </a:extLst>
            </p:cNvPr>
            <p:cNvSpPr/>
            <p:nvPr/>
          </p:nvSpPr>
          <p:spPr>
            <a:xfrm>
              <a:off x="152400" y="76200"/>
              <a:ext cx="1676400" cy="1143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US">
                <a:latin typeface="Helvetica" panose="020B0604020202020204" pitchFamily="34" charset="0"/>
                <a:cs typeface="Helvetica" panose="020B0604020202020204" pitchFamily="34" charset="0"/>
              </a:endParaRPr>
            </a:p>
          </p:txBody>
        </p:sp>
        <p:pic>
          <p:nvPicPr>
            <p:cNvPr id="5" name="Picture 4" descr="http://images.wikia.com/logopedia/images/4/4a/Western_Washington_University_2010.png">
              <a:extLst>
                <a:ext uri="{FF2B5EF4-FFF2-40B4-BE49-F238E27FC236}">
                  <a16:creationId xmlns:a16="http://schemas.microsoft.com/office/drawing/2014/main" id="{DD7004CA-E86B-C5CE-A31F-CB3A8D815C6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1237" y="76200"/>
              <a:ext cx="1663602" cy="838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9" name="Rectangle 2">
            <a:extLst>
              <a:ext uri="{FF2B5EF4-FFF2-40B4-BE49-F238E27FC236}">
                <a16:creationId xmlns:a16="http://schemas.microsoft.com/office/drawing/2014/main" id="{8F965138-0470-85E0-2A8B-4F2180FCE2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1" name="Rectangle 4">
            <a:extLst>
              <a:ext uri="{FF2B5EF4-FFF2-40B4-BE49-F238E27FC236}">
                <a16:creationId xmlns:a16="http://schemas.microsoft.com/office/drawing/2014/main" id="{47690277-94AE-EABB-A0DE-4DC8E0A9C5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12" name="Object 11">
            <a:extLst>
              <a:ext uri="{FF2B5EF4-FFF2-40B4-BE49-F238E27FC236}">
                <a16:creationId xmlns:a16="http://schemas.microsoft.com/office/drawing/2014/main" id="{1B342497-E5DE-71C1-2790-C448DE651AE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61127776"/>
              </p:ext>
            </p:extLst>
          </p:nvPr>
        </p:nvGraphicFramePr>
        <p:xfrm>
          <a:off x="5700156" y="3103551"/>
          <a:ext cx="6491844" cy="3754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4" imgW="6036259" imgH="3486358" progId="ChemDraw.Document.6.0">
                  <p:embed/>
                </p:oleObj>
              </mc:Choice>
              <mc:Fallback>
                <p:oleObj name="CS ChemDraw Drawing" r:id="rId4" imgW="6036259" imgH="3486358" progId="ChemDraw.Document.6.0">
                  <p:embed/>
                  <p:pic>
                    <p:nvPicPr>
                      <p:cNvPr id="12" name="Object 11">
                        <a:extLst>
                          <a:ext uri="{FF2B5EF4-FFF2-40B4-BE49-F238E27FC236}">
                            <a16:creationId xmlns:a16="http://schemas.microsoft.com/office/drawing/2014/main" id="{1B342497-E5DE-71C1-2790-C448DE651AE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00156" y="3103551"/>
                        <a:ext cx="6491844" cy="375445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9">
            <a:extLst>
              <a:ext uri="{FF2B5EF4-FFF2-40B4-BE49-F238E27FC236}">
                <a16:creationId xmlns:a16="http://schemas.microsoft.com/office/drawing/2014/main" id="{D6122AC6-ABB5-25BF-57BC-80E14C5E8C3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1681682"/>
              </p:ext>
            </p:extLst>
          </p:nvPr>
        </p:nvGraphicFramePr>
        <p:xfrm>
          <a:off x="1203325" y="1192213"/>
          <a:ext cx="6738938" cy="2039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6" imgW="5615635" imgH="1700161" progId="ChemDraw.Document.6.0">
                  <p:embed/>
                </p:oleObj>
              </mc:Choice>
              <mc:Fallback>
                <p:oleObj name="CS ChemDraw Drawing" r:id="rId6" imgW="5615635" imgH="1700161" progId="ChemDraw.Document.6.0">
                  <p:embed/>
                  <p:pic>
                    <p:nvPicPr>
                      <p:cNvPr id="10" name="Object 9">
                        <a:extLst>
                          <a:ext uri="{FF2B5EF4-FFF2-40B4-BE49-F238E27FC236}">
                            <a16:creationId xmlns:a16="http://schemas.microsoft.com/office/drawing/2014/main" id="{D6122AC6-ABB5-25BF-57BC-80E14C5E8C3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03325" y="1192213"/>
                        <a:ext cx="6738938" cy="20399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D981F7EA-1A61-FCC7-036E-C13BF9D5B3B8}"/>
              </a:ext>
            </a:extLst>
          </p:cNvPr>
          <p:cNvSpPr txBox="1"/>
          <p:nvPr/>
        </p:nvSpPr>
        <p:spPr>
          <a:xfrm>
            <a:off x="467180" y="3259139"/>
            <a:ext cx="5232976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Times New Roman" panose="02020603050405020304" pitchFamily="18" charset="0"/>
              </a:rPr>
              <a:t>Subjecting the enantioenriched epoxides to HF then followed by esterification from the chiral carboxylic acid.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prstClr val="black"/>
                </a:solidFill>
              </a:rPr>
              <a:t>The epoxide </a:t>
            </a:r>
            <a:r>
              <a:rPr lang="en-US" sz="1800" i="1" dirty="0">
                <a:solidFill>
                  <a:prstClr val="black"/>
                </a:solidFill>
              </a:rPr>
              <a:t>ee</a:t>
            </a:r>
            <a:r>
              <a:rPr lang="en-US" sz="1800" dirty="0">
                <a:solidFill>
                  <a:prstClr val="black"/>
                </a:solidFill>
              </a:rPr>
              <a:t> and </a:t>
            </a:r>
            <a:r>
              <a:rPr lang="en-US" sz="1800" dirty="0" err="1">
                <a:solidFill>
                  <a:prstClr val="black"/>
                </a:solidFill>
              </a:rPr>
              <a:t>fluoroester</a:t>
            </a:r>
            <a:r>
              <a:rPr lang="en-US" sz="1800" dirty="0">
                <a:solidFill>
                  <a:prstClr val="black"/>
                </a:solidFill>
              </a:rPr>
              <a:t> </a:t>
            </a:r>
            <a:r>
              <a:rPr lang="en-US" sz="1800" dirty="0" err="1">
                <a:solidFill>
                  <a:prstClr val="black"/>
                </a:solidFill>
              </a:rPr>
              <a:t>d.r.</a:t>
            </a:r>
            <a:r>
              <a:rPr lang="en-US" sz="1800" dirty="0">
                <a:solidFill>
                  <a:prstClr val="black"/>
                </a:solidFill>
              </a:rPr>
              <a:t> were similar, suggesting S</a:t>
            </a:r>
            <a:r>
              <a:rPr lang="en-US" sz="1800" baseline="-25000" dirty="0">
                <a:solidFill>
                  <a:prstClr val="black"/>
                </a:solidFill>
              </a:rPr>
              <a:t>N</a:t>
            </a:r>
            <a:r>
              <a:rPr lang="en-US" sz="1800" dirty="0">
                <a:solidFill>
                  <a:prstClr val="black"/>
                </a:solidFill>
              </a:rPr>
              <a:t>2</a:t>
            </a:r>
            <a:r>
              <a:rPr lang="en-US" sz="1800" dirty="0">
                <a:solidFill>
                  <a:prstClr val="black"/>
                </a:solidFill>
                <a:latin typeface="Calibri" panose="020F0502020204030204" pitchFamily="34" charset="0"/>
              </a:rPr>
              <a:t>.</a:t>
            </a:r>
            <a:endParaRPr lang="en-US" dirty="0">
              <a:latin typeface="Calibri" panose="020F0502020204030204" pitchFamily="34" charset="0"/>
              <a:ea typeface="Times New Roman" panose="02020603050405020304" pitchFamily="18" charset="0"/>
            </a:endParaRPr>
          </a:p>
          <a:p>
            <a:r>
              <a:rPr lang="en-US" dirty="0">
                <a:latin typeface="Calibri" panose="020F0502020204030204" pitchFamily="34" charset="0"/>
                <a:ea typeface="Times New Roman" panose="02020603050405020304" pitchFamily="18" charset="0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Calibri" panose="020F0502020204030204" pitchFamily="34" charset="0"/>
              <a:ea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>
              <a:effectLst/>
              <a:latin typeface="Calibri" panose="020F0502020204030204" pitchFamily="34" charset="0"/>
              <a:ea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5812DB9-213D-AC0A-0236-E55DFA09B9A0}"/>
              </a:ext>
            </a:extLst>
          </p:cNvPr>
          <p:cNvSpPr txBox="1"/>
          <p:nvPr/>
        </p:nvSpPr>
        <p:spPr>
          <a:xfrm>
            <a:off x="1814839" y="123796"/>
            <a:ext cx="306904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accent1"/>
                </a:solidFill>
                <a:latin typeface="+mj-lt"/>
              </a:rPr>
              <a:t>Probing the Mechanism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61F52E5-CE7D-52E4-6E32-BA8C0549454F}"/>
              </a:ext>
            </a:extLst>
          </p:cNvPr>
          <p:cNvSpPr txBox="1"/>
          <p:nvPr/>
        </p:nvSpPr>
        <p:spPr>
          <a:xfrm>
            <a:off x="11814628" y="6518740"/>
            <a:ext cx="34176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46</a:t>
            </a:r>
          </a:p>
        </p:txBody>
      </p:sp>
    </p:spTree>
    <p:extLst>
      <p:ext uri="{BB962C8B-B14F-4D97-AF65-F5344CB8AC3E}">
        <p14:creationId xmlns:p14="http://schemas.microsoft.com/office/powerpoint/2010/main" val="217228978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4">
            <a:extLst>
              <a:ext uri="{FF2B5EF4-FFF2-40B4-BE49-F238E27FC236}">
                <a16:creationId xmlns:a16="http://schemas.microsoft.com/office/drawing/2014/main" id="{6FFA88E9-9DDB-F5FE-E49C-3A6CA8FC3AF8}"/>
              </a:ext>
            </a:extLst>
          </p:cNvPr>
          <p:cNvGrpSpPr>
            <a:grpSpLocks/>
          </p:cNvGrpSpPr>
          <p:nvPr/>
        </p:nvGrpSpPr>
        <p:grpSpPr bwMode="auto">
          <a:xfrm>
            <a:off x="1" y="268804"/>
            <a:ext cx="9144000" cy="1143000"/>
            <a:chOff x="1" y="76200"/>
            <a:chExt cx="9144000" cy="1143000"/>
          </a:xfrm>
        </p:grpSpPr>
        <p:grpSp>
          <p:nvGrpSpPr>
            <p:cNvPr id="3" name="Group 15">
              <a:extLst>
                <a:ext uri="{FF2B5EF4-FFF2-40B4-BE49-F238E27FC236}">
                  <a16:creationId xmlns:a16="http://schemas.microsoft.com/office/drawing/2014/main" id="{94790C34-3FC2-C805-563F-2BC596128C2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" y="161928"/>
              <a:ext cx="9144000" cy="993788"/>
              <a:chOff x="0" y="102"/>
              <a:chExt cx="5760" cy="626"/>
            </a:xfrm>
          </p:grpSpPr>
          <p:sp>
            <p:nvSpPr>
              <p:cNvPr id="6" name="Rectangle 3">
                <a:extLst>
                  <a:ext uri="{FF2B5EF4-FFF2-40B4-BE49-F238E27FC236}">
                    <a16:creationId xmlns:a16="http://schemas.microsoft.com/office/drawing/2014/main" id="{77C081ED-CF3C-D08E-4DF9-0927F7F037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0" y="332"/>
                <a:ext cx="5760" cy="233"/>
              </a:xfrm>
              <a:prstGeom prst="rect">
                <a:avLst/>
              </a:prstGeom>
              <a:gradFill rotWithShape="1">
                <a:gsLst>
                  <a:gs pos="0">
                    <a:srgbClr val="DDDDDD"/>
                  </a:gs>
                  <a:gs pos="100000">
                    <a:schemeClr val="tx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800">
                  <a:latin typeface="Helvetica" panose="020B0604020202020204" pitchFamily="34" charset="0"/>
                  <a:cs typeface="Helvetica" panose="020B0604020202020204" pitchFamily="34" charset="0"/>
                </a:endParaRPr>
              </a:p>
            </p:txBody>
          </p:sp>
          <p:pic>
            <p:nvPicPr>
              <p:cNvPr id="7" name="Picture 5" descr="images">
                <a:extLst>
                  <a:ext uri="{FF2B5EF4-FFF2-40B4-BE49-F238E27FC236}">
                    <a16:creationId xmlns:a16="http://schemas.microsoft.com/office/drawing/2014/main" id="{1B306D63-50CE-22D1-22DD-A74D2D48363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92" y="102"/>
                <a:ext cx="626" cy="6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62D551A7-127E-2421-2FE8-36A806AD3E5A}"/>
                </a:ext>
              </a:extLst>
            </p:cNvPr>
            <p:cNvSpPr/>
            <p:nvPr/>
          </p:nvSpPr>
          <p:spPr>
            <a:xfrm>
              <a:off x="152400" y="76200"/>
              <a:ext cx="1676400" cy="1143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US">
                <a:latin typeface="Helvetica" panose="020B0604020202020204" pitchFamily="34" charset="0"/>
                <a:cs typeface="Helvetica" panose="020B0604020202020204" pitchFamily="34" charset="0"/>
              </a:endParaRPr>
            </a:p>
          </p:txBody>
        </p:sp>
        <p:pic>
          <p:nvPicPr>
            <p:cNvPr id="5" name="Picture 4" descr="http://images.wikia.com/logopedia/images/4/4a/Western_Washington_University_2010.png">
              <a:extLst>
                <a:ext uri="{FF2B5EF4-FFF2-40B4-BE49-F238E27FC236}">
                  <a16:creationId xmlns:a16="http://schemas.microsoft.com/office/drawing/2014/main" id="{DD7004CA-E86B-C5CE-A31F-CB3A8D815C6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1237" y="76200"/>
              <a:ext cx="1663602" cy="838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9" name="Rectangle 2">
            <a:extLst>
              <a:ext uri="{FF2B5EF4-FFF2-40B4-BE49-F238E27FC236}">
                <a16:creationId xmlns:a16="http://schemas.microsoft.com/office/drawing/2014/main" id="{8F965138-0470-85E0-2A8B-4F2180FCE2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1" name="Rectangle 4">
            <a:extLst>
              <a:ext uri="{FF2B5EF4-FFF2-40B4-BE49-F238E27FC236}">
                <a16:creationId xmlns:a16="http://schemas.microsoft.com/office/drawing/2014/main" id="{47690277-94AE-EABB-A0DE-4DC8E0A9C5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5812DB9-213D-AC0A-0236-E55DFA09B9A0}"/>
              </a:ext>
            </a:extLst>
          </p:cNvPr>
          <p:cNvSpPr txBox="1"/>
          <p:nvPr/>
        </p:nvSpPr>
        <p:spPr>
          <a:xfrm>
            <a:off x="1814839" y="123796"/>
            <a:ext cx="306904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accent1"/>
                </a:solidFill>
                <a:latin typeface="+mj-lt"/>
              </a:rPr>
              <a:t>Probing the Mechanism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61F52E5-CE7D-52E4-6E32-BA8C0549454F}"/>
              </a:ext>
            </a:extLst>
          </p:cNvPr>
          <p:cNvSpPr txBox="1"/>
          <p:nvPr/>
        </p:nvSpPr>
        <p:spPr>
          <a:xfrm>
            <a:off x="11814628" y="6518740"/>
            <a:ext cx="34176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46</a:t>
            </a: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6972F48F-DE21-7339-45C4-5C88820844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2424758"/>
              </p:ext>
            </p:extLst>
          </p:nvPr>
        </p:nvGraphicFramePr>
        <p:xfrm>
          <a:off x="7903700" y="4134178"/>
          <a:ext cx="3269946" cy="1584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9982">
                  <a:extLst>
                    <a:ext uri="{9D8B030D-6E8A-4147-A177-3AD203B41FA5}">
                      <a16:colId xmlns:a16="http://schemas.microsoft.com/office/drawing/2014/main" val="1390404902"/>
                    </a:ext>
                  </a:extLst>
                </a:gridCol>
                <a:gridCol w="853581">
                  <a:extLst>
                    <a:ext uri="{9D8B030D-6E8A-4147-A177-3AD203B41FA5}">
                      <a16:colId xmlns:a16="http://schemas.microsoft.com/office/drawing/2014/main" val="3419087946"/>
                    </a:ext>
                  </a:extLst>
                </a:gridCol>
                <a:gridCol w="1326383">
                  <a:extLst>
                    <a:ext uri="{9D8B030D-6E8A-4147-A177-3AD203B41FA5}">
                      <a16:colId xmlns:a16="http://schemas.microsoft.com/office/drawing/2014/main" val="2922823800"/>
                    </a:ext>
                  </a:extLst>
                </a:gridCol>
              </a:tblGrid>
              <a:tr h="539770">
                <a:tc>
                  <a:txBody>
                    <a:bodyPr/>
                    <a:lstStyle/>
                    <a:p>
                      <a:r>
                        <a:rPr lang="en-US" sz="1600" dirty="0"/>
                        <a:t>R</a:t>
                      </a:r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Epoxide</a:t>
                      </a:r>
                    </a:p>
                    <a:p>
                      <a:pPr algn="ctr"/>
                      <a:r>
                        <a:rPr lang="en-US" sz="1600" dirty="0" err="1"/>
                        <a:t>ee</a:t>
                      </a:r>
                      <a:r>
                        <a:rPr lang="en-US" sz="1600" cap="none" baseline="30000" dirty="0" err="1"/>
                        <a:t>A</a:t>
                      </a:r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Fluorohydrin</a:t>
                      </a:r>
                    </a:p>
                    <a:p>
                      <a:pPr algn="ctr"/>
                      <a:r>
                        <a:rPr lang="en-US" sz="1600" baseline="0" dirty="0" err="1"/>
                        <a:t>ee</a:t>
                      </a:r>
                      <a:r>
                        <a:rPr lang="en-US" sz="1600" baseline="30000" dirty="0" err="1"/>
                        <a:t>B</a:t>
                      </a:r>
                      <a:endParaRPr lang="en-GB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4496795"/>
                  </a:ext>
                </a:extLst>
              </a:tr>
              <a:tr h="308440">
                <a:tc>
                  <a:txBody>
                    <a:bodyPr/>
                    <a:lstStyle/>
                    <a:p>
                      <a:r>
                        <a:rPr lang="en-US" sz="1600" i="1" dirty="0"/>
                        <a:t>i</a:t>
                      </a:r>
                      <a:r>
                        <a:rPr lang="en-US" sz="1600" i="0" dirty="0"/>
                        <a:t>-Pr</a:t>
                      </a:r>
                      <a:r>
                        <a:rPr lang="en-US" sz="1600" i="0" baseline="-25000" dirty="0"/>
                        <a:t>3</a:t>
                      </a:r>
                      <a:endParaRPr lang="en-GB" sz="1600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60</a:t>
                      </a:r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60</a:t>
                      </a:r>
                      <a:endParaRPr lang="en-GB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7247461"/>
                  </a:ext>
                </a:extLst>
              </a:tr>
              <a:tr h="308440">
                <a:tc>
                  <a:txBody>
                    <a:bodyPr/>
                    <a:lstStyle/>
                    <a:p>
                      <a:r>
                        <a:rPr lang="en-US" sz="1600" dirty="0"/>
                        <a:t>Me</a:t>
                      </a:r>
                      <a:r>
                        <a:rPr lang="en-US" sz="1600" baseline="-25000" dirty="0"/>
                        <a:t>2</a:t>
                      </a:r>
                      <a:r>
                        <a:rPr lang="en-US" sz="1600" baseline="0" dirty="0"/>
                        <a:t>Ph</a:t>
                      </a:r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64</a:t>
                      </a:r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38</a:t>
                      </a:r>
                      <a:endParaRPr lang="en-GB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0960635"/>
                  </a:ext>
                </a:extLst>
              </a:tr>
              <a:tr h="308440">
                <a:tc>
                  <a:txBody>
                    <a:bodyPr/>
                    <a:lstStyle/>
                    <a:p>
                      <a:r>
                        <a:rPr lang="en-US" sz="1600" dirty="0"/>
                        <a:t>Ph</a:t>
                      </a:r>
                      <a:r>
                        <a:rPr lang="en-US" sz="1600" baseline="-25000" dirty="0"/>
                        <a:t>3</a:t>
                      </a:r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59</a:t>
                      </a:r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43</a:t>
                      </a:r>
                      <a:endParaRPr lang="en-GB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2847902"/>
                  </a:ext>
                </a:extLst>
              </a:tr>
            </a:tbl>
          </a:graphicData>
        </a:graphic>
      </p:graphicFrame>
      <p:graphicFrame>
        <p:nvGraphicFramePr>
          <p:cNvPr id="16" name="Object 15">
            <a:extLst>
              <a:ext uri="{FF2B5EF4-FFF2-40B4-BE49-F238E27FC236}">
                <a16:creationId xmlns:a16="http://schemas.microsoft.com/office/drawing/2014/main" id="{0E14A705-75EA-302B-45DB-B0A361D8C06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12154616"/>
              </p:ext>
            </p:extLst>
          </p:nvPr>
        </p:nvGraphicFramePr>
        <p:xfrm>
          <a:off x="578928" y="2474429"/>
          <a:ext cx="8067050" cy="192532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4" imgW="6205423" imgH="1481016" progId="ChemDraw.Document.6.0">
                  <p:embed/>
                </p:oleObj>
              </mc:Choice>
              <mc:Fallback>
                <p:oleObj name="CS ChemDraw Drawing" r:id="rId4" imgW="6205423" imgH="1481016" progId="ChemDraw.Document.6.0">
                  <p:embed/>
                  <p:pic>
                    <p:nvPicPr>
                      <p:cNvPr id="16" name="Object 15">
                        <a:extLst>
                          <a:ext uri="{FF2B5EF4-FFF2-40B4-BE49-F238E27FC236}">
                            <a16:creationId xmlns:a16="http://schemas.microsoft.com/office/drawing/2014/main" id="{0E14A705-75EA-302B-45DB-B0A361D8C06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78928" y="2474429"/>
                        <a:ext cx="8067050" cy="192532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E8E74C9D-AEF3-46BA-006E-CE38FBE74226}"/>
              </a:ext>
            </a:extLst>
          </p:cNvPr>
          <p:cNvSpPr txBox="1"/>
          <p:nvPr/>
        </p:nvSpPr>
        <p:spPr>
          <a:xfrm>
            <a:off x="7825310" y="5650096"/>
            <a:ext cx="346668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/>
              <a:t>Notes</a:t>
            </a:r>
            <a:r>
              <a:rPr lang="en-US" sz="1400" dirty="0"/>
              <a:t>: </a:t>
            </a:r>
            <a:r>
              <a:rPr lang="en-US" sz="1400" baseline="30000" dirty="0" err="1"/>
              <a:t>A</a:t>
            </a:r>
            <a:r>
              <a:rPr lang="en-US" sz="1400" dirty="0" err="1"/>
              <a:t>ee</a:t>
            </a:r>
            <a:r>
              <a:rPr lang="en-US" sz="1400" dirty="0"/>
              <a:t> from </a:t>
            </a:r>
            <a:r>
              <a:rPr lang="en-US" sz="1400" dirty="0" err="1"/>
              <a:t>d.r.</a:t>
            </a:r>
            <a:r>
              <a:rPr lang="en-US" sz="1400" dirty="0"/>
              <a:t> of bromomandelation. </a:t>
            </a:r>
          </a:p>
          <a:p>
            <a:r>
              <a:rPr lang="en-US" sz="1400" baseline="30000" dirty="0"/>
              <a:t>B</a:t>
            </a:r>
            <a:r>
              <a:rPr lang="en-US" sz="1400" dirty="0"/>
              <a:t>ee from </a:t>
            </a:r>
            <a:r>
              <a:rPr lang="en-US" sz="1400" dirty="0" err="1"/>
              <a:t>d.r.</a:t>
            </a:r>
            <a:r>
              <a:rPr lang="en-US" sz="1400" dirty="0"/>
              <a:t> of mosher esterification.</a:t>
            </a:r>
            <a:endParaRPr lang="en-GB" sz="1400" i="1" dirty="0"/>
          </a:p>
        </p:txBody>
      </p:sp>
      <p:graphicFrame>
        <p:nvGraphicFramePr>
          <p:cNvPr id="19" name="Object 18">
            <a:extLst>
              <a:ext uri="{FF2B5EF4-FFF2-40B4-BE49-F238E27FC236}">
                <a16:creationId xmlns:a16="http://schemas.microsoft.com/office/drawing/2014/main" id="{8B90D251-9090-E643-9005-5CB77BC8B53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39612244"/>
              </p:ext>
            </p:extLst>
          </p:nvPr>
        </p:nvGraphicFramePr>
        <p:xfrm>
          <a:off x="8645978" y="2849751"/>
          <a:ext cx="3168650" cy="1100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6" imgW="2438095" imgH="850080" progId="ChemDraw.Document.6.0">
                  <p:embed/>
                </p:oleObj>
              </mc:Choice>
              <mc:Fallback>
                <p:oleObj name="CS ChemDraw Drawing" r:id="rId6" imgW="2438095" imgH="850080" progId="ChemDraw.Document.6.0">
                  <p:embed/>
                  <p:pic>
                    <p:nvPicPr>
                      <p:cNvPr id="19" name="Object 18">
                        <a:extLst>
                          <a:ext uri="{FF2B5EF4-FFF2-40B4-BE49-F238E27FC236}">
                            <a16:creationId xmlns:a16="http://schemas.microsoft.com/office/drawing/2014/main" id="{8B90D251-9090-E643-9005-5CB77BC8B53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8645978" y="2849751"/>
                        <a:ext cx="3168650" cy="11001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22926B72-22C9-BD37-08E4-91742128C0A2}"/>
              </a:ext>
            </a:extLst>
          </p:cNvPr>
          <p:cNvSpPr txBox="1"/>
          <p:nvPr/>
        </p:nvSpPr>
        <p:spPr>
          <a:xfrm>
            <a:off x="1416952" y="1223755"/>
            <a:ext cx="8478898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Complete retention of </a:t>
            </a:r>
            <a:r>
              <a:rPr lang="en-US" sz="1800" i="1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ee</a:t>
            </a:r>
            <a:r>
              <a:rPr lang="en-US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 from the </a:t>
            </a:r>
            <a:r>
              <a:rPr lang="en-US" sz="1800" i="1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i</a:t>
            </a:r>
            <a:r>
              <a:rPr lang="en-US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-Pr</a:t>
            </a:r>
            <a:r>
              <a:rPr lang="en-US" sz="1800" baseline="-250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3</a:t>
            </a:r>
            <a:r>
              <a:rPr lang="en-US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. However, an erosion of </a:t>
            </a:r>
            <a:r>
              <a:rPr lang="en-US" sz="1800" i="1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ee</a:t>
            </a:r>
            <a:r>
              <a:rPr lang="en-US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 was observed for the other two epoxysilanes.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Times New Roman" panose="02020603050405020304" pitchFamily="18" charset="0"/>
              </a:rPr>
              <a:t>Suggests</a:t>
            </a:r>
            <a:r>
              <a:rPr lang="en-US" sz="1800" dirty="0">
                <a:solidFill>
                  <a:prstClr val="black"/>
                </a:solidFill>
              </a:rPr>
              <a:t> S</a:t>
            </a:r>
            <a:r>
              <a:rPr lang="en-US" sz="1800" baseline="-25000" dirty="0">
                <a:solidFill>
                  <a:prstClr val="black"/>
                </a:solidFill>
              </a:rPr>
              <a:t>N</a:t>
            </a:r>
            <a:r>
              <a:rPr lang="en-US" sz="1800" dirty="0">
                <a:solidFill>
                  <a:prstClr val="black"/>
                </a:solidFill>
              </a:rPr>
              <a:t>2 type mechanism.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Calibri" panose="020F0502020204030204" pitchFamily="34" charset="0"/>
              <a:ea typeface="Times New Roman" panose="02020603050405020304" pitchFamily="18" charset="0"/>
            </a:endParaRPr>
          </a:p>
          <a:p>
            <a:r>
              <a:rPr lang="en-US" dirty="0">
                <a:latin typeface="Calibri" panose="020F0502020204030204" pitchFamily="34" charset="0"/>
                <a:ea typeface="Times New Roman" panose="02020603050405020304" pitchFamily="18" charset="0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Calibri" panose="020F0502020204030204" pitchFamily="34" charset="0"/>
              <a:ea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>
              <a:effectLst/>
              <a:latin typeface="Calibri" panose="020F0502020204030204" pitchFamily="34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037364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BECE4DAC-6101-1A3B-229D-32218D73D899}"/>
              </a:ext>
            </a:extLst>
          </p:cNvPr>
          <p:cNvSpPr/>
          <p:nvPr/>
        </p:nvSpPr>
        <p:spPr>
          <a:xfrm>
            <a:off x="3159950" y="4230484"/>
            <a:ext cx="1118680" cy="1021405"/>
          </a:xfrm>
          <a:prstGeom prst="rect">
            <a:avLst/>
          </a:prstGeom>
          <a:solidFill>
            <a:schemeClr val="bg2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04BED40F-B9E9-799F-6ED2-F799442734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14775" y="336232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  <p:grpSp>
        <p:nvGrpSpPr>
          <p:cNvPr id="4" name="Group 14">
            <a:extLst>
              <a:ext uri="{FF2B5EF4-FFF2-40B4-BE49-F238E27FC236}">
                <a16:creationId xmlns:a16="http://schemas.microsoft.com/office/drawing/2014/main" id="{81443CF3-2B04-7563-6168-5CF296AA01BB}"/>
              </a:ext>
            </a:extLst>
          </p:cNvPr>
          <p:cNvGrpSpPr>
            <a:grpSpLocks/>
          </p:cNvGrpSpPr>
          <p:nvPr/>
        </p:nvGrpSpPr>
        <p:grpSpPr bwMode="auto">
          <a:xfrm>
            <a:off x="1" y="268804"/>
            <a:ext cx="9144000" cy="1143000"/>
            <a:chOff x="1" y="76200"/>
            <a:chExt cx="9144000" cy="1143000"/>
          </a:xfrm>
        </p:grpSpPr>
        <p:grpSp>
          <p:nvGrpSpPr>
            <p:cNvPr id="5" name="Group 15">
              <a:extLst>
                <a:ext uri="{FF2B5EF4-FFF2-40B4-BE49-F238E27FC236}">
                  <a16:creationId xmlns:a16="http://schemas.microsoft.com/office/drawing/2014/main" id="{0033BB7C-ADCE-7D29-4F6C-0DE445C000B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" y="161928"/>
              <a:ext cx="9144000" cy="993788"/>
              <a:chOff x="0" y="102"/>
              <a:chExt cx="5760" cy="626"/>
            </a:xfrm>
          </p:grpSpPr>
          <p:sp>
            <p:nvSpPr>
              <p:cNvPr id="8" name="Rectangle 3">
                <a:extLst>
                  <a:ext uri="{FF2B5EF4-FFF2-40B4-BE49-F238E27FC236}">
                    <a16:creationId xmlns:a16="http://schemas.microsoft.com/office/drawing/2014/main" id="{6C4CDFD6-26EE-D589-C2B3-5BD276C7644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0" y="332"/>
                <a:ext cx="5760" cy="233"/>
              </a:xfrm>
              <a:prstGeom prst="rect">
                <a:avLst/>
              </a:prstGeom>
              <a:gradFill rotWithShape="1">
                <a:gsLst>
                  <a:gs pos="0">
                    <a:srgbClr val="DDDDDD"/>
                  </a:gs>
                  <a:gs pos="100000">
                    <a:schemeClr val="tx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800">
                  <a:latin typeface="Helvetica" panose="020B0604020202020204" pitchFamily="34" charset="0"/>
                  <a:cs typeface="Helvetica" panose="020B0604020202020204" pitchFamily="34" charset="0"/>
                </a:endParaRPr>
              </a:p>
            </p:txBody>
          </p:sp>
          <p:pic>
            <p:nvPicPr>
              <p:cNvPr id="9" name="Picture 5" descr="images">
                <a:extLst>
                  <a:ext uri="{FF2B5EF4-FFF2-40B4-BE49-F238E27FC236}">
                    <a16:creationId xmlns:a16="http://schemas.microsoft.com/office/drawing/2014/main" id="{231C5456-F1E6-0004-8549-D59C9947D49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92" y="102"/>
                <a:ext cx="626" cy="6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03966C5-AD80-5973-BF00-163C8159D9B9}"/>
                </a:ext>
              </a:extLst>
            </p:cNvPr>
            <p:cNvSpPr/>
            <p:nvPr/>
          </p:nvSpPr>
          <p:spPr>
            <a:xfrm>
              <a:off x="152400" y="76200"/>
              <a:ext cx="1676400" cy="1143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US">
                <a:latin typeface="Helvetica" panose="020B0604020202020204" pitchFamily="34" charset="0"/>
                <a:cs typeface="Helvetica" panose="020B0604020202020204" pitchFamily="34" charset="0"/>
              </a:endParaRPr>
            </a:p>
          </p:txBody>
        </p:sp>
        <p:pic>
          <p:nvPicPr>
            <p:cNvPr id="7" name="Picture 6" descr="http://images.wikia.com/logopedia/images/4/4a/Western_Washington_University_2010.png">
              <a:extLst>
                <a:ext uri="{FF2B5EF4-FFF2-40B4-BE49-F238E27FC236}">
                  <a16:creationId xmlns:a16="http://schemas.microsoft.com/office/drawing/2014/main" id="{16276B6F-9E55-7BD6-7753-9CECA34114A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1237" y="76200"/>
              <a:ext cx="1663602" cy="838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4E72EDAC-2118-20F6-CF05-E45C3EEE1098}"/>
              </a:ext>
            </a:extLst>
          </p:cNvPr>
          <p:cNvSpPr txBox="1"/>
          <p:nvPr/>
        </p:nvSpPr>
        <p:spPr>
          <a:xfrm>
            <a:off x="1814843" y="123796"/>
            <a:ext cx="28719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accent1"/>
                </a:solidFill>
                <a:latin typeface="+mj-lt"/>
              </a:rPr>
              <a:t>The Beta-Silicon Effect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2F12F90-3887-EC1B-C09A-ABD5BDE29697}"/>
                  </a:ext>
                </a:extLst>
              </p:cNvPr>
              <p:cNvSpPr txBox="1"/>
              <p:nvPr/>
            </p:nvSpPr>
            <p:spPr>
              <a:xfrm>
                <a:off x="990600" y="1407563"/>
                <a:ext cx="9664700" cy="12003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b="1" dirty="0">
                    <a:latin typeface="Calibri" panose="020F0502020204030204" pitchFamily="34" charset="0"/>
                    <a:ea typeface="Times New Roman" panose="02020603050405020304" pitchFamily="18" charset="0"/>
                  </a:rPr>
                  <a:t>T</a:t>
                </a:r>
                <a:r>
                  <a:rPr lang="en-US" sz="1800" b="1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</a:rPr>
                  <a:t>he C-Si </a:t>
                </a:r>
                <a14:m>
                  <m:oMath xmlns:m="http://schemas.openxmlformats.org/officeDocument/2006/math">
                    <m:r>
                      <a:rPr lang="en-US" sz="1800" b="1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𝝈</m:t>
                    </m:r>
                  </m:oMath>
                </a14:m>
                <a:r>
                  <a:rPr lang="en-US" sz="1800" b="1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</a:rPr>
                  <a:t> orbital can donate electron density into the C-X </a:t>
                </a:r>
                <a14:m>
                  <m:oMath xmlns:m="http://schemas.openxmlformats.org/officeDocument/2006/math">
                    <m:r>
                      <a:rPr lang="en-US" sz="1800" b="1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𝝈</m:t>
                    </m:r>
                  </m:oMath>
                </a14:m>
                <a:r>
                  <a:rPr lang="en-US" sz="1800" b="1" baseline="300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</a:rPr>
                  <a:t>*</a:t>
                </a:r>
                <a:r>
                  <a:rPr lang="en-US" sz="1800" b="1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</a:rPr>
                  <a:t> orbital, thus weakening the bond. </a:t>
                </a:r>
                <a:endParaRPr lang="en-US" b="1" dirty="0">
                  <a:latin typeface="Calibri" panose="020F0502020204030204" pitchFamily="34" charset="0"/>
                  <a:ea typeface="Times New Roman" panose="020206030504050203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800" b="1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</a:rPr>
                  <a:t>This orbital intera</a:t>
                </a:r>
                <a:r>
                  <a:rPr lang="en-US" b="1" dirty="0">
                    <a:latin typeface="Calibri" panose="020F0502020204030204" pitchFamily="34" charset="0"/>
                    <a:ea typeface="Times New Roman" panose="02020603050405020304" pitchFamily="18" charset="0"/>
                  </a:rPr>
                  <a:t>ction is maximized in the </a:t>
                </a:r>
                <a:r>
                  <a:rPr lang="en-US" b="1" i="1" dirty="0">
                    <a:latin typeface="Calibri" panose="020F0502020204030204" pitchFamily="34" charset="0"/>
                    <a:ea typeface="Times New Roman" panose="02020603050405020304" pitchFamily="18" charset="0"/>
                  </a:rPr>
                  <a:t>anti</a:t>
                </a:r>
                <a:r>
                  <a:rPr lang="en-US" b="1" dirty="0">
                    <a:latin typeface="Calibri" panose="020F0502020204030204" pitchFamily="34" charset="0"/>
                    <a:ea typeface="Times New Roman" panose="02020603050405020304" pitchFamily="18" charset="0"/>
                  </a:rPr>
                  <a:t> conformation.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</a:rPr>
                  <a:t>C-H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𝜎</m:t>
                    </m:r>
                  </m:oMath>
                </a14:m>
                <a:r>
                  <a:rPr lang="en-US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</a:rPr>
                  <a:t> orbital can donate electron density into the C-F </a:t>
                </a:r>
                <a14:m>
                  <m:oMath xmlns:m="http://schemas.openxmlformats.org/officeDocument/2006/math">
                    <m:r>
                      <a:rPr lang="en-US" sz="1800" b="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𝜎</m:t>
                    </m:r>
                  </m:oMath>
                </a14:m>
                <a:r>
                  <a:rPr lang="en-US" sz="1800" baseline="300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</a:rPr>
                  <a:t>*</a:t>
                </a:r>
                <a:r>
                  <a:rPr lang="en-US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</a:rPr>
                  <a:t> orbital stabilizing this effect.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>
                    <a:latin typeface="Calibri" panose="020F0502020204030204" pitchFamily="34" charset="0"/>
                    <a:ea typeface="Times New Roman" panose="02020603050405020304" pitchFamily="18" charset="0"/>
                  </a:rPr>
                  <a:t>Reported with fluorine, oxygen, nitrogen, and most recently sulfur.</a:t>
                </a:r>
                <a:endParaRPr lang="en-US" sz="1800" dirty="0">
                  <a:effectLst/>
                  <a:latin typeface="Calibri" panose="020F0502020204030204" pitchFamily="34" charset="0"/>
                  <a:ea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2F12F90-3887-EC1B-C09A-ABD5BDE296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0600" y="1407563"/>
                <a:ext cx="9664700" cy="1200329"/>
              </a:xfrm>
              <a:prstGeom prst="rect">
                <a:avLst/>
              </a:prstGeom>
              <a:blipFill>
                <a:blip r:embed="rId6"/>
                <a:stretch>
                  <a:fillRect l="-442" t="-3046" b="-71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DF82D456-522F-C947-C633-1F507E464B61}"/>
              </a:ext>
            </a:extLst>
          </p:cNvPr>
          <p:cNvSpPr txBox="1"/>
          <p:nvPr/>
        </p:nvSpPr>
        <p:spPr>
          <a:xfrm>
            <a:off x="0" y="6422111"/>
            <a:ext cx="2393661" cy="4358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Silicon in Organic Synthesis Colvin, E. Butterworth: London </a:t>
            </a:r>
            <a:r>
              <a:rPr lang="en-US" sz="1000" b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1981</a:t>
            </a:r>
            <a:endParaRPr lang="en-GB" sz="105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BD4BF5A-70CF-6014-06B0-789BE3E7C3ED}"/>
              </a:ext>
            </a:extLst>
          </p:cNvPr>
          <p:cNvSpPr txBox="1"/>
          <p:nvPr/>
        </p:nvSpPr>
        <p:spPr>
          <a:xfrm>
            <a:off x="11814628" y="6518740"/>
            <a:ext cx="34176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61</a:t>
            </a:r>
          </a:p>
        </p:txBody>
      </p:sp>
      <p:graphicFrame>
        <p:nvGraphicFramePr>
          <p:cNvPr id="13" name="Object 12">
            <a:extLst>
              <a:ext uri="{FF2B5EF4-FFF2-40B4-BE49-F238E27FC236}">
                <a16:creationId xmlns:a16="http://schemas.microsoft.com/office/drawing/2014/main" id="{0AB437CC-A55A-69E9-15AE-BB1E4AE6A90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62069822"/>
              </p:ext>
            </p:extLst>
          </p:nvPr>
        </p:nvGraphicFramePr>
        <p:xfrm>
          <a:off x="1298575" y="2994025"/>
          <a:ext cx="4802188" cy="2482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7" imgW="3693871" imgH="1910576" progId="ChemDraw.Document.6.0">
                  <p:embed/>
                </p:oleObj>
              </mc:Choice>
              <mc:Fallback>
                <p:oleObj name="CS ChemDraw Drawing" r:id="rId7" imgW="3693871" imgH="1910576" progId="ChemDraw.Document.6.0">
                  <p:embed/>
                  <p:pic>
                    <p:nvPicPr>
                      <p:cNvPr id="13" name="Object 12">
                        <a:extLst>
                          <a:ext uri="{FF2B5EF4-FFF2-40B4-BE49-F238E27FC236}">
                            <a16:creationId xmlns:a16="http://schemas.microsoft.com/office/drawing/2014/main" id="{0AB437CC-A55A-69E9-15AE-BB1E4AE6A90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8575" y="2994025"/>
                        <a:ext cx="4802188" cy="24828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9338874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2C262232-BBAC-EDEC-55C4-7F967BCA5011}"/>
              </a:ext>
            </a:extLst>
          </p:cNvPr>
          <p:cNvSpPr/>
          <p:nvPr/>
        </p:nvSpPr>
        <p:spPr>
          <a:xfrm>
            <a:off x="3159950" y="4230484"/>
            <a:ext cx="1118680" cy="1021405"/>
          </a:xfrm>
          <a:prstGeom prst="rect">
            <a:avLst/>
          </a:prstGeom>
          <a:solidFill>
            <a:schemeClr val="bg2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74728A49-67C3-1335-8AB5-6833976F519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91156465"/>
              </p:ext>
            </p:extLst>
          </p:nvPr>
        </p:nvGraphicFramePr>
        <p:xfrm>
          <a:off x="1298575" y="2994025"/>
          <a:ext cx="4802188" cy="2482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2" imgW="3693871" imgH="1910576" progId="ChemDraw.Document.6.0">
                  <p:embed/>
                </p:oleObj>
              </mc:Choice>
              <mc:Fallback>
                <p:oleObj name="CS ChemDraw Drawing" r:id="rId2" imgW="3693871" imgH="1910576" progId="ChemDraw.Document.6.0">
                  <p:embed/>
                  <p:pic>
                    <p:nvPicPr>
                      <p:cNvPr id="3" name="Object 2">
                        <a:extLst>
                          <a:ext uri="{FF2B5EF4-FFF2-40B4-BE49-F238E27FC236}">
                            <a16:creationId xmlns:a16="http://schemas.microsoft.com/office/drawing/2014/main" id="{74728A49-67C3-1335-8AB5-6833976F519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8575" y="2994025"/>
                        <a:ext cx="4802188" cy="24828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2">
            <a:extLst>
              <a:ext uri="{FF2B5EF4-FFF2-40B4-BE49-F238E27FC236}">
                <a16:creationId xmlns:a16="http://schemas.microsoft.com/office/drawing/2014/main" id="{04BED40F-B9E9-799F-6ED2-F799442734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14775" y="336232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  <p:grpSp>
        <p:nvGrpSpPr>
          <p:cNvPr id="4" name="Group 14">
            <a:extLst>
              <a:ext uri="{FF2B5EF4-FFF2-40B4-BE49-F238E27FC236}">
                <a16:creationId xmlns:a16="http://schemas.microsoft.com/office/drawing/2014/main" id="{81443CF3-2B04-7563-6168-5CF296AA01BB}"/>
              </a:ext>
            </a:extLst>
          </p:cNvPr>
          <p:cNvGrpSpPr>
            <a:grpSpLocks/>
          </p:cNvGrpSpPr>
          <p:nvPr/>
        </p:nvGrpSpPr>
        <p:grpSpPr bwMode="auto">
          <a:xfrm>
            <a:off x="1" y="268804"/>
            <a:ext cx="9144000" cy="1143000"/>
            <a:chOff x="1" y="76200"/>
            <a:chExt cx="9144000" cy="1143000"/>
          </a:xfrm>
        </p:grpSpPr>
        <p:grpSp>
          <p:nvGrpSpPr>
            <p:cNvPr id="5" name="Group 15">
              <a:extLst>
                <a:ext uri="{FF2B5EF4-FFF2-40B4-BE49-F238E27FC236}">
                  <a16:creationId xmlns:a16="http://schemas.microsoft.com/office/drawing/2014/main" id="{0033BB7C-ADCE-7D29-4F6C-0DE445C000B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" y="161928"/>
              <a:ext cx="9144000" cy="993788"/>
              <a:chOff x="0" y="102"/>
              <a:chExt cx="5760" cy="626"/>
            </a:xfrm>
          </p:grpSpPr>
          <p:sp>
            <p:nvSpPr>
              <p:cNvPr id="8" name="Rectangle 3">
                <a:extLst>
                  <a:ext uri="{FF2B5EF4-FFF2-40B4-BE49-F238E27FC236}">
                    <a16:creationId xmlns:a16="http://schemas.microsoft.com/office/drawing/2014/main" id="{6C4CDFD6-26EE-D589-C2B3-5BD276C7644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0" y="332"/>
                <a:ext cx="5760" cy="233"/>
              </a:xfrm>
              <a:prstGeom prst="rect">
                <a:avLst/>
              </a:prstGeom>
              <a:gradFill rotWithShape="1">
                <a:gsLst>
                  <a:gs pos="0">
                    <a:srgbClr val="DDDDDD"/>
                  </a:gs>
                  <a:gs pos="100000">
                    <a:schemeClr val="tx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800">
                  <a:latin typeface="Helvetica" panose="020B0604020202020204" pitchFamily="34" charset="0"/>
                  <a:cs typeface="Helvetica" panose="020B0604020202020204" pitchFamily="34" charset="0"/>
                </a:endParaRPr>
              </a:p>
            </p:txBody>
          </p:sp>
          <p:pic>
            <p:nvPicPr>
              <p:cNvPr id="9" name="Picture 5" descr="images">
                <a:extLst>
                  <a:ext uri="{FF2B5EF4-FFF2-40B4-BE49-F238E27FC236}">
                    <a16:creationId xmlns:a16="http://schemas.microsoft.com/office/drawing/2014/main" id="{231C5456-F1E6-0004-8549-D59C9947D49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92" y="102"/>
                <a:ext cx="626" cy="6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03966C5-AD80-5973-BF00-163C8159D9B9}"/>
                </a:ext>
              </a:extLst>
            </p:cNvPr>
            <p:cNvSpPr/>
            <p:nvPr/>
          </p:nvSpPr>
          <p:spPr>
            <a:xfrm>
              <a:off x="152400" y="76200"/>
              <a:ext cx="1676400" cy="1143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US">
                <a:latin typeface="Helvetica" panose="020B0604020202020204" pitchFamily="34" charset="0"/>
                <a:cs typeface="Helvetica" panose="020B0604020202020204" pitchFamily="34" charset="0"/>
              </a:endParaRPr>
            </a:p>
          </p:txBody>
        </p:sp>
        <p:pic>
          <p:nvPicPr>
            <p:cNvPr id="7" name="Picture 6" descr="http://images.wikia.com/logopedia/images/4/4a/Western_Washington_University_2010.png">
              <a:extLst>
                <a:ext uri="{FF2B5EF4-FFF2-40B4-BE49-F238E27FC236}">
                  <a16:creationId xmlns:a16="http://schemas.microsoft.com/office/drawing/2014/main" id="{16276B6F-9E55-7BD6-7753-9CECA34114A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1237" y="76200"/>
              <a:ext cx="1663602" cy="838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4E72EDAC-2118-20F6-CF05-E45C3EEE1098}"/>
              </a:ext>
            </a:extLst>
          </p:cNvPr>
          <p:cNvSpPr txBox="1"/>
          <p:nvPr/>
        </p:nvSpPr>
        <p:spPr>
          <a:xfrm>
            <a:off x="1814843" y="123796"/>
            <a:ext cx="58198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accent1"/>
                </a:solidFill>
                <a:latin typeface="+mj-lt"/>
              </a:rPr>
              <a:t>The Beta-Silicon Effect / Fluorine </a:t>
            </a:r>
            <a:r>
              <a:rPr lang="en-US" sz="2400" b="1" i="1" dirty="0">
                <a:solidFill>
                  <a:schemeClr val="accent1"/>
                </a:solidFill>
                <a:latin typeface="+mj-lt"/>
              </a:rPr>
              <a:t>gauche</a:t>
            </a:r>
            <a:r>
              <a:rPr lang="en-US" sz="2400" b="1" dirty="0">
                <a:solidFill>
                  <a:schemeClr val="accent1"/>
                </a:solidFill>
                <a:latin typeface="+mj-lt"/>
              </a:rPr>
              <a:t> Effect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2F12F90-3887-EC1B-C09A-ABD5BDE29697}"/>
                  </a:ext>
                </a:extLst>
              </p:cNvPr>
              <p:cNvSpPr txBox="1"/>
              <p:nvPr/>
            </p:nvSpPr>
            <p:spPr>
              <a:xfrm>
                <a:off x="990600" y="1407563"/>
                <a:ext cx="9664700" cy="12003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>
                    <a:latin typeface="Calibri" panose="020F0502020204030204" pitchFamily="34" charset="0"/>
                    <a:ea typeface="Times New Roman" panose="02020603050405020304" pitchFamily="18" charset="0"/>
                  </a:rPr>
                  <a:t>T</a:t>
                </a:r>
                <a:r>
                  <a:rPr lang="en-US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</a:rPr>
                  <a:t>he C-Si </a:t>
                </a:r>
                <a14:m>
                  <m:oMath xmlns:m="http://schemas.openxmlformats.org/officeDocument/2006/math">
                    <m:r>
                      <a:rPr lang="en-US" sz="1800" b="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𝜎</m:t>
                    </m:r>
                  </m:oMath>
                </a14:m>
                <a:r>
                  <a:rPr lang="en-US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</a:rPr>
                  <a:t> orbital can donate electron density into the C-X </a:t>
                </a:r>
                <a14:m>
                  <m:oMath xmlns:m="http://schemas.openxmlformats.org/officeDocument/2006/math">
                    <m:r>
                      <a:rPr lang="en-US" sz="1800" b="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𝜎</m:t>
                    </m:r>
                  </m:oMath>
                </a14:m>
                <a:r>
                  <a:rPr lang="en-US" sz="1800" baseline="300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</a:rPr>
                  <a:t>*</a:t>
                </a:r>
                <a:r>
                  <a:rPr lang="en-US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</a:rPr>
                  <a:t> orbital, thus weakening the bond. </a:t>
                </a:r>
                <a:endParaRPr lang="en-US" dirty="0">
                  <a:latin typeface="Calibri" panose="020F0502020204030204" pitchFamily="34" charset="0"/>
                  <a:ea typeface="Times New Roman" panose="020206030504050203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</a:rPr>
                  <a:t>This orbital intera</a:t>
                </a:r>
                <a:r>
                  <a:rPr lang="en-US" dirty="0">
                    <a:latin typeface="Calibri" panose="020F0502020204030204" pitchFamily="34" charset="0"/>
                    <a:ea typeface="Times New Roman" panose="02020603050405020304" pitchFamily="18" charset="0"/>
                  </a:rPr>
                  <a:t>ction is maximized in the </a:t>
                </a:r>
                <a:r>
                  <a:rPr lang="en-US" i="1" dirty="0">
                    <a:latin typeface="Calibri" panose="020F0502020204030204" pitchFamily="34" charset="0"/>
                    <a:ea typeface="Times New Roman" panose="02020603050405020304" pitchFamily="18" charset="0"/>
                  </a:rPr>
                  <a:t>anti</a:t>
                </a:r>
                <a:r>
                  <a:rPr lang="en-US" dirty="0">
                    <a:latin typeface="Calibri" panose="020F0502020204030204" pitchFamily="34" charset="0"/>
                    <a:ea typeface="Times New Roman" panose="02020603050405020304" pitchFamily="18" charset="0"/>
                  </a:rPr>
                  <a:t> conformation.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800" b="1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</a:rPr>
                  <a:t>C-H </a:t>
                </a:r>
                <a14:m>
                  <m:oMath xmlns:m="http://schemas.openxmlformats.org/officeDocument/2006/math">
                    <m:r>
                      <a:rPr lang="en-US" sz="1800" b="1" i="1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𝝈</m:t>
                    </m:r>
                  </m:oMath>
                </a14:m>
                <a:r>
                  <a:rPr lang="en-US" sz="1800" b="1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</a:rPr>
                  <a:t> orbital can donate electron density into the C-F </a:t>
                </a:r>
                <a14:m>
                  <m:oMath xmlns:m="http://schemas.openxmlformats.org/officeDocument/2006/math">
                    <m:r>
                      <a:rPr lang="en-US" sz="1800" b="1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𝝈</m:t>
                    </m:r>
                  </m:oMath>
                </a14:m>
                <a:r>
                  <a:rPr lang="en-US" sz="1800" b="1" baseline="300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</a:rPr>
                  <a:t>*</a:t>
                </a:r>
                <a:r>
                  <a:rPr lang="en-US" sz="1800" b="1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</a:rPr>
                  <a:t> orbital stabilizing this effect.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b="1" dirty="0">
                    <a:latin typeface="Calibri" panose="020F0502020204030204" pitchFamily="34" charset="0"/>
                    <a:ea typeface="Times New Roman" panose="02020603050405020304" pitchFamily="18" charset="0"/>
                  </a:rPr>
                  <a:t>Reported with fluorine, oxygen, nitrogen, and most recently sulfur.</a:t>
                </a:r>
                <a:endParaRPr lang="en-US" sz="1800" b="1" dirty="0">
                  <a:effectLst/>
                  <a:latin typeface="Calibri" panose="020F0502020204030204" pitchFamily="34" charset="0"/>
                  <a:ea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2F12F90-3887-EC1B-C09A-ABD5BDE296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0600" y="1407563"/>
                <a:ext cx="9664700" cy="1200329"/>
              </a:xfrm>
              <a:prstGeom prst="rect">
                <a:avLst/>
              </a:prstGeom>
              <a:blipFill>
                <a:blip r:embed="rId6"/>
                <a:stretch>
                  <a:fillRect l="-442" t="-3046" b="-71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DF82D456-522F-C947-C633-1F507E464B61}"/>
              </a:ext>
            </a:extLst>
          </p:cNvPr>
          <p:cNvSpPr txBox="1"/>
          <p:nvPr/>
        </p:nvSpPr>
        <p:spPr>
          <a:xfrm>
            <a:off x="0" y="6422111"/>
            <a:ext cx="2393661" cy="4358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Silicon in Organic Synthesis Colvin, E. Butterworth: London </a:t>
            </a:r>
            <a:r>
              <a:rPr lang="en-US" sz="1000" b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1981</a:t>
            </a:r>
            <a:endParaRPr lang="en-GB" sz="105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13" name="Object 12">
            <a:extLst>
              <a:ext uri="{FF2B5EF4-FFF2-40B4-BE49-F238E27FC236}">
                <a16:creationId xmlns:a16="http://schemas.microsoft.com/office/drawing/2014/main" id="{00DF786D-075B-8719-FB20-9FA48DA73C4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42538588"/>
              </p:ext>
            </p:extLst>
          </p:nvPr>
        </p:nvGraphicFramePr>
        <p:xfrm>
          <a:off x="7059613" y="3027363"/>
          <a:ext cx="3199242" cy="29854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7" imgW="2460955" imgH="2296495" progId="ChemDraw.Document.6.0">
                  <p:embed/>
                </p:oleObj>
              </mc:Choice>
              <mc:Fallback>
                <p:oleObj name="CS ChemDraw Drawing" r:id="rId7" imgW="2460955" imgH="2296495" progId="ChemDraw.Document.6.0">
                  <p:embed/>
                  <p:pic>
                    <p:nvPicPr>
                      <p:cNvPr id="13" name="Object 12">
                        <a:extLst>
                          <a:ext uri="{FF2B5EF4-FFF2-40B4-BE49-F238E27FC236}">
                            <a16:creationId xmlns:a16="http://schemas.microsoft.com/office/drawing/2014/main" id="{00DF786D-075B-8719-FB20-9FA48DA73C4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7059613" y="3027363"/>
                        <a:ext cx="3199242" cy="298544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A286DB28-151D-AF8F-700F-0E5A7F1F95D2}"/>
              </a:ext>
            </a:extLst>
          </p:cNvPr>
          <p:cNvSpPr txBox="1"/>
          <p:nvPr/>
        </p:nvSpPr>
        <p:spPr>
          <a:xfrm>
            <a:off x="11814628" y="6518740"/>
            <a:ext cx="34176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62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2381CC2-4733-8C92-2CD5-A615D43464DF}"/>
              </a:ext>
            </a:extLst>
          </p:cNvPr>
          <p:cNvCxnSpPr/>
          <p:nvPr/>
        </p:nvCxnSpPr>
        <p:spPr>
          <a:xfrm>
            <a:off x="6561573" y="2793058"/>
            <a:ext cx="0" cy="364755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9902327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4">
            <a:extLst>
              <a:ext uri="{FF2B5EF4-FFF2-40B4-BE49-F238E27FC236}">
                <a16:creationId xmlns:a16="http://schemas.microsoft.com/office/drawing/2014/main" id="{6FFA88E9-9DDB-F5FE-E49C-3A6CA8FC3AF8}"/>
              </a:ext>
            </a:extLst>
          </p:cNvPr>
          <p:cNvGrpSpPr>
            <a:grpSpLocks/>
          </p:cNvGrpSpPr>
          <p:nvPr/>
        </p:nvGrpSpPr>
        <p:grpSpPr bwMode="auto">
          <a:xfrm>
            <a:off x="1" y="268804"/>
            <a:ext cx="9144000" cy="1143000"/>
            <a:chOff x="1" y="76200"/>
            <a:chExt cx="9144000" cy="1143000"/>
          </a:xfrm>
        </p:grpSpPr>
        <p:grpSp>
          <p:nvGrpSpPr>
            <p:cNvPr id="3" name="Group 15">
              <a:extLst>
                <a:ext uri="{FF2B5EF4-FFF2-40B4-BE49-F238E27FC236}">
                  <a16:creationId xmlns:a16="http://schemas.microsoft.com/office/drawing/2014/main" id="{94790C34-3FC2-C805-563F-2BC596128C2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" y="161928"/>
              <a:ext cx="9144000" cy="993788"/>
              <a:chOff x="0" y="102"/>
              <a:chExt cx="5760" cy="626"/>
            </a:xfrm>
          </p:grpSpPr>
          <p:sp>
            <p:nvSpPr>
              <p:cNvPr id="6" name="Rectangle 3">
                <a:extLst>
                  <a:ext uri="{FF2B5EF4-FFF2-40B4-BE49-F238E27FC236}">
                    <a16:creationId xmlns:a16="http://schemas.microsoft.com/office/drawing/2014/main" id="{77C081ED-CF3C-D08E-4DF9-0927F7F037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0" y="332"/>
                <a:ext cx="5760" cy="233"/>
              </a:xfrm>
              <a:prstGeom prst="rect">
                <a:avLst/>
              </a:prstGeom>
              <a:gradFill rotWithShape="1">
                <a:gsLst>
                  <a:gs pos="0">
                    <a:srgbClr val="DDDDDD"/>
                  </a:gs>
                  <a:gs pos="100000">
                    <a:schemeClr val="tx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800">
                  <a:latin typeface="Helvetica" panose="020B0604020202020204" pitchFamily="34" charset="0"/>
                  <a:cs typeface="Helvetica" panose="020B0604020202020204" pitchFamily="34" charset="0"/>
                </a:endParaRPr>
              </a:p>
            </p:txBody>
          </p:sp>
          <p:pic>
            <p:nvPicPr>
              <p:cNvPr id="7" name="Picture 5" descr="images">
                <a:extLst>
                  <a:ext uri="{FF2B5EF4-FFF2-40B4-BE49-F238E27FC236}">
                    <a16:creationId xmlns:a16="http://schemas.microsoft.com/office/drawing/2014/main" id="{1B306D63-50CE-22D1-22DD-A74D2D48363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92" y="102"/>
                <a:ext cx="626" cy="6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62D551A7-127E-2421-2FE8-36A806AD3E5A}"/>
                </a:ext>
              </a:extLst>
            </p:cNvPr>
            <p:cNvSpPr/>
            <p:nvPr/>
          </p:nvSpPr>
          <p:spPr>
            <a:xfrm>
              <a:off x="152400" y="76200"/>
              <a:ext cx="1676400" cy="1143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US">
                <a:latin typeface="Helvetica" panose="020B0604020202020204" pitchFamily="34" charset="0"/>
                <a:cs typeface="Helvetica" panose="020B0604020202020204" pitchFamily="34" charset="0"/>
              </a:endParaRPr>
            </a:p>
          </p:txBody>
        </p:sp>
        <p:pic>
          <p:nvPicPr>
            <p:cNvPr id="5" name="Picture 4" descr="http://images.wikia.com/logopedia/images/4/4a/Western_Washington_University_2010.png">
              <a:extLst>
                <a:ext uri="{FF2B5EF4-FFF2-40B4-BE49-F238E27FC236}">
                  <a16:creationId xmlns:a16="http://schemas.microsoft.com/office/drawing/2014/main" id="{DD7004CA-E86B-C5CE-A31F-CB3A8D815C6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1237" y="76200"/>
              <a:ext cx="1663602" cy="838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DD30D270-8517-EECD-9F2E-787C3C6883CA}"/>
              </a:ext>
            </a:extLst>
          </p:cNvPr>
          <p:cNvSpPr txBox="1"/>
          <p:nvPr/>
        </p:nvSpPr>
        <p:spPr>
          <a:xfrm>
            <a:off x="1814839" y="123796"/>
            <a:ext cx="152099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accent1"/>
                </a:solidFill>
                <a:latin typeface="+mj-lt"/>
              </a:rPr>
              <a:t>NMR study</a:t>
            </a: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C40D97E7-A7FD-2B54-25E8-EDF00F8DEE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AD37BD9-CDCE-38DD-8E9D-578603F3BC4C}"/>
              </a:ext>
            </a:extLst>
          </p:cNvPr>
          <p:cNvSpPr txBox="1"/>
          <p:nvPr/>
        </p:nvSpPr>
        <p:spPr>
          <a:xfrm>
            <a:off x="1450977" y="1271255"/>
            <a:ext cx="914400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Hyperconjugation considerations would suggest a preferred anti-periplanar C-Si and C-F arrangement, with stabilization afforded by the overlap between the high energy σ C-Si and the low energy σ* C-F.</a:t>
            </a:r>
            <a:endParaRPr lang="en-GB" sz="1600" dirty="0">
              <a:latin typeface="Calibri" panose="020F0502020204030204" pitchFamily="34" charset="0"/>
              <a:ea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>
                <a:latin typeface="Calibri" panose="020F0502020204030204" pitchFamily="34" charset="0"/>
                <a:ea typeface="Times New Roman" panose="02020603050405020304" pitchFamily="18" charset="0"/>
              </a:rPr>
              <a:t>Interestingly,</a:t>
            </a:r>
            <a:r>
              <a:rPr lang="en-GB" sz="1600" baseline="30000" dirty="0">
                <a:latin typeface="Calibri" panose="020F0502020204030204" pitchFamily="34" charset="0"/>
                <a:ea typeface="Times New Roman" panose="02020603050405020304" pitchFamily="18" charset="0"/>
              </a:rPr>
              <a:t> 1</a:t>
            </a:r>
            <a:r>
              <a:rPr lang="en-GB" sz="1600" dirty="0">
                <a:latin typeface="Calibri" panose="020F0502020204030204" pitchFamily="34" charset="0"/>
                <a:ea typeface="Times New Roman" panose="02020603050405020304" pitchFamily="18" charset="0"/>
              </a:rPr>
              <a:t>H NMR analysis provides evidence that the observed conformation is </a:t>
            </a:r>
            <a:r>
              <a:rPr lang="en-GB" sz="1600" i="1" dirty="0">
                <a:latin typeface="Calibri" panose="020F0502020204030204" pitchFamily="34" charset="0"/>
                <a:ea typeface="Times New Roman" panose="02020603050405020304" pitchFamily="18" charset="0"/>
              </a:rPr>
              <a:t>gauche</a:t>
            </a:r>
            <a:r>
              <a:rPr lang="en-GB" sz="1600" dirty="0">
                <a:latin typeface="Calibri" panose="020F0502020204030204" pitchFamily="34" charset="0"/>
                <a:ea typeface="Times New Roman" panose="02020603050405020304" pitchFamily="18" charset="0"/>
              </a:rPr>
              <a:t>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>
                <a:latin typeface="Calibri" panose="020F0502020204030204" pitchFamily="34" charset="0"/>
                <a:ea typeface="Times New Roman" panose="02020603050405020304" pitchFamily="18" charset="0"/>
              </a:rPr>
              <a:t>Both fluorohydrins display one large (33-35 Hz) and one small (13.5-13.6 Hz) </a:t>
            </a:r>
            <a:r>
              <a:rPr lang="en-GB" sz="1600" baseline="30000" dirty="0">
                <a:latin typeface="Calibri" panose="020F0502020204030204" pitchFamily="34" charset="0"/>
                <a:ea typeface="Times New Roman" panose="02020603050405020304" pitchFamily="18" charset="0"/>
              </a:rPr>
              <a:t>3</a:t>
            </a:r>
            <a:r>
              <a:rPr lang="en-GB" sz="1600" dirty="0">
                <a:latin typeface="Calibri" panose="020F0502020204030204" pitchFamily="34" charset="0"/>
                <a:ea typeface="Times New Roman" panose="02020603050405020304" pitchFamily="18" charset="0"/>
              </a:rPr>
              <a:t>J</a:t>
            </a:r>
            <a:r>
              <a:rPr lang="en-GB" sz="1600" baseline="-25000" dirty="0">
                <a:latin typeface="Calibri" panose="020F0502020204030204" pitchFamily="34" charset="0"/>
                <a:ea typeface="Times New Roman" panose="02020603050405020304" pitchFamily="18" charset="0"/>
              </a:rPr>
              <a:t>HF</a:t>
            </a:r>
            <a:r>
              <a:rPr lang="en-GB" sz="1600" dirty="0">
                <a:latin typeface="Calibri" panose="020F0502020204030204" pitchFamily="34" charset="0"/>
                <a:ea typeface="Times New Roman" panose="02020603050405020304" pitchFamily="18" charset="0"/>
              </a:rPr>
              <a:t> coupling constant</a:t>
            </a:r>
            <a:r>
              <a:rPr lang="en-GB" sz="16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.</a:t>
            </a:r>
            <a:endParaRPr lang="en-US" sz="1600" dirty="0">
              <a:effectLst/>
              <a:latin typeface="Calibri" panose="020F0502020204030204" pitchFamily="34" charset="0"/>
              <a:ea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9F93EC5-C662-C4B1-A5FA-4BF962F4EC74}"/>
              </a:ext>
            </a:extLst>
          </p:cNvPr>
          <p:cNvSpPr txBox="1"/>
          <p:nvPr/>
        </p:nvSpPr>
        <p:spPr>
          <a:xfrm>
            <a:off x="-40192" y="6190357"/>
            <a:ext cx="3335833" cy="7200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900" dirty="0"/>
              <a:t>Alabugin, I. V.; Gomes, dos Passos Gomes, G.; Abdo, M. A. "Hyperconjugation" WIREs Comput. Mol. Sci. 2019, 9, e1389</a:t>
            </a:r>
            <a:endParaRPr lang="en-US" sz="90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R="0"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9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Dolbier</a:t>
            </a:r>
            <a:r>
              <a:rPr lang="en-US" sz="9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W. R. </a:t>
            </a:r>
            <a:r>
              <a:rPr lang="en-US" sz="9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Guide to Fluorine NMR for Organic Chemists. </a:t>
            </a:r>
            <a:r>
              <a:rPr lang="en-US" sz="9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Chapter 2; John Wiley &amp; Sons, Inc.: Hoboken, NJ, USA, 2009.</a:t>
            </a:r>
            <a:endParaRPr lang="en-GB" sz="1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F6E86C6-3A5F-6707-ABB4-D0231C5F8EFA}"/>
              </a:ext>
            </a:extLst>
          </p:cNvPr>
          <p:cNvSpPr txBox="1"/>
          <p:nvPr/>
        </p:nvSpPr>
        <p:spPr>
          <a:xfrm>
            <a:off x="11814628" y="6518740"/>
            <a:ext cx="34176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66</a:t>
            </a:r>
          </a:p>
        </p:txBody>
      </p:sp>
      <p:graphicFrame>
        <p:nvGraphicFramePr>
          <p:cNvPr id="14" name="Object 13">
            <a:extLst>
              <a:ext uri="{FF2B5EF4-FFF2-40B4-BE49-F238E27FC236}">
                <a16:creationId xmlns:a16="http://schemas.microsoft.com/office/drawing/2014/main" id="{9EF1193E-7A8A-CD21-5DAA-FEED6BEF70C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90701356"/>
              </p:ext>
            </p:extLst>
          </p:nvPr>
        </p:nvGraphicFramePr>
        <p:xfrm>
          <a:off x="2046288" y="2436813"/>
          <a:ext cx="8099425" cy="3902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4" imgW="6229807" imgH="2997258" progId="ChemDraw.Document.6.0">
                  <p:embed/>
                </p:oleObj>
              </mc:Choice>
              <mc:Fallback>
                <p:oleObj name="CS ChemDraw Drawing" r:id="rId4" imgW="6229807" imgH="2997258" progId="ChemDraw.Document.6.0">
                  <p:embed/>
                  <p:pic>
                    <p:nvPicPr>
                      <p:cNvPr id="14" name="Object 13">
                        <a:extLst>
                          <a:ext uri="{FF2B5EF4-FFF2-40B4-BE49-F238E27FC236}">
                            <a16:creationId xmlns:a16="http://schemas.microsoft.com/office/drawing/2014/main" id="{9EF1193E-7A8A-CD21-5DAA-FEED6BEF70C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046288" y="2436813"/>
                        <a:ext cx="8099425" cy="39020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3C17A0A2-87A2-9AD2-6CEE-946CAEFBD1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4503910"/>
              </p:ext>
            </p:extLst>
          </p:nvPr>
        </p:nvGraphicFramePr>
        <p:xfrm>
          <a:off x="6096000" y="4915669"/>
          <a:ext cx="2656114" cy="9896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3900">
                  <a:extLst>
                    <a:ext uri="{9D8B030D-6E8A-4147-A177-3AD203B41FA5}">
                      <a16:colId xmlns:a16="http://schemas.microsoft.com/office/drawing/2014/main" val="1234770248"/>
                    </a:ext>
                  </a:extLst>
                </a:gridCol>
                <a:gridCol w="1096843">
                  <a:extLst>
                    <a:ext uri="{9D8B030D-6E8A-4147-A177-3AD203B41FA5}">
                      <a16:colId xmlns:a16="http://schemas.microsoft.com/office/drawing/2014/main" val="3957848667"/>
                    </a:ext>
                  </a:extLst>
                </a:gridCol>
                <a:gridCol w="885371">
                  <a:extLst>
                    <a:ext uri="{9D8B030D-6E8A-4147-A177-3AD203B41FA5}">
                      <a16:colId xmlns:a16="http://schemas.microsoft.com/office/drawing/2014/main" val="2794079749"/>
                    </a:ext>
                  </a:extLst>
                </a:gridCol>
              </a:tblGrid>
              <a:tr h="329873">
                <a:tc>
                  <a:txBody>
                    <a:bodyPr/>
                    <a:lstStyle/>
                    <a:p>
                      <a:r>
                        <a:rPr lang="en-US" sz="1400" dirty="0"/>
                        <a:t>R</a:t>
                      </a:r>
                      <a:endParaRPr lang="en-GB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1" dirty="0"/>
                        <a:t>J</a:t>
                      </a:r>
                      <a:r>
                        <a:rPr lang="en-US" sz="1400" b="0" i="0" baseline="-25000" dirty="0"/>
                        <a:t>F-Ha</a:t>
                      </a:r>
                      <a:r>
                        <a:rPr lang="en-US" sz="1400" b="0" i="0" baseline="0" dirty="0"/>
                        <a:t> (Hz)</a:t>
                      </a:r>
                      <a:endParaRPr lang="en-GB" sz="1400" b="0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1" dirty="0"/>
                        <a:t>J</a:t>
                      </a:r>
                      <a:r>
                        <a:rPr lang="en-US" sz="1400" b="0" i="0" baseline="-25000" dirty="0"/>
                        <a:t>F-Hb</a:t>
                      </a:r>
                      <a:r>
                        <a:rPr lang="en-US" sz="1400" b="0" i="0" baseline="0" dirty="0"/>
                        <a:t> (Hz)</a:t>
                      </a:r>
                      <a:endParaRPr lang="en-GB" sz="1400" b="0" i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1560516"/>
                  </a:ext>
                </a:extLst>
              </a:tr>
              <a:tr h="329873">
                <a:tc>
                  <a:txBody>
                    <a:bodyPr/>
                    <a:lstStyle/>
                    <a:p>
                      <a:r>
                        <a:rPr lang="en-US" sz="1400" dirty="0"/>
                        <a:t>Me</a:t>
                      </a:r>
                      <a:endParaRPr lang="en-GB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32.6</a:t>
                      </a:r>
                      <a:endParaRPr lang="en-GB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13.6</a:t>
                      </a:r>
                      <a:endParaRPr lang="en-GB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0804160"/>
                  </a:ext>
                </a:extLst>
              </a:tr>
              <a:tr h="329873">
                <a:tc>
                  <a:txBody>
                    <a:bodyPr/>
                    <a:lstStyle/>
                    <a:p>
                      <a:r>
                        <a:rPr lang="en-US" sz="1400" dirty="0"/>
                        <a:t>Ph</a:t>
                      </a:r>
                      <a:endParaRPr lang="en-GB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35.3</a:t>
                      </a:r>
                      <a:endParaRPr lang="en-GB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13.5</a:t>
                      </a:r>
                      <a:endParaRPr lang="en-GB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5719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0703824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4">
            <a:extLst>
              <a:ext uri="{FF2B5EF4-FFF2-40B4-BE49-F238E27FC236}">
                <a16:creationId xmlns:a16="http://schemas.microsoft.com/office/drawing/2014/main" id="{6FFA88E9-9DDB-F5FE-E49C-3A6CA8FC3AF8}"/>
              </a:ext>
            </a:extLst>
          </p:cNvPr>
          <p:cNvGrpSpPr>
            <a:grpSpLocks/>
          </p:cNvGrpSpPr>
          <p:nvPr/>
        </p:nvGrpSpPr>
        <p:grpSpPr bwMode="auto">
          <a:xfrm>
            <a:off x="1" y="268804"/>
            <a:ext cx="9144000" cy="1143000"/>
            <a:chOff x="1" y="76200"/>
            <a:chExt cx="9144000" cy="1143000"/>
          </a:xfrm>
        </p:grpSpPr>
        <p:grpSp>
          <p:nvGrpSpPr>
            <p:cNvPr id="3" name="Group 15">
              <a:extLst>
                <a:ext uri="{FF2B5EF4-FFF2-40B4-BE49-F238E27FC236}">
                  <a16:creationId xmlns:a16="http://schemas.microsoft.com/office/drawing/2014/main" id="{94790C34-3FC2-C805-563F-2BC596128C2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" y="161928"/>
              <a:ext cx="9144000" cy="993788"/>
              <a:chOff x="0" y="102"/>
              <a:chExt cx="5760" cy="626"/>
            </a:xfrm>
          </p:grpSpPr>
          <p:sp>
            <p:nvSpPr>
              <p:cNvPr id="6" name="Rectangle 3">
                <a:extLst>
                  <a:ext uri="{FF2B5EF4-FFF2-40B4-BE49-F238E27FC236}">
                    <a16:creationId xmlns:a16="http://schemas.microsoft.com/office/drawing/2014/main" id="{77C081ED-CF3C-D08E-4DF9-0927F7F037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0" y="332"/>
                <a:ext cx="5760" cy="233"/>
              </a:xfrm>
              <a:prstGeom prst="rect">
                <a:avLst/>
              </a:prstGeom>
              <a:gradFill rotWithShape="1">
                <a:gsLst>
                  <a:gs pos="0">
                    <a:srgbClr val="DDDDDD"/>
                  </a:gs>
                  <a:gs pos="100000">
                    <a:schemeClr val="tx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800">
                  <a:latin typeface="Helvetica" panose="020B0604020202020204" pitchFamily="34" charset="0"/>
                  <a:cs typeface="Helvetica" panose="020B0604020202020204" pitchFamily="34" charset="0"/>
                </a:endParaRPr>
              </a:p>
            </p:txBody>
          </p:sp>
          <p:pic>
            <p:nvPicPr>
              <p:cNvPr id="7" name="Picture 5" descr="images">
                <a:extLst>
                  <a:ext uri="{FF2B5EF4-FFF2-40B4-BE49-F238E27FC236}">
                    <a16:creationId xmlns:a16="http://schemas.microsoft.com/office/drawing/2014/main" id="{1B306D63-50CE-22D1-22DD-A74D2D48363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92" y="102"/>
                <a:ext cx="626" cy="6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62D551A7-127E-2421-2FE8-36A806AD3E5A}"/>
                </a:ext>
              </a:extLst>
            </p:cNvPr>
            <p:cNvSpPr/>
            <p:nvPr/>
          </p:nvSpPr>
          <p:spPr>
            <a:xfrm>
              <a:off x="152400" y="76200"/>
              <a:ext cx="1676400" cy="1143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US">
                <a:latin typeface="Helvetica" panose="020B0604020202020204" pitchFamily="34" charset="0"/>
                <a:cs typeface="Helvetica" panose="020B0604020202020204" pitchFamily="34" charset="0"/>
              </a:endParaRPr>
            </a:p>
          </p:txBody>
        </p:sp>
        <p:pic>
          <p:nvPicPr>
            <p:cNvPr id="5" name="Picture 4" descr="http://images.wikia.com/logopedia/images/4/4a/Western_Washington_University_2010.png">
              <a:extLst>
                <a:ext uri="{FF2B5EF4-FFF2-40B4-BE49-F238E27FC236}">
                  <a16:creationId xmlns:a16="http://schemas.microsoft.com/office/drawing/2014/main" id="{DD7004CA-E86B-C5CE-A31F-CB3A8D815C6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1237" y="76200"/>
              <a:ext cx="1663602" cy="838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DD30D270-8517-EECD-9F2E-787C3C6883CA}"/>
              </a:ext>
            </a:extLst>
          </p:cNvPr>
          <p:cNvSpPr txBox="1"/>
          <p:nvPr/>
        </p:nvSpPr>
        <p:spPr>
          <a:xfrm>
            <a:off x="1814839" y="123796"/>
            <a:ext cx="57350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accent1"/>
                </a:solidFill>
                <a:latin typeface="+mj-lt"/>
              </a:rPr>
              <a:t>Crystal Structure of </a:t>
            </a:r>
            <a:r>
              <a:rPr lang="en-US" sz="2400" b="1" dirty="0" err="1">
                <a:solidFill>
                  <a:schemeClr val="accent1"/>
                </a:solidFill>
                <a:latin typeface="+mj-lt"/>
              </a:rPr>
              <a:t>Triphenylsilyl</a:t>
            </a:r>
            <a:r>
              <a:rPr lang="en-US" sz="2400" b="1" dirty="0">
                <a:solidFill>
                  <a:schemeClr val="accent1"/>
                </a:solidFill>
                <a:latin typeface="+mj-lt"/>
              </a:rPr>
              <a:t> Fluorohydrin</a:t>
            </a:r>
          </a:p>
        </p:txBody>
      </p:sp>
      <p:pic>
        <p:nvPicPr>
          <p:cNvPr id="9" name="Picture 8" descr="A picture containing map, sketch&#10;&#10;Description automatically generated">
            <a:extLst>
              <a:ext uri="{FF2B5EF4-FFF2-40B4-BE49-F238E27FC236}">
                <a16:creationId xmlns:a16="http://schemas.microsoft.com/office/drawing/2014/main" id="{33FA7D21-9C25-72D8-EEE5-C2BF7ED5A4B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1345" y="2896030"/>
            <a:ext cx="5909310" cy="307467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D7E68DB-F1B3-A747-CCD2-D478FAC20CB9}"/>
              </a:ext>
            </a:extLst>
          </p:cNvPr>
          <p:cNvSpPr txBox="1"/>
          <p:nvPr/>
        </p:nvSpPr>
        <p:spPr>
          <a:xfrm>
            <a:off x="1450977" y="1271255"/>
            <a:ext cx="9144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Two independent structures were observed having different orientations.</a:t>
            </a:r>
            <a:endParaRPr lang="en-GB" sz="1800" dirty="0">
              <a:effectLst/>
              <a:latin typeface="Calibri" panose="020F0502020204030204" pitchFamily="34" charset="0"/>
              <a:ea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Crystal structure shows </a:t>
            </a:r>
            <a:r>
              <a:rPr lang="en-GB" sz="1800" i="1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gauche</a:t>
            </a:r>
            <a:r>
              <a:rPr lang="en-GB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 conformation for both species identified in the unit cell.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Times New Roman" panose="02020603050405020304" pitchFamily="18" charset="0"/>
              </a:rPr>
              <a:t>T</a:t>
            </a:r>
            <a:r>
              <a:rPr lang="en-GB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he electron-poor silicon could prove to be electrostatically attractive toward the electronegative fluorine. This would also result in a smaller dipole moment further stabilizing this conformation. </a:t>
            </a:r>
            <a:endParaRPr lang="en-US" sz="1800" dirty="0">
              <a:effectLst/>
              <a:latin typeface="Calibri" panose="020F0502020204030204" pitchFamily="34" charset="0"/>
              <a:ea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8CDCB3C-BC8D-CE36-0F95-7A5C19B48668}"/>
              </a:ext>
            </a:extLst>
          </p:cNvPr>
          <p:cNvSpPr txBox="1"/>
          <p:nvPr/>
        </p:nvSpPr>
        <p:spPr>
          <a:xfrm>
            <a:off x="9050654" y="4313474"/>
            <a:ext cx="27639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Note the F-OH orientation (Ø</a:t>
            </a:r>
            <a:r>
              <a:rPr lang="en-US" baseline="-25000" dirty="0"/>
              <a:t>F-OH</a:t>
            </a:r>
            <a:r>
              <a:rPr lang="en-US" dirty="0"/>
              <a:t> = 18°, 179°)</a:t>
            </a:r>
            <a:endParaRPr lang="en-GB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65BA356-AD2D-A6AD-73F6-260B394E03B3}"/>
              </a:ext>
            </a:extLst>
          </p:cNvPr>
          <p:cNvSpPr txBox="1"/>
          <p:nvPr/>
        </p:nvSpPr>
        <p:spPr>
          <a:xfrm>
            <a:off x="1956415" y="6145983"/>
            <a:ext cx="827917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The dihedral angle between silicon and fluorine was observed to be 6</a:t>
            </a:r>
            <a:r>
              <a:rPr lang="en-GB" sz="1800" baseline="300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o</a:t>
            </a:r>
            <a:r>
              <a:rPr lang="en-GB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 in the left crystal structure and 38</a:t>
            </a:r>
            <a:r>
              <a:rPr lang="en-GB" sz="1800" baseline="300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o</a:t>
            </a:r>
            <a:r>
              <a:rPr lang="en-GB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 in the right. </a:t>
            </a:r>
            <a:endParaRPr lang="en-GB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C9B0F35-1793-2394-DD0F-C23336567780}"/>
              </a:ext>
            </a:extLst>
          </p:cNvPr>
          <p:cNvSpPr txBox="1"/>
          <p:nvPr/>
        </p:nvSpPr>
        <p:spPr>
          <a:xfrm>
            <a:off x="11814628" y="6518740"/>
            <a:ext cx="34176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65</a:t>
            </a:r>
          </a:p>
        </p:txBody>
      </p:sp>
    </p:spTree>
    <p:extLst>
      <p:ext uri="{BB962C8B-B14F-4D97-AF65-F5344CB8AC3E}">
        <p14:creationId xmlns:p14="http://schemas.microsoft.com/office/powerpoint/2010/main" val="37937587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4">
            <a:extLst>
              <a:ext uri="{FF2B5EF4-FFF2-40B4-BE49-F238E27FC236}">
                <a16:creationId xmlns:a16="http://schemas.microsoft.com/office/drawing/2014/main" id="{6FFA88E9-9DDB-F5FE-E49C-3A6CA8FC3AF8}"/>
              </a:ext>
            </a:extLst>
          </p:cNvPr>
          <p:cNvGrpSpPr>
            <a:grpSpLocks/>
          </p:cNvGrpSpPr>
          <p:nvPr/>
        </p:nvGrpSpPr>
        <p:grpSpPr bwMode="auto">
          <a:xfrm>
            <a:off x="1" y="268804"/>
            <a:ext cx="9144000" cy="1143000"/>
            <a:chOff x="1" y="76200"/>
            <a:chExt cx="9144000" cy="1143000"/>
          </a:xfrm>
        </p:grpSpPr>
        <p:grpSp>
          <p:nvGrpSpPr>
            <p:cNvPr id="3" name="Group 15">
              <a:extLst>
                <a:ext uri="{FF2B5EF4-FFF2-40B4-BE49-F238E27FC236}">
                  <a16:creationId xmlns:a16="http://schemas.microsoft.com/office/drawing/2014/main" id="{94790C34-3FC2-C805-563F-2BC596128C2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" y="161928"/>
              <a:ext cx="9144000" cy="993788"/>
              <a:chOff x="0" y="102"/>
              <a:chExt cx="5760" cy="626"/>
            </a:xfrm>
          </p:grpSpPr>
          <p:sp>
            <p:nvSpPr>
              <p:cNvPr id="6" name="Rectangle 3">
                <a:extLst>
                  <a:ext uri="{FF2B5EF4-FFF2-40B4-BE49-F238E27FC236}">
                    <a16:creationId xmlns:a16="http://schemas.microsoft.com/office/drawing/2014/main" id="{77C081ED-CF3C-D08E-4DF9-0927F7F037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0" y="332"/>
                <a:ext cx="5760" cy="233"/>
              </a:xfrm>
              <a:prstGeom prst="rect">
                <a:avLst/>
              </a:prstGeom>
              <a:gradFill rotWithShape="1">
                <a:gsLst>
                  <a:gs pos="0">
                    <a:srgbClr val="DDDDDD"/>
                  </a:gs>
                  <a:gs pos="100000">
                    <a:schemeClr val="tx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800">
                  <a:latin typeface="Helvetica" panose="020B0604020202020204" pitchFamily="34" charset="0"/>
                  <a:cs typeface="Helvetica" panose="020B0604020202020204" pitchFamily="34" charset="0"/>
                </a:endParaRPr>
              </a:p>
            </p:txBody>
          </p:sp>
          <p:pic>
            <p:nvPicPr>
              <p:cNvPr id="7" name="Picture 5" descr="images">
                <a:extLst>
                  <a:ext uri="{FF2B5EF4-FFF2-40B4-BE49-F238E27FC236}">
                    <a16:creationId xmlns:a16="http://schemas.microsoft.com/office/drawing/2014/main" id="{1B306D63-50CE-22D1-22DD-A74D2D48363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92" y="102"/>
                <a:ext cx="626" cy="6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62D551A7-127E-2421-2FE8-36A806AD3E5A}"/>
                </a:ext>
              </a:extLst>
            </p:cNvPr>
            <p:cNvSpPr/>
            <p:nvPr/>
          </p:nvSpPr>
          <p:spPr>
            <a:xfrm>
              <a:off x="152400" y="76200"/>
              <a:ext cx="1676400" cy="1143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US">
                <a:latin typeface="Helvetica" panose="020B0604020202020204" pitchFamily="34" charset="0"/>
                <a:cs typeface="Helvetica" panose="020B0604020202020204" pitchFamily="34" charset="0"/>
              </a:endParaRPr>
            </a:p>
          </p:txBody>
        </p:sp>
        <p:pic>
          <p:nvPicPr>
            <p:cNvPr id="5" name="Picture 4" descr="http://images.wikia.com/logopedia/images/4/4a/Western_Washington_University_2010.png">
              <a:extLst>
                <a:ext uri="{FF2B5EF4-FFF2-40B4-BE49-F238E27FC236}">
                  <a16:creationId xmlns:a16="http://schemas.microsoft.com/office/drawing/2014/main" id="{DD7004CA-E86B-C5CE-A31F-CB3A8D815C6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1237" y="76200"/>
              <a:ext cx="1663602" cy="838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DD30D270-8517-EECD-9F2E-787C3C6883CA}"/>
              </a:ext>
            </a:extLst>
          </p:cNvPr>
          <p:cNvSpPr txBox="1"/>
          <p:nvPr/>
        </p:nvSpPr>
        <p:spPr>
          <a:xfrm>
            <a:off x="1814839" y="123796"/>
            <a:ext cx="524387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accent1"/>
                </a:solidFill>
                <a:latin typeface="+mj-lt"/>
              </a:rPr>
              <a:t>Computational study of TMS Fluorohydrin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B17D95A-1BDD-4DE6-9A11-9C35E7D54ADE}"/>
                  </a:ext>
                </a:extLst>
              </p:cNvPr>
              <p:cNvSpPr txBox="1"/>
              <p:nvPr/>
            </p:nvSpPr>
            <p:spPr>
              <a:xfrm>
                <a:off x="828994" y="1194488"/>
                <a:ext cx="10696467" cy="206210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6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</a:rPr>
                  <a:t>To better understand this apparent silicon-fluorine gauche effect and its connection to the F-OH orientation in these molecules, conformational analysis by DFT was performed</a:t>
                </a:r>
                <a:r>
                  <a:rPr lang="en-GB" sz="16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</a:rPr>
                  <a:t>.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GB" sz="1600" dirty="0">
                    <a:latin typeface="Calibri" panose="020F0502020204030204" pitchFamily="34" charset="0"/>
                    <a:ea typeface="Times New Roman" panose="02020603050405020304" pitchFamily="18" charset="0"/>
                  </a:rPr>
                  <a:t>Using both PBE and B3LYP methods, the lowest energy conformation for the trimethyl system </a:t>
                </a:r>
                <a:r>
                  <a:rPr lang="en-GB" sz="1600" b="1" dirty="0">
                    <a:latin typeface="Calibri" panose="020F0502020204030204" pitchFamily="34" charset="0"/>
                    <a:ea typeface="Times New Roman" panose="02020603050405020304" pitchFamily="18" charset="0"/>
                  </a:rPr>
                  <a:t>4</a:t>
                </a:r>
                <a:r>
                  <a:rPr lang="en-GB" sz="1600" dirty="0">
                    <a:latin typeface="Calibri" panose="020F0502020204030204" pitchFamily="34" charset="0"/>
                    <a:ea typeface="Times New Roman" panose="02020603050405020304" pitchFamily="18" charset="0"/>
                  </a:rPr>
                  <a:t> have the Si and F groups approximately </a:t>
                </a:r>
                <a:r>
                  <a:rPr lang="en-GB" sz="1600" i="1" dirty="0">
                    <a:latin typeface="Calibri" panose="020F0502020204030204" pitchFamily="34" charset="0"/>
                    <a:ea typeface="Times New Roman" panose="02020603050405020304" pitchFamily="18" charset="0"/>
                  </a:rPr>
                  <a:t>gauche</a:t>
                </a:r>
                <a:r>
                  <a:rPr lang="en-GB" sz="1600" dirty="0">
                    <a:latin typeface="Calibri" panose="020F0502020204030204" pitchFamily="34" charset="0"/>
                    <a:ea typeface="Times New Roman" panose="02020603050405020304" pitchFamily="18" charset="0"/>
                  </a:rPr>
                  <a:t> (Si-C-C-F </a:t>
                </a:r>
                <a14:m>
                  <m:oMath xmlns:m="http://schemas.openxmlformats.org/officeDocument/2006/math">
                    <m:r>
                      <a:rPr lang="en-GB" sz="16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∅</m:t>
                    </m:r>
                    <m:r>
                      <a:rPr lang="en-US" sz="16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~</m:t>
                    </m:r>
                  </m:oMath>
                </a14:m>
                <a:r>
                  <a:rPr lang="en-US" sz="16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</a:rPr>
                  <a:t>310</a:t>
                </a:r>
                <a:r>
                  <a:rPr lang="en-US" sz="1600" baseline="300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</a:rPr>
                  <a:t>o</a:t>
                </a:r>
                <a:r>
                  <a:rPr lang="en-US" sz="16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</a:rPr>
                  <a:t>) regardless of F-OH orientation (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∅</m:t>
                    </m:r>
                  </m:oMath>
                </a14:m>
                <a:r>
                  <a:rPr lang="en-US" sz="1600" baseline="-25000" dirty="0">
                    <a:latin typeface="Calibri" panose="020F0502020204030204" pitchFamily="34" charset="0"/>
                    <a:ea typeface="Times New Roman" panose="02020603050405020304" pitchFamily="18" charset="0"/>
                  </a:rPr>
                  <a:t>F-OH</a:t>
                </a:r>
                <a:r>
                  <a:rPr lang="en-US" sz="1600" dirty="0">
                    <a:latin typeface="Calibri" panose="020F0502020204030204" pitchFamily="34" charset="0"/>
                    <a:ea typeface="Times New Roman" panose="02020603050405020304" pitchFamily="18" charset="0"/>
                  </a:rPr>
                  <a:t>=60</a:t>
                </a:r>
                <a:r>
                  <a:rPr lang="en-US" sz="1600" baseline="30000" dirty="0">
                    <a:latin typeface="Calibri" panose="020F0502020204030204" pitchFamily="34" charset="0"/>
                    <a:ea typeface="Times New Roman" panose="02020603050405020304" pitchFamily="18" charset="0"/>
                  </a:rPr>
                  <a:t>o</a:t>
                </a:r>
                <a:r>
                  <a:rPr lang="en-US" sz="1600" dirty="0">
                    <a:latin typeface="Calibri" panose="020F0502020204030204" pitchFamily="34" charset="0"/>
                    <a:ea typeface="Times New Roman" panose="02020603050405020304" pitchFamily="18" charset="0"/>
                  </a:rPr>
                  <a:t>, 180</a:t>
                </a:r>
                <a:r>
                  <a:rPr lang="en-US" sz="1600" baseline="30000" dirty="0">
                    <a:latin typeface="Calibri" panose="020F0502020204030204" pitchFamily="34" charset="0"/>
                    <a:ea typeface="Times New Roman" panose="02020603050405020304" pitchFamily="18" charset="0"/>
                  </a:rPr>
                  <a:t>o</a:t>
                </a:r>
                <a:r>
                  <a:rPr lang="en-US" sz="1600" dirty="0">
                    <a:latin typeface="Calibri" panose="020F0502020204030204" pitchFamily="34" charset="0"/>
                    <a:ea typeface="Times New Roman" panose="02020603050405020304" pitchFamily="18" charset="0"/>
                  </a:rPr>
                  <a:t>, 300</a:t>
                </a:r>
                <a:r>
                  <a:rPr lang="en-US" sz="1600" baseline="30000" dirty="0">
                    <a:latin typeface="Calibri" panose="020F0502020204030204" pitchFamily="34" charset="0"/>
                    <a:ea typeface="Times New Roman" panose="02020603050405020304" pitchFamily="18" charset="0"/>
                  </a:rPr>
                  <a:t>o</a:t>
                </a:r>
                <a:r>
                  <a:rPr lang="en-US" sz="1600" dirty="0">
                    <a:latin typeface="Calibri" panose="020F0502020204030204" pitchFamily="34" charset="0"/>
                    <a:ea typeface="Times New Roman" panose="02020603050405020304" pitchFamily="18" charset="0"/>
                  </a:rPr>
                  <a:t>).</a:t>
                </a:r>
                <a:endParaRPr lang="en-US" sz="1600" dirty="0">
                  <a:effectLst/>
                  <a:latin typeface="Calibri" panose="020F0502020204030204" pitchFamily="34" charset="0"/>
                  <a:ea typeface="Times New Roman" panose="020206030504050203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6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</a:rPr>
                  <a:t>The absolute energy minimum had both Si-F and F-OH groups gauche, which is also true for the Triphenyl system </a:t>
                </a:r>
                <a:r>
                  <a:rPr lang="en-US" sz="1600" b="1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</a:rPr>
                  <a:t>18 </a:t>
                </a:r>
                <a:r>
                  <a:rPr lang="en-US" sz="16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</a:rPr>
                  <a:t>(calculated energy minimum at </a:t>
                </a:r>
                <a:r>
                  <a:rPr lang="en-US" sz="1600" dirty="0" err="1">
                    <a:effectLst/>
                    <a:latin typeface="Calibri" panose="020F0502020204030204" pitchFamily="34" charset="0"/>
                    <a:ea typeface="Times New Roman" panose="02020603050405020304" pitchFamily="18" charset="0"/>
                  </a:rPr>
                  <a:t>Ø</a:t>
                </a:r>
                <a:r>
                  <a:rPr lang="en-US" sz="1600" baseline="-25000" dirty="0" err="1">
                    <a:effectLst/>
                    <a:latin typeface="Calibri" panose="020F0502020204030204" pitchFamily="34" charset="0"/>
                    <a:ea typeface="Times New Roman" panose="02020603050405020304" pitchFamily="18" charset="0"/>
                  </a:rPr>
                  <a:t>Si</a:t>
                </a:r>
                <a:r>
                  <a:rPr lang="en-US" sz="1600" baseline="-250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</a:rPr>
                  <a:t>-F</a:t>
                </a:r>
                <a:r>
                  <a:rPr lang="en-US" sz="16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</a:rPr>
                  <a:t> ~ 50° for Ø</a:t>
                </a:r>
                <a:r>
                  <a:rPr lang="en-US" sz="1600" baseline="-250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</a:rPr>
                  <a:t>F-OH</a:t>
                </a:r>
                <a:r>
                  <a:rPr lang="en-US" sz="16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</a:rPr>
                  <a:t> = 60°). which is in fairly good agreement with results from X-ray analysis (e.g. </a:t>
                </a:r>
                <a:r>
                  <a:rPr lang="en-US" sz="1600" dirty="0" err="1">
                    <a:effectLst/>
                    <a:latin typeface="Calibri" panose="020F0502020204030204" pitchFamily="34" charset="0"/>
                    <a:ea typeface="Times New Roman" panose="02020603050405020304" pitchFamily="18" charset="0"/>
                  </a:rPr>
                  <a:t>ØSi</a:t>
                </a:r>
                <a:r>
                  <a:rPr lang="en-US" sz="16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</a:rPr>
                  <a:t>-F = 38°)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1600" dirty="0">
                  <a:effectLst/>
                  <a:latin typeface="Calibri" panose="020F0502020204030204" pitchFamily="34" charset="0"/>
                  <a:ea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B17D95A-1BDD-4DE6-9A11-9C35E7D54A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8994" y="1194488"/>
                <a:ext cx="10696467" cy="2062103"/>
              </a:xfrm>
              <a:prstGeom prst="rect">
                <a:avLst/>
              </a:prstGeom>
              <a:blipFill>
                <a:blip r:embed="rId4"/>
                <a:stretch>
                  <a:fillRect l="-228" t="-88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781477BA-EEC9-6A8B-5718-D76A81F0E64D}"/>
              </a:ext>
            </a:extLst>
          </p:cNvPr>
          <p:cNvSpPr txBox="1"/>
          <p:nvPr/>
        </p:nvSpPr>
        <p:spPr>
          <a:xfrm>
            <a:off x="11814628" y="6518740"/>
            <a:ext cx="34176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63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64D1415D-AA27-31E8-951E-A1254D25E1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7621" y="3019220"/>
            <a:ext cx="8967356" cy="33499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7F83D0F5-DE93-C084-7395-744E6F9BFE3B}"/>
              </a:ext>
            </a:extLst>
          </p:cNvPr>
          <p:cNvSpPr txBox="1"/>
          <p:nvPr/>
        </p:nvSpPr>
        <p:spPr>
          <a:xfrm>
            <a:off x="1450976" y="6341608"/>
            <a:ext cx="91440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Results from DFT-PBE conformational analysis of 2-fluoro-3-(trimethylsilyl)propan1-ol (4). For three different F-OH orientations (Ø</a:t>
            </a:r>
            <a:r>
              <a:rPr lang="en-GB" sz="1400" baseline="-25000" dirty="0"/>
              <a:t>F-OH</a:t>
            </a:r>
            <a:r>
              <a:rPr lang="en-GB" sz="1400" dirty="0"/>
              <a:t> = 60°, 180°, or 300°), the lowest energy conformer contained a gauche Si-F arrangement (</a:t>
            </a:r>
            <a:r>
              <a:rPr lang="en-GB" sz="1400" dirty="0" err="1"/>
              <a:t>Ø</a:t>
            </a:r>
            <a:r>
              <a:rPr lang="en-GB" sz="1400" baseline="-25000" dirty="0" err="1"/>
              <a:t>Si</a:t>
            </a:r>
            <a:r>
              <a:rPr lang="en-GB" sz="1400" baseline="-25000" dirty="0"/>
              <a:t>-F</a:t>
            </a:r>
            <a:r>
              <a:rPr lang="en-GB" sz="1400" dirty="0"/>
              <a:t> ~ 310°).</a:t>
            </a:r>
          </a:p>
        </p:txBody>
      </p:sp>
    </p:spTree>
    <p:extLst>
      <p:ext uri="{BB962C8B-B14F-4D97-AF65-F5344CB8AC3E}">
        <p14:creationId xmlns:p14="http://schemas.microsoft.com/office/powerpoint/2010/main" val="326915552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14">
            <a:extLst>
              <a:ext uri="{FF2B5EF4-FFF2-40B4-BE49-F238E27FC236}">
                <a16:creationId xmlns:a16="http://schemas.microsoft.com/office/drawing/2014/main" id="{9158F9E5-FF5F-F288-FF5A-E794A1E7A852}"/>
              </a:ext>
            </a:extLst>
          </p:cNvPr>
          <p:cNvGrpSpPr>
            <a:grpSpLocks/>
          </p:cNvGrpSpPr>
          <p:nvPr/>
        </p:nvGrpSpPr>
        <p:grpSpPr bwMode="auto">
          <a:xfrm>
            <a:off x="1" y="268804"/>
            <a:ext cx="9144000" cy="1143000"/>
            <a:chOff x="1" y="76200"/>
            <a:chExt cx="9144000" cy="1143000"/>
          </a:xfrm>
        </p:grpSpPr>
        <p:grpSp>
          <p:nvGrpSpPr>
            <p:cNvPr id="5" name="Group 15">
              <a:extLst>
                <a:ext uri="{FF2B5EF4-FFF2-40B4-BE49-F238E27FC236}">
                  <a16:creationId xmlns:a16="http://schemas.microsoft.com/office/drawing/2014/main" id="{CC5B7037-5B2B-8743-AE1B-0BBD2FEE1D3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" y="161928"/>
              <a:ext cx="9144000" cy="993788"/>
              <a:chOff x="0" y="102"/>
              <a:chExt cx="5760" cy="626"/>
            </a:xfrm>
          </p:grpSpPr>
          <p:sp>
            <p:nvSpPr>
              <p:cNvPr id="8" name="Rectangle 3">
                <a:extLst>
                  <a:ext uri="{FF2B5EF4-FFF2-40B4-BE49-F238E27FC236}">
                    <a16:creationId xmlns:a16="http://schemas.microsoft.com/office/drawing/2014/main" id="{3BC41953-672B-4CD7-50F9-DD45E56BE67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0" y="332"/>
                <a:ext cx="5760" cy="233"/>
              </a:xfrm>
              <a:prstGeom prst="rect">
                <a:avLst/>
              </a:prstGeom>
              <a:gradFill rotWithShape="1">
                <a:gsLst>
                  <a:gs pos="0">
                    <a:srgbClr val="DDDDDD"/>
                  </a:gs>
                  <a:gs pos="100000">
                    <a:schemeClr val="tx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800">
                  <a:latin typeface="Helvetica" panose="020B0604020202020204" pitchFamily="34" charset="0"/>
                  <a:cs typeface="Helvetica" panose="020B0604020202020204" pitchFamily="34" charset="0"/>
                </a:endParaRPr>
              </a:p>
            </p:txBody>
          </p:sp>
          <p:pic>
            <p:nvPicPr>
              <p:cNvPr id="9" name="Picture 5" descr="images">
                <a:extLst>
                  <a:ext uri="{FF2B5EF4-FFF2-40B4-BE49-F238E27FC236}">
                    <a16:creationId xmlns:a16="http://schemas.microsoft.com/office/drawing/2014/main" id="{B74D0F64-327B-55C9-42BE-6C487D91F7A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92" y="102"/>
                <a:ext cx="626" cy="6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73EE0471-20FD-4A91-1E8A-EC52EC970EC0}"/>
                </a:ext>
              </a:extLst>
            </p:cNvPr>
            <p:cNvSpPr/>
            <p:nvPr/>
          </p:nvSpPr>
          <p:spPr>
            <a:xfrm>
              <a:off x="152400" y="76200"/>
              <a:ext cx="1676400" cy="1143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US">
                <a:latin typeface="Helvetica" panose="020B0604020202020204" pitchFamily="34" charset="0"/>
                <a:cs typeface="Helvetica" panose="020B0604020202020204" pitchFamily="34" charset="0"/>
              </a:endParaRPr>
            </a:p>
          </p:txBody>
        </p:sp>
        <p:pic>
          <p:nvPicPr>
            <p:cNvPr id="7" name="Picture 6" descr="http://images.wikia.com/logopedia/images/4/4a/Western_Washington_University_2010.png">
              <a:extLst>
                <a:ext uri="{FF2B5EF4-FFF2-40B4-BE49-F238E27FC236}">
                  <a16:creationId xmlns:a16="http://schemas.microsoft.com/office/drawing/2014/main" id="{A5BEB78D-21A8-0F99-2D09-E146C03D807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1237" y="76200"/>
              <a:ext cx="1663602" cy="838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A5B60391-A39A-F61A-CD1B-B8071036EF95}"/>
              </a:ext>
            </a:extLst>
          </p:cNvPr>
          <p:cNvSpPr txBox="1"/>
          <p:nvPr/>
        </p:nvSpPr>
        <p:spPr>
          <a:xfrm>
            <a:off x="1814839" y="123796"/>
            <a:ext cx="229293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accent1"/>
                </a:solidFill>
                <a:latin typeface="+mj-lt"/>
              </a:rPr>
              <a:t>Tamao Oxidation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9791B8D-CE4C-7FDF-A11C-A8436DAE1264}"/>
              </a:ext>
            </a:extLst>
          </p:cNvPr>
          <p:cNvSpPr txBox="1"/>
          <p:nvPr/>
        </p:nvSpPr>
        <p:spPr>
          <a:xfrm>
            <a:off x="1379477" y="1415838"/>
            <a:ext cx="847889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Times New Roman" panose="02020603050405020304" pitchFamily="18" charset="0"/>
              </a:rPr>
              <a:t>The Tamao oxidation converts a carbon-silicon bond to a carbon-oxygen bond.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This is typically </a:t>
            </a:r>
            <a:r>
              <a:rPr lang="en-US" dirty="0">
                <a:latin typeface="Calibri" panose="020F0502020204030204" pitchFamily="34" charset="0"/>
                <a:ea typeface="Times New Roman" panose="02020603050405020304" pitchFamily="18" charset="0"/>
              </a:rPr>
              <a:t>done through the activation of silicon using a fluorine source.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Once activated, it can be oxidized using </a:t>
            </a:r>
            <a:r>
              <a:rPr lang="en-US" sz="180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peroxy</a:t>
            </a:r>
            <a:r>
              <a:rPr lang="en-US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 acids or hydrogen peroxide.</a:t>
            </a:r>
          </a:p>
        </p:txBody>
      </p:sp>
      <p:graphicFrame>
        <p:nvGraphicFramePr>
          <p:cNvPr id="12" name="Object 11">
            <a:extLst>
              <a:ext uri="{FF2B5EF4-FFF2-40B4-BE49-F238E27FC236}">
                <a16:creationId xmlns:a16="http://schemas.microsoft.com/office/drawing/2014/main" id="{8AAC8B3D-50F1-B1BF-909E-FAC2C4D62E8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25483010"/>
              </p:ext>
            </p:extLst>
          </p:nvPr>
        </p:nvGraphicFramePr>
        <p:xfrm>
          <a:off x="3693318" y="2648743"/>
          <a:ext cx="4805363" cy="1560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4" imgW="4004767" imgH="1299591" progId="ChemDraw.Document.6.0">
                  <p:embed/>
                </p:oleObj>
              </mc:Choice>
              <mc:Fallback>
                <p:oleObj name="CS ChemDraw Drawing" r:id="rId4" imgW="4004767" imgH="1299591" progId="ChemDraw.Document.6.0">
                  <p:embed/>
                  <p:pic>
                    <p:nvPicPr>
                      <p:cNvPr id="12" name="Object 11">
                        <a:extLst>
                          <a:ext uri="{FF2B5EF4-FFF2-40B4-BE49-F238E27FC236}">
                            <a16:creationId xmlns:a16="http://schemas.microsoft.com/office/drawing/2014/main" id="{8AAC8B3D-50F1-B1BF-909E-FAC2C4D62E8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693318" y="2648743"/>
                        <a:ext cx="4805363" cy="15605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2">
            <a:extLst>
              <a:ext uri="{FF2B5EF4-FFF2-40B4-BE49-F238E27FC236}">
                <a16:creationId xmlns:a16="http://schemas.microsoft.com/office/drawing/2014/main" id="{C05103C7-0DAE-2613-5189-02FDECB3381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5432116"/>
              </p:ext>
            </p:extLst>
          </p:nvPr>
        </p:nvGraphicFramePr>
        <p:xfrm>
          <a:off x="4136623" y="4645289"/>
          <a:ext cx="3918752" cy="10915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6" imgW="3265627" imgH="909620" progId="ChemDraw.Document.6.0">
                  <p:embed/>
                </p:oleObj>
              </mc:Choice>
              <mc:Fallback>
                <p:oleObj name="CS ChemDraw Drawing" r:id="rId6" imgW="3265627" imgH="909620" progId="ChemDraw.Document.6.0">
                  <p:embed/>
                  <p:pic>
                    <p:nvPicPr>
                      <p:cNvPr id="13" name="Object 12">
                        <a:extLst>
                          <a:ext uri="{FF2B5EF4-FFF2-40B4-BE49-F238E27FC236}">
                            <a16:creationId xmlns:a16="http://schemas.microsoft.com/office/drawing/2014/main" id="{C05103C7-0DAE-2613-5189-02FDECB3381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4136623" y="4645289"/>
                        <a:ext cx="3918752" cy="109154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0E00CAE5-9DEF-E344-4AD3-B874C86013BE}"/>
              </a:ext>
            </a:extLst>
          </p:cNvPr>
          <p:cNvSpPr txBox="1"/>
          <p:nvPr/>
        </p:nvSpPr>
        <p:spPr>
          <a:xfrm>
            <a:off x="11814628" y="6518740"/>
            <a:ext cx="34176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55</a:t>
            </a:r>
          </a:p>
        </p:txBody>
      </p:sp>
    </p:spTree>
    <p:extLst>
      <p:ext uri="{BB962C8B-B14F-4D97-AF65-F5344CB8AC3E}">
        <p14:creationId xmlns:p14="http://schemas.microsoft.com/office/powerpoint/2010/main" val="217193832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4">
            <a:extLst>
              <a:ext uri="{FF2B5EF4-FFF2-40B4-BE49-F238E27FC236}">
                <a16:creationId xmlns:a16="http://schemas.microsoft.com/office/drawing/2014/main" id="{6FFA88E9-9DDB-F5FE-E49C-3A6CA8FC3AF8}"/>
              </a:ext>
            </a:extLst>
          </p:cNvPr>
          <p:cNvGrpSpPr>
            <a:grpSpLocks/>
          </p:cNvGrpSpPr>
          <p:nvPr/>
        </p:nvGrpSpPr>
        <p:grpSpPr bwMode="auto">
          <a:xfrm>
            <a:off x="1" y="268804"/>
            <a:ext cx="9144000" cy="1143000"/>
            <a:chOff x="1" y="76200"/>
            <a:chExt cx="9144000" cy="1143000"/>
          </a:xfrm>
        </p:grpSpPr>
        <p:grpSp>
          <p:nvGrpSpPr>
            <p:cNvPr id="3" name="Group 15">
              <a:extLst>
                <a:ext uri="{FF2B5EF4-FFF2-40B4-BE49-F238E27FC236}">
                  <a16:creationId xmlns:a16="http://schemas.microsoft.com/office/drawing/2014/main" id="{94790C34-3FC2-C805-563F-2BC596128C2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" y="161928"/>
              <a:ext cx="9144000" cy="993788"/>
              <a:chOff x="0" y="102"/>
              <a:chExt cx="5760" cy="626"/>
            </a:xfrm>
          </p:grpSpPr>
          <p:sp>
            <p:nvSpPr>
              <p:cNvPr id="6" name="Rectangle 3">
                <a:extLst>
                  <a:ext uri="{FF2B5EF4-FFF2-40B4-BE49-F238E27FC236}">
                    <a16:creationId xmlns:a16="http://schemas.microsoft.com/office/drawing/2014/main" id="{77C081ED-CF3C-D08E-4DF9-0927F7F037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0" y="332"/>
                <a:ext cx="5760" cy="233"/>
              </a:xfrm>
              <a:prstGeom prst="rect">
                <a:avLst/>
              </a:prstGeom>
              <a:gradFill rotWithShape="1">
                <a:gsLst>
                  <a:gs pos="0">
                    <a:srgbClr val="DDDDDD"/>
                  </a:gs>
                  <a:gs pos="100000">
                    <a:schemeClr val="tx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800">
                  <a:latin typeface="Helvetica" panose="020B0604020202020204" pitchFamily="34" charset="0"/>
                  <a:cs typeface="Helvetica" panose="020B0604020202020204" pitchFamily="34" charset="0"/>
                </a:endParaRPr>
              </a:p>
            </p:txBody>
          </p:sp>
          <p:pic>
            <p:nvPicPr>
              <p:cNvPr id="7" name="Picture 5" descr="images">
                <a:extLst>
                  <a:ext uri="{FF2B5EF4-FFF2-40B4-BE49-F238E27FC236}">
                    <a16:creationId xmlns:a16="http://schemas.microsoft.com/office/drawing/2014/main" id="{1B306D63-50CE-22D1-22DD-A74D2D48363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92" y="102"/>
                <a:ext cx="626" cy="6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62D551A7-127E-2421-2FE8-36A806AD3E5A}"/>
                </a:ext>
              </a:extLst>
            </p:cNvPr>
            <p:cNvSpPr/>
            <p:nvPr/>
          </p:nvSpPr>
          <p:spPr>
            <a:xfrm>
              <a:off x="152400" y="76200"/>
              <a:ext cx="1676400" cy="1143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US">
                <a:latin typeface="Helvetica" panose="020B0604020202020204" pitchFamily="34" charset="0"/>
                <a:cs typeface="Helvetica" panose="020B0604020202020204" pitchFamily="34" charset="0"/>
              </a:endParaRPr>
            </a:p>
          </p:txBody>
        </p:sp>
        <p:pic>
          <p:nvPicPr>
            <p:cNvPr id="5" name="Picture 4" descr="http://images.wikia.com/logopedia/images/4/4a/Western_Washington_University_2010.png">
              <a:extLst>
                <a:ext uri="{FF2B5EF4-FFF2-40B4-BE49-F238E27FC236}">
                  <a16:creationId xmlns:a16="http://schemas.microsoft.com/office/drawing/2014/main" id="{DD7004CA-E86B-C5CE-A31F-CB3A8D815C6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1237" y="76200"/>
              <a:ext cx="1663602" cy="838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DD30D270-8517-EECD-9F2E-787C3C6883CA}"/>
              </a:ext>
            </a:extLst>
          </p:cNvPr>
          <p:cNvSpPr txBox="1"/>
          <p:nvPr/>
        </p:nvSpPr>
        <p:spPr>
          <a:xfrm>
            <a:off x="1814839" y="123796"/>
            <a:ext cx="48444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accent1"/>
                </a:solidFill>
                <a:latin typeface="+mj-lt"/>
              </a:rPr>
              <a:t>Transformations and </a:t>
            </a:r>
            <a:r>
              <a:rPr lang="en-US" sz="2400" b="1" dirty="0" err="1">
                <a:solidFill>
                  <a:schemeClr val="accent1"/>
                </a:solidFill>
                <a:latin typeface="+mj-lt"/>
              </a:rPr>
              <a:t>Tamao</a:t>
            </a:r>
            <a:r>
              <a:rPr lang="en-US" sz="2400" b="1" dirty="0">
                <a:solidFill>
                  <a:schemeClr val="accent1"/>
                </a:solidFill>
                <a:latin typeface="+mj-lt"/>
              </a:rPr>
              <a:t> Oxidation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3C16C54-290D-1E09-7AE4-64F100374FDF}"/>
              </a:ext>
            </a:extLst>
          </p:cNvPr>
          <p:cNvSpPr txBox="1"/>
          <p:nvPr/>
        </p:nvSpPr>
        <p:spPr>
          <a:xfrm>
            <a:off x="1379477" y="1415838"/>
            <a:ext cx="847889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Times New Roman" panose="02020603050405020304" pitchFamily="18" charset="0"/>
              </a:rPr>
              <a:t>W</a:t>
            </a:r>
            <a:r>
              <a:rPr lang="en-US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hile silicon is an important element to many functional materials, its conversion to a hydroxy group via a </a:t>
            </a:r>
            <a:r>
              <a:rPr lang="en-US" sz="180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Tamao</a:t>
            </a:r>
            <a:r>
              <a:rPr lang="en-US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-Fleming oxidation would lead to a more versatile alcohol functional group. </a:t>
            </a: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83921CAD-AB0A-637F-C514-AA4215CCF6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4891401"/>
              </p:ext>
            </p:extLst>
          </p:nvPr>
        </p:nvGraphicFramePr>
        <p:xfrm>
          <a:off x="2832099" y="4473656"/>
          <a:ext cx="6527799" cy="125593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562100">
                  <a:extLst>
                    <a:ext uri="{9D8B030D-6E8A-4147-A177-3AD203B41FA5}">
                      <a16:colId xmlns:a16="http://schemas.microsoft.com/office/drawing/2014/main" val="3814903596"/>
                    </a:ext>
                  </a:extLst>
                </a:gridCol>
                <a:gridCol w="2789766">
                  <a:extLst>
                    <a:ext uri="{9D8B030D-6E8A-4147-A177-3AD203B41FA5}">
                      <a16:colId xmlns:a16="http://schemas.microsoft.com/office/drawing/2014/main" val="6722692"/>
                    </a:ext>
                  </a:extLst>
                </a:gridCol>
                <a:gridCol w="2175933">
                  <a:extLst>
                    <a:ext uri="{9D8B030D-6E8A-4147-A177-3AD203B41FA5}">
                      <a16:colId xmlns:a16="http://schemas.microsoft.com/office/drawing/2014/main" val="1266449228"/>
                    </a:ext>
                  </a:extLst>
                </a:gridCol>
              </a:tblGrid>
              <a:tr h="31398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Entry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Conditions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Time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333664879"/>
                  </a:ext>
                </a:extLst>
              </a:tr>
              <a:tr h="31398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1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R</a:t>
                      </a:r>
                      <a:r>
                        <a:rPr lang="en-US" sz="1100" baseline="-25000">
                          <a:effectLst/>
                        </a:rPr>
                        <a:t>3</a:t>
                      </a:r>
                      <a:r>
                        <a:rPr lang="en-US" sz="1100">
                          <a:effectLst/>
                        </a:rPr>
                        <a:t> = Ph</a:t>
                      </a:r>
                      <a:r>
                        <a:rPr lang="en-US" sz="1100" baseline="-25000">
                          <a:effectLst/>
                        </a:rPr>
                        <a:t>3</a:t>
                      </a:r>
                      <a:r>
                        <a:rPr lang="en-US" sz="1100">
                          <a:effectLst/>
                        </a:rPr>
                        <a:t> : TBAF, DCM, Δ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3 </a:t>
                      </a:r>
                      <a:r>
                        <a:rPr lang="en-US" sz="1100" dirty="0" err="1">
                          <a:effectLst/>
                        </a:rPr>
                        <a:t>hr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553087279"/>
                  </a:ext>
                </a:extLst>
              </a:tr>
              <a:tr h="31398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2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R</a:t>
                      </a:r>
                      <a:r>
                        <a:rPr lang="en-US" sz="1100" baseline="-25000">
                          <a:effectLst/>
                        </a:rPr>
                        <a:t>3</a:t>
                      </a:r>
                      <a:r>
                        <a:rPr lang="en-US" sz="1100">
                          <a:effectLst/>
                        </a:rPr>
                        <a:t> = Ph</a:t>
                      </a:r>
                      <a:r>
                        <a:rPr lang="en-US" sz="1100" baseline="-25000">
                          <a:effectLst/>
                        </a:rPr>
                        <a:t>3</a:t>
                      </a:r>
                      <a:r>
                        <a:rPr lang="en-US" sz="1100">
                          <a:effectLst/>
                        </a:rPr>
                        <a:t> : </a:t>
                      </a:r>
                      <a:r>
                        <a:rPr lang="en-GB" sz="1100">
                          <a:effectLst/>
                        </a:rPr>
                        <a:t>BF</a:t>
                      </a:r>
                      <a:r>
                        <a:rPr lang="en-GB" sz="1100" baseline="-25000">
                          <a:effectLst/>
                        </a:rPr>
                        <a:t>3</a:t>
                      </a:r>
                      <a:r>
                        <a:rPr lang="en-GB" sz="1100">
                          <a:effectLst/>
                        </a:rPr>
                        <a:t>-2AcOH, </a:t>
                      </a:r>
                      <a:r>
                        <a:rPr lang="en-US" sz="1100">
                          <a:effectLst/>
                        </a:rPr>
                        <a:t>DCM, Δ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5 hr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129605200"/>
                  </a:ext>
                </a:extLst>
              </a:tr>
              <a:tr h="31398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3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R</a:t>
                      </a:r>
                      <a:r>
                        <a:rPr lang="en-US" sz="1100" baseline="-25000">
                          <a:effectLst/>
                        </a:rPr>
                        <a:t>3</a:t>
                      </a:r>
                      <a:r>
                        <a:rPr lang="en-US" sz="1100">
                          <a:effectLst/>
                        </a:rPr>
                        <a:t> = PhMe</a:t>
                      </a:r>
                      <a:r>
                        <a:rPr lang="en-US" sz="1100" baseline="-25000">
                          <a:effectLst/>
                        </a:rPr>
                        <a:t>2</a:t>
                      </a:r>
                      <a:r>
                        <a:rPr lang="en-US" sz="1100">
                          <a:effectLst/>
                        </a:rPr>
                        <a:t> : </a:t>
                      </a:r>
                      <a:r>
                        <a:rPr lang="en-GB" sz="1100">
                          <a:effectLst/>
                        </a:rPr>
                        <a:t>BF</a:t>
                      </a:r>
                      <a:r>
                        <a:rPr lang="en-GB" sz="1100" baseline="-25000">
                          <a:effectLst/>
                        </a:rPr>
                        <a:t>3</a:t>
                      </a:r>
                      <a:r>
                        <a:rPr lang="en-GB" sz="1100">
                          <a:effectLst/>
                        </a:rPr>
                        <a:t>-2AcOH, </a:t>
                      </a:r>
                      <a:r>
                        <a:rPr lang="en-US" sz="1100">
                          <a:effectLst/>
                        </a:rPr>
                        <a:t>DCM, rt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5 min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880777627"/>
                  </a:ext>
                </a:extLst>
              </a:tr>
            </a:tbl>
          </a:graphicData>
        </a:graphic>
      </p:graphicFrame>
      <p:graphicFrame>
        <p:nvGraphicFramePr>
          <p:cNvPr id="13" name="Object 12">
            <a:extLst>
              <a:ext uri="{FF2B5EF4-FFF2-40B4-BE49-F238E27FC236}">
                <a16:creationId xmlns:a16="http://schemas.microsoft.com/office/drawing/2014/main" id="{5DDA9E33-16EB-FDD7-DC9A-61568630259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34124818"/>
              </p:ext>
            </p:extLst>
          </p:nvPr>
        </p:nvGraphicFramePr>
        <p:xfrm>
          <a:off x="2335213" y="2784475"/>
          <a:ext cx="7521575" cy="168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4" imgW="6270702" imgH="1406259" progId="ChemDraw.Document.6.0">
                  <p:embed/>
                </p:oleObj>
              </mc:Choice>
              <mc:Fallback>
                <p:oleObj name="CS ChemDraw Drawing" r:id="rId4" imgW="6270702" imgH="1406259" progId="ChemDraw.Document.6.0">
                  <p:embed/>
                  <p:pic>
                    <p:nvPicPr>
                      <p:cNvPr id="13" name="Object 12">
                        <a:extLst>
                          <a:ext uri="{FF2B5EF4-FFF2-40B4-BE49-F238E27FC236}">
                            <a16:creationId xmlns:a16="http://schemas.microsoft.com/office/drawing/2014/main" id="{5DDA9E33-16EB-FDD7-DC9A-61568630259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5213" y="2784475"/>
                        <a:ext cx="7521575" cy="1689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A4F2F05E-0B00-74E6-D51F-B21DD28B2A0E}"/>
              </a:ext>
            </a:extLst>
          </p:cNvPr>
          <p:cNvSpPr txBox="1"/>
          <p:nvPr/>
        </p:nvSpPr>
        <p:spPr>
          <a:xfrm>
            <a:off x="11814628" y="6518740"/>
            <a:ext cx="34176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57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0BD5581-419E-BAE8-CF8A-8F68BCB3220F}"/>
              </a:ext>
            </a:extLst>
          </p:cNvPr>
          <p:cNvSpPr txBox="1"/>
          <p:nvPr/>
        </p:nvSpPr>
        <p:spPr>
          <a:xfrm>
            <a:off x="0" y="6220512"/>
            <a:ext cx="49940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dirty="0"/>
              <a:t>Yamashita, Y.; Minami, K.; Kobayashi, S. Catalytic Addition Reactions of </a:t>
            </a:r>
            <a:r>
              <a:rPr lang="en-GB" sz="900" dirty="0" err="1"/>
              <a:t>Alkylazaarenes</a:t>
            </a:r>
            <a:r>
              <a:rPr lang="en-GB" sz="900" dirty="0"/>
              <a:t> to </a:t>
            </a:r>
            <a:r>
              <a:rPr lang="en-GB" sz="900" dirty="0" err="1"/>
              <a:t>Vinylsilanes</a:t>
            </a:r>
            <a:r>
              <a:rPr lang="en-GB" sz="900" dirty="0"/>
              <a:t>. Chem. Lett. 2018, 47 (5), 690–692. 45. </a:t>
            </a:r>
          </a:p>
          <a:p>
            <a:r>
              <a:rPr lang="en-GB" sz="900" dirty="0"/>
              <a:t>Matsumura, Y.; Suzuki, T.; </a:t>
            </a:r>
            <a:r>
              <a:rPr lang="en-GB" sz="900" dirty="0" err="1"/>
              <a:t>Sakakura</a:t>
            </a:r>
            <a:r>
              <a:rPr lang="en-GB" sz="900" dirty="0"/>
              <a:t>, A.; Ishihara, K. Catalytic Enantioselective Inverse Electron Demand Hetero-Diels-Alder Reaction with Allylsilanes. </a:t>
            </a:r>
            <a:r>
              <a:rPr lang="en-GB" sz="900" dirty="0" err="1"/>
              <a:t>Angew</a:t>
            </a:r>
            <a:r>
              <a:rPr lang="en-GB" sz="900" dirty="0"/>
              <a:t>. Chem. Int. Ed 2014, 53 (24), 6131–6134.</a:t>
            </a:r>
          </a:p>
        </p:txBody>
      </p:sp>
    </p:spTree>
    <p:extLst>
      <p:ext uri="{BB962C8B-B14F-4D97-AF65-F5344CB8AC3E}">
        <p14:creationId xmlns:p14="http://schemas.microsoft.com/office/powerpoint/2010/main" val="388952801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4">
            <a:extLst>
              <a:ext uri="{FF2B5EF4-FFF2-40B4-BE49-F238E27FC236}">
                <a16:creationId xmlns:a16="http://schemas.microsoft.com/office/drawing/2014/main" id="{6FFA88E9-9DDB-F5FE-E49C-3A6CA8FC3AF8}"/>
              </a:ext>
            </a:extLst>
          </p:cNvPr>
          <p:cNvGrpSpPr>
            <a:grpSpLocks/>
          </p:cNvGrpSpPr>
          <p:nvPr/>
        </p:nvGrpSpPr>
        <p:grpSpPr bwMode="auto">
          <a:xfrm>
            <a:off x="1" y="268804"/>
            <a:ext cx="9144000" cy="1143000"/>
            <a:chOff x="1" y="76200"/>
            <a:chExt cx="9144000" cy="1143000"/>
          </a:xfrm>
        </p:grpSpPr>
        <p:grpSp>
          <p:nvGrpSpPr>
            <p:cNvPr id="3" name="Group 15">
              <a:extLst>
                <a:ext uri="{FF2B5EF4-FFF2-40B4-BE49-F238E27FC236}">
                  <a16:creationId xmlns:a16="http://schemas.microsoft.com/office/drawing/2014/main" id="{94790C34-3FC2-C805-563F-2BC596128C2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" y="161928"/>
              <a:ext cx="9144000" cy="993788"/>
              <a:chOff x="0" y="102"/>
              <a:chExt cx="5760" cy="626"/>
            </a:xfrm>
          </p:grpSpPr>
          <p:sp>
            <p:nvSpPr>
              <p:cNvPr id="6" name="Rectangle 3">
                <a:extLst>
                  <a:ext uri="{FF2B5EF4-FFF2-40B4-BE49-F238E27FC236}">
                    <a16:creationId xmlns:a16="http://schemas.microsoft.com/office/drawing/2014/main" id="{77C081ED-CF3C-D08E-4DF9-0927F7F037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0" y="332"/>
                <a:ext cx="5760" cy="233"/>
              </a:xfrm>
              <a:prstGeom prst="rect">
                <a:avLst/>
              </a:prstGeom>
              <a:gradFill rotWithShape="1">
                <a:gsLst>
                  <a:gs pos="0">
                    <a:srgbClr val="DDDDDD"/>
                  </a:gs>
                  <a:gs pos="100000">
                    <a:schemeClr val="tx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800">
                  <a:latin typeface="Helvetica" panose="020B0604020202020204" pitchFamily="34" charset="0"/>
                  <a:cs typeface="Helvetica" panose="020B0604020202020204" pitchFamily="34" charset="0"/>
                </a:endParaRPr>
              </a:p>
            </p:txBody>
          </p:sp>
          <p:pic>
            <p:nvPicPr>
              <p:cNvPr id="7" name="Picture 5" descr="images">
                <a:extLst>
                  <a:ext uri="{FF2B5EF4-FFF2-40B4-BE49-F238E27FC236}">
                    <a16:creationId xmlns:a16="http://schemas.microsoft.com/office/drawing/2014/main" id="{1B306D63-50CE-22D1-22DD-A74D2D48363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92" y="102"/>
                <a:ext cx="626" cy="6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62D551A7-127E-2421-2FE8-36A806AD3E5A}"/>
                </a:ext>
              </a:extLst>
            </p:cNvPr>
            <p:cNvSpPr/>
            <p:nvPr/>
          </p:nvSpPr>
          <p:spPr>
            <a:xfrm>
              <a:off x="152400" y="76200"/>
              <a:ext cx="1676400" cy="1143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US">
                <a:latin typeface="Helvetica" panose="020B0604020202020204" pitchFamily="34" charset="0"/>
                <a:cs typeface="Helvetica" panose="020B0604020202020204" pitchFamily="34" charset="0"/>
              </a:endParaRPr>
            </a:p>
          </p:txBody>
        </p:sp>
        <p:pic>
          <p:nvPicPr>
            <p:cNvPr id="5" name="Picture 4" descr="http://images.wikia.com/logopedia/images/4/4a/Western_Washington_University_2010.png">
              <a:extLst>
                <a:ext uri="{FF2B5EF4-FFF2-40B4-BE49-F238E27FC236}">
                  <a16:creationId xmlns:a16="http://schemas.microsoft.com/office/drawing/2014/main" id="{DD7004CA-E86B-C5CE-A31F-CB3A8D815C6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1237" y="76200"/>
              <a:ext cx="1663602" cy="838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9" name="Rectangle 2">
            <a:extLst>
              <a:ext uri="{FF2B5EF4-FFF2-40B4-BE49-F238E27FC236}">
                <a16:creationId xmlns:a16="http://schemas.microsoft.com/office/drawing/2014/main" id="{674683CA-3369-DD55-E441-78478ED7E9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10" name="Object 9">
            <a:extLst>
              <a:ext uri="{FF2B5EF4-FFF2-40B4-BE49-F238E27FC236}">
                <a16:creationId xmlns:a16="http://schemas.microsoft.com/office/drawing/2014/main" id="{C0386D5E-EB35-B626-AEFD-A0BE0B1EE7D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21058971"/>
              </p:ext>
            </p:extLst>
          </p:nvPr>
        </p:nvGraphicFramePr>
        <p:xfrm>
          <a:off x="2122488" y="2351088"/>
          <a:ext cx="7947025" cy="2155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4" imgW="6627240" imgH="1797480" progId="ChemDraw.Document.6.0">
                  <p:embed/>
                </p:oleObj>
              </mc:Choice>
              <mc:Fallback>
                <p:oleObj name="CS ChemDraw Drawing" r:id="rId4" imgW="6627240" imgH="1797480" progId="ChemDraw.Document.6.0">
                  <p:embed/>
                  <p:pic>
                    <p:nvPicPr>
                      <p:cNvPr id="10" name="Object 9">
                        <a:extLst>
                          <a:ext uri="{FF2B5EF4-FFF2-40B4-BE49-F238E27FC236}">
                            <a16:creationId xmlns:a16="http://schemas.microsoft.com/office/drawing/2014/main" id="{C0386D5E-EB35-B626-AEFD-A0BE0B1EE7D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2488" y="2351088"/>
                        <a:ext cx="7947025" cy="21558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44C46FFF-DE2D-92CA-2E47-86CFA0D2E91A}"/>
              </a:ext>
            </a:extLst>
          </p:cNvPr>
          <p:cNvSpPr txBox="1"/>
          <p:nvPr/>
        </p:nvSpPr>
        <p:spPr>
          <a:xfrm>
            <a:off x="1379477" y="1415838"/>
            <a:ext cx="84788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Times New Roman" panose="02020603050405020304" pitchFamily="18" charset="0"/>
              </a:rPr>
              <a:t>Using a different allylsilane as a masked hydroxy group to oxidize silicon.</a:t>
            </a:r>
            <a:endParaRPr lang="en-US" sz="1800" dirty="0">
              <a:effectLst/>
              <a:latin typeface="Calibri" panose="020F0502020204030204" pitchFamily="34" charset="0"/>
              <a:ea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10F5202-984A-C665-F947-5FEFC89CDDF5}"/>
              </a:ext>
            </a:extLst>
          </p:cNvPr>
          <p:cNvSpPr txBox="1"/>
          <p:nvPr/>
        </p:nvSpPr>
        <p:spPr>
          <a:xfrm>
            <a:off x="1814839" y="123796"/>
            <a:ext cx="48444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accent1"/>
                </a:solidFill>
                <a:latin typeface="+mj-lt"/>
              </a:rPr>
              <a:t>Transformations and </a:t>
            </a:r>
            <a:r>
              <a:rPr lang="en-US" sz="2400" b="1" dirty="0" err="1">
                <a:solidFill>
                  <a:schemeClr val="accent1"/>
                </a:solidFill>
                <a:latin typeface="+mj-lt"/>
              </a:rPr>
              <a:t>Tamao</a:t>
            </a:r>
            <a:r>
              <a:rPr lang="en-US" sz="2400" b="1" dirty="0">
                <a:solidFill>
                  <a:schemeClr val="accent1"/>
                </a:solidFill>
                <a:latin typeface="+mj-lt"/>
              </a:rPr>
              <a:t> Oxidation 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8303A110-46F5-7A51-84C0-5671955168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5760461"/>
              </p:ext>
            </p:extLst>
          </p:nvPr>
        </p:nvGraphicFramePr>
        <p:xfrm>
          <a:off x="2832100" y="4529778"/>
          <a:ext cx="6527799" cy="125593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562100">
                  <a:extLst>
                    <a:ext uri="{9D8B030D-6E8A-4147-A177-3AD203B41FA5}">
                      <a16:colId xmlns:a16="http://schemas.microsoft.com/office/drawing/2014/main" val="3814903596"/>
                    </a:ext>
                  </a:extLst>
                </a:gridCol>
                <a:gridCol w="2789766">
                  <a:extLst>
                    <a:ext uri="{9D8B030D-6E8A-4147-A177-3AD203B41FA5}">
                      <a16:colId xmlns:a16="http://schemas.microsoft.com/office/drawing/2014/main" val="6722692"/>
                    </a:ext>
                  </a:extLst>
                </a:gridCol>
                <a:gridCol w="2175933">
                  <a:extLst>
                    <a:ext uri="{9D8B030D-6E8A-4147-A177-3AD203B41FA5}">
                      <a16:colId xmlns:a16="http://schemas.microsoft.com/office/drawing/2014/main" val="1266449228"/>
                    </a:ext>
                  </a:extLst>
                </a:gridCol>
              </a:tblGrid>
              <a:tr h="31398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Entry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Conditions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Time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333664879"/>
                  </a:ext>
                </a:extLst>
              </a:tr>
              <a:tr h="31398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1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</a:rPr>
                        <a:t>BF</a:t>
                      </a:r>
                      <a:r>
                        <a:rPr lang="en-GB" sz="1200" baseline="-25000" dirty="0">
                          <a:effectLst/>
                        </a:rPr>
                        <a:t>3</a:t>
                      </a:r>
                      <a:r>
                        <a:rPr lang="en-GB" sz="1200" dirty="0">
                          <a:effectLst/>
                        </a:rPr>
                        <a:t>-2AcOH, </a:t>
                      </a:r>
                      <a:r>
                        <a:rPr lang="en-US" sz="1200" dirty="0">
                          <a:effectLst/>
                        </a:rPr>
                        <a:t>DCM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30 min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553087279"/>
                  </a:ext>
                </a:extLst>
              </a:tr>
              <a:tr h="31398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2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I</a:t>
                      </a:r>
                      <a:r>
                        <a:rPr lang="en-US" sz="1100" baseline="-25000" dirty="0">
                          <a:effectLst/>
                        </a:rPr>
                        <a:t>2</a:t>
                      </a:r>
                      <a:r>
                        <a:rPr lang="en-US" sz="1100" baseline="0" dirty="0">
                          <a:effectLst/>
                        </a:rPr>
                        <a:t>, MeOH, DCM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1 h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129605200"/>
                  </a:ext>
                </a:extLst>
              </a:tr>
              <a:tr h="31398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3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I</a:t>
                      </a:r>
                      <a:r>
                        <a:rPr lang="en-US" sz="1100" baseline="-25000" dirty="0">
                          <a:effectLst/>
                        </a:rPr>
                        <a:t>2</a:t>
                      </a:r>
                      <a:r>
                        <a:rPr lang="en-US" sz="1100" baseline="0" dirty="0">
                          <a:effectLst/>
                        </a:rPr>
                        <a:t>, </a:t>
                      </a:r>
                      <a:r>
                        <a:rPr lang="en-US" sz="1100" baseline="0" dirty="0" err="1">
                          <a:effectLst/>
                        </a:rPr>
                        <a:t>CyOH</a:t>
                      </a:r>
                      <a:r>
                        <a:rPr lang="en-US" sz="1100" baseline="0" dirty="0">
                          <a:effectLst/>
                        </a:rPr>
                        <a:t>, DCM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1 h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880777627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D404637A-D26C-D741-E5B2-1910D1253979}"/>
              </a:ext>
            </a:extLst>
          </p:cNvPr>
          <p:cNvSpPr txBox="1"/>
          <p:nvPr/>
        </p:nvSpPr>
        <p:spPr>
          <a:xfrm>
            <a:off x="11814628" y="6518740"/>
            <a:ext cx="34176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58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BBC5DFC-ABB1-D5E0-7205-8EE02889CC78}"/>
              </a:ext>
            </a:extLst>
          </p:cNvPr>
          <p:cNvSpPr txBox="1"/>
          <p:nvPr/>
        </p:nvSpPr>
        <p:spPr>
          <a:xfrm>
            <a:off x="0" y="6220512"/>
            <a:ext cx="49940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dirty="0"/>
              <a:t>Yamashita, Y.; Minami, K.; Kobayashi, S. Catalytic Addition Reactions of </a:t>
            </a:r>
            <a:r>
              <a:rPr lang="en-GB" sz="900" dirty="0" err="1"/>
              <a:t>Alkylazaarenes</a:t>
            </a:r>
            <a:r>
              <a:rPr lang="en-GB" sz="900" dirty="0"/>
              <a:t> to </a:t>
            </a:r>
            <a:r>
              <a:rPr lang="en-GB" sz="900" dirty="0" err="1"/>
              <a:t>Vinylsilanes</a:t>
            </a:r>
            <a:r>
              <a:rPr lang="en-GB" sz="900" dirty="0"/>
              <a:t>. Chem. Lett. 2018, 47 (5), 690–692. 45. </a:t>
            </a:r>
          </a:p>
          <a:p>
            <a:r>
              <a:rPr lang="en-GB" sz="900" dirty="0"/>
              <a:t>Matsumura, Y.; Suzuki, T.; </a:t>
            </a:r>
            <a:r>
              <a:rPr lang="en-GB" sz="900" dirty="0" err="1"/>
              <a:t>Sakakura</a:t>
            </a:r>
            <a:r>
              <a:rPr lang="en-GB" sz="900" dirty="0"/>
              <a:t>, A.; Ishihara, K. Catalytic Enantioselective Inverse Electron Demand Hetero-Diels-Alder Reaction with Allylsilanes. </a:t>
            </a:r>
            <a:r>
              <a:rPr lang="en-GB" sz="900" dirty="0" err="1"/>
              <a:t>Angew</a:t>
            </a:r>
            <a:r>
              <a:rPr lang="en-GB" sz="900" dirty="0"/>
              <a:t>. Chem. Int. Ed 2014, 53 (24), 6131–6134.</a:t>
            </a:r>
          </a:p>
        </p:txBody>
      </p:sp>
    </p:spTree>
    <p:extLst>
      <p:ext uri="{BB962C8B-B14F-4D97-AF65-F5344CB8AC3E}">
        <p14:creationId xmlns:p14="http://schemas.microsoft.com/office/powerpoint/2010/main" val="211324885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4">
            <a:extLst>
              <a:ext uri="{FF2B5EF4-FFF2-40B4-BE49-F238E27FC236}">
                <a16:creationId xmlns:a16="http://schemas.microsoft.com/office/drawing/2014/main" id="{6FFA88E9-9DDB-F5FE-E49C-3A6CA8FC3AF8}"/>
              </a:ext>
            </a:extLst>
          </p:cNvPr>
          <p:cNvGrpSpPr>
            <a:grpSpLocks/>
          </p:cNvGrpSpPr>
          <p:nvPr/>
        </p:nvGrpSpPr>
        <p:grpSpPr bwMode="auto">
          <a:xfrm>
            <a:off x="1" y="268804"/>
            <a:ext cx="9144000" cy="1143000"/>
            <a:chOff x="1" y="76200"/>
            <a:chExt cx="9144000" cy="1143000"/>
          </a:xfrm>
        </p:grpSpPr>
        <p:grpSp>
          <p:nvGrpSpPr>
            <p:cNvPr id="3" name="Group 15">
              <a:extLst>
                <a:ext uri="{FF2B5EF4-FFF2-40B4-BE49-F238E27FC236}">
                  <a16:creationId xmlns:a16="http://schemas.microsoft.com/office/drawing/2014/main" id="{94790C34-3FC2-C805-563F-2BC596128C2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" y="161928"/>
              <a:ext cx="9144000" cy="993788"/>
              <a:chOff x="0" y="102"/>
              <a:chExt cx="5760" cy="626"/>
            </a:xfrm>
          </p:grpSpPr>
          <p:sp>
            <p:nvSpPr>
              <p:cNvPr id="6" name="Rectangle 3">
                <a:extLst>
                  <a:ext uri="{FF2B5EF4-FFF2-40B4-BE49-F238E27FC236}">
                    <a16:creationId xmlns:a16="http://schemas.microsoft.com/office/drawing/2014/main" id="{77C081ED-CF3C-D08E-4DF9-0927F7F037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0" y="332"/>
                <a:ext cx="5760" cy="233"/>
              </a:xfrm>
              <a:prstGeom prst="rect">
                <a:avLst/>
              </a:prstGeom>
              <a:gradFill rotWithShape="1">
                <a:gsLst>
                  <a:gs pos="0">
                    <a:srgbClr val="DDDDDD"/>
                  </a:gs>
                  <a:gs pos="100000">
                    <a:schemeClr val="tx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800">
                  <a:latin typeface="Helvetica" panose="020B0604020202020204" pitchFamily="34" charset="0"/>
                  <a:cs typeface="Helvetica" panose="020B0604020202020204" pitchFamily="34" charset="0"/>
                </a:endParaRPr>
              </a:p>
            </p:txBody>
          </p:sp>
          <p:pic>
            <p:nvPicPr>
              <p:cNvPr id="7" name="Picture 5" descr="images">
                <a:extLst>
                  <a:ext uri="{FF2B5EF4-FFF2-40B4-BE49-F238E27FC236}">
                    <a16:creationId xmlns:a16="http://schemas.microsoft.com/office/drawing/2014/main" id="{1B306D63-50CE-22D1-22DD-A74D2D48363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92" y="102"/>
                <a:ext cx="626" cy="6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62D551A7-127E-2421-2FE8-36A806AD3E5A}"/>
                </a:ext>
              </a:extLst>
            </p:cNvPr>
            <p:cNvSpPr/>
            <p:nvPr/>
          </p:nvSpPr>
          <p:spPr>
            <a:xfrm>
              <a:off x="152400" y="76200"/>
              <a:ext cx="1676400" cy="1143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US">
                <a:latin typeface="Helvetica" panose="020B0604020202020204" pitchFamily="34" charset="0"/>
                <a:cs typeface="Helvetica" panose="020B0604020202020204" pitchFamily="34" charset="0"/>
              </a:endParaRPr>
            </a:p>
          </p:txBody>
        </p:sp>
        <p:pic>
          <p:nvPicPr>
            <p:cNvPr id="5" name="Picture 4" descr="http://images.wikia.com/logopedia/images/4/4a/Western_Washington_University_2010.png">
              <a:extLst>
                <a:ext uri="{FF2B5EF4-FFF2-40B4-BE49-F238E27FC236}">
                  <a16:creationId xmlns:a16="http://schemas.microsoft.com/office/drawing/2014/main" id="{DD7004CA-E86B-C5CE-A31F-CB3A8D815C6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1237" y="76200"/>
              <a:ext cx="1663602" cy="838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DD30D270-8517-EECD-9F2E-787C3C6883CA}"/>
              </a:ext>
            </a:extLst>
          </p:cNvPr>
          <p:cNvSpPr txBox="1"/>
          <p:nvPr/>
        </p:nvSpPr>
        <p:spPr>
          <a:xfrm>
            <a:off x="1814839" y="123796"/>
            <a:ext cx="14109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accent1"/>
                </a:solidFill>
                <a:latin typeface="+mj-lt"/>
              </a:rPr>
              <a:t>Success!!!</a:t>
            </a: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CDC2D8F9-5D69-4CE4-DDE3-5D72DACB0E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10" name="Object 9">
            <a:extLst>
              <a:ext uri="{FF2B5EF4-FFF2-40B4-BE49-F238E27FC236}">
                <a16:creationId xmlns:a16="http://schemas.microsoft.com/office/drawing/2014/main" id="{18D8F4B9-C54F-7BF5-ACC3-48B9C738D6C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92106691"/>
              </p:ext>
            </p:extLst>
          </p:nvPr>
        </p:nvGraphicFramePr>
        <p:xfrm>
          <a:off x="2545556" y="3221250"/>
          <a:ext cx="7100887" cy="2220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4" imgW="5920435" imgH="1851348" progId="ChemDraw.Document.6.0">
                  <p:embed/>
                </p:oleObj>
              </mc:Choice>
              <mc:Fallback>
                <p:oleObj name="CS ChemDraw Drawing" r:id="rId4" imgW="5920435" imgH="1851348" progId="ChemDraw.Document.6.0">
                  <p:embed/>
                  <p:pic>
                    <p:nvPicPr>
                      <p:cNvPr id="10" name="Object 9">
                        <a:extLst>
                          <a:ext uri="{FF2B5EF4-FFF2-40B4-BE49-F238E27FC236}">
                            <a16:creationId xmlns:a16="http://schemas.microsoft.com/office/drawing/2014/main" id="{18D8F4B9-C54F-7BF5-ACC3-48B9C738D6C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45556" y="3221250"/>
                        <a:ext cx="7100887" cy="22209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CF5D8F31-2100-E985-E138-86D5C1012FAF}"/>
              </a:ext>
            </a:extLst>
          </p:cNvPr>
          <p:cNvSpPr txBox="1"/>
          <p:nvPr/>
        </p:nvSpPr>
        <p:spPr>
          <a:xfrm>
            <a:off x="1379477" y="1415838"/>
            <a:ext cx="9144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With our options for a </a:t>
            </a:r>
            <a:r>
              <a:rPr lang="en-GB" sz="180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Tamao</a:t>
            </a:r>
            <a:r>
              <a:rPr lang="en-GB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 oxidation becoming limited, we decided to try a one-pot procedure.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Times New Roman" panose="02020603050405020304" pitchFamily="18" charset="0"/>
              </a:rPr>
              <a:t>Thankfully this one-pot worked, although in low yield.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Triphenyl resulted in recove</a:t>
            </a:r>
            <a:r>
              <a:rPr lang="en-GB" dirty="0">
                <a:latin typeface="Calibri" panose="020F0502020204030204" pitchFamily="34" charset="0"/>
                <a:ea typeface="Times New Roman" panose="02020603050405020304" pitchFamily="18" charset="0"/>
              </a:rPr>
              <a:t>ry of starting material.</a:t>
            </a:r>
            <a:endParaRPr lang="en-US" sz="1800" dirty="0">
              <a:effectLst/>
              <a:latin typeface="Calibri" panose="020F0502020204030204" pitchFamily="34" charset="0"/>
              <a:ea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3420EE3-9C8E-83DA-701C-DDE6777C0323}"/>
              </a:ext>
            </a:extLst>
          </p:cNvPr>
          <p:cNvSpPr txBox="1"/>
          <p:nvPr/>
        </p:nvSpPr>
        <p:spPr>
          <a:xfrm>
            <a:off x="11814628" y="6518740"/>
            <a:ext cx="34176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59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DC752AE-AFE0-09EF-E919-69C069F928B7}"/>
              </a:ext>
            </a:extLst>
          </p:cNvPr>
          <p:cNvSpPr txBox="1"/>
          <p:nvPr/>
        </p:nvSpPr>
        <p:spPr>
          <a:xfrm>
            <a:off x="0" y="6503468"/>
            <a:ext cx="47222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dirty="0"/>
              <a:t>Ibrahim, S. M. S.; Banerjee, K.; Slater, K. A.; </a:t>
            </a:r>
            <a:r>
              <a:rPr lang="en-GB" sz="900" dirty="0" err="1"/>
              <a:t>Friestad</a:t>
            </a:r>
            <a:r>
              <a:rPr lang="en-GB" sz="900" dirty="0"/>
              <a:t>, G. K. “A Tamao–Fleming Oxidation Route to Dipeptides Bearing N,O-Acetal Functionality” Tetrahedron Lett. 2017, 58, 4864– 4866.</a:t>
            </a:r>
          </a:p>
        </p:txBody>
      </p:sp>
    </p:spTree>
    <p:extLst>
      <p:ext uri="{BB962C8B-B14F-4D97-AF65-F5344CB8AC3E}">
        <p14:creationId xmlns:p14="http://schemas.microsoft.com/office/powerpoint/2010/main" val="1116924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4">
            <a:extLst>
              <a:ext uri="{FF2B5EF4-FFF2-40B4-BE49-F238E27FC236}">
                <a16:creationId xmlns:a16="http://schemas.microsoft.com/office/drawing/2014/main" id="{6FFA88E9-9DDB-F5FE-E49C-3A6CA8FC3AF8}"/>
              </a:ext>
            </a:extLst>
          </p:cNvPr>
          <p:cNvGrpSpPr>
            <a:grpSpLocks/>
          </p:cNvGrpSpPr>
          <p:nvPr/>
        </p:nvGrpSpPr>
        <p:grpSpPr bwMode="auto">
          <a:xfrm>
            <a:off x="1" y="268804"/>
            <a:ext cx="9144000" cy="1143000"/>
            <a:chOff x="1" y="76200"/>
            <a:chExt cx="9144000" cy="1143000"/>
          </a:xfrm>
        </p:grpSpPr>
        <p:grpSp>
          <p:nvGrpSpPr>
            <p:cNvPr id="3" name="Group 15">
              <a:extLst>
                <a:ext uri="{FF2B5EF4-FFF2-40B4-BE49-F238E27FC236}">
                  <a16:creationId xmlns:a16="http://schemas.microsoft.com/office/drawing/2014/main" id="{94790C34-3FC2-C805-563F-2BC596128C2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" y="161928"/>
              <a:ext cx="9144000" cy="993788"/>
              <a:chOff x="0" y="102"/>
              <a:chExt cx="5760" cy="626"/>
            </a:xfrm>
          </p:grpSpPr>
          <p:sp>
            <p:nvSpPr>
              <p:cNvPr id="6" name="Rectangle 3">
                <a:extLst>
                  <a:ext uri="{FF2B5EF4-FFF2-40B4-BE49-F238E27FC236}">
                    <a16:creationId xmlns:a16="http://schemas.microsoft.com/office/drawing/2014/main" id="{77C081ED-CF3C-D08E-4DF9-0927F7F037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0" y="332"/>
                <a:ext cx="5760" cy="233"/>
              </a:xfrm>
              <a:prstGeom prst="rect">
                <a:avLst/>
              </a:prstGeom>
              <a:gradFill rotWithShape="1">
                <a:gsLst>
                  <a:gs pos="0">
                    <a:srgbClr val="DDDDDD"/>
                  </a:gs>
                  <a:gs pos="100000">
                    <a:schemeClr val="tx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800">
                  <a:latin typeface="Helvetica" panose="020B0604020202020204" pitchFamily="34" charset="0"/>
                  <a:cs typeface="Helvetica" panose="020B0604020202020204" pitchFamily="34" charset="0"/>
                </a:endParaRPr>
              </a:p>
            </p:txBody>
          </p:sp>
          <p:pic>
            <p:nvPicPr>
              <p:cNvPr id="7" name="Picture 5" descr="images">
                <a:extLst>
                  <a:ext uri="{FF2B5EF4-FFF2-40B4-BE49-F238E27FC236}">
                    <a16:creationId xmlns:a16="http://schemas.microsoft.com/office/drawing/2014/main" id="{1B306D63-50CE-22D1-22DD-A74D2D48363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92" y="102"/>
                <a:ext cx="626" cy="6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62D551A7-127E-2421-2FE8-36A806AD3E5A}"/>
                </a:ext>
              </a:extLst>
            </p:cNvPr>
            <p:cNvSpPr/>
            <p:nvPr/>
          </p:nvSpPr>
          <p:spPr>
            <a:xfrm>
              <a:off x="152400" y="76200"/>
              <a:ext cx="1676400" cy="1143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US">
                <a:latin typeface="Helvetica" panose="020B0604020202020204" pitchFamily="34" charset="0"/>
                <a:cs typeface="Helvetica" panose="020B0604020202020204" pitchFamily="34" charset="0"/>
              </a:endParaRPr>
            </a:p>
          </p:txBody>
        </p:sp>
        <p:pic>
          <p:nvPicPr>
            <p:cNvPr id="5" name="Picture 4" descr="http://images.wikia.com/logopedia/images/4/4a/Western_Washington_University_2010.png">
              <a:extLst>
                <a:ext uri="{FF2B5EF4-FFF2-40B4-BE49-F238E27FC236}">
                  <a16:creationId xmlns:a16="http://schemas.microsoft.com/office/drawing/2014/main" id="{DD7004CA-E86B-C5CE-A31F-CB3A8D815C6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1237" y="76200"/>
              <a:ext cx="1663602" cy="838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DD30D270-8517-EECD-9F2E-787C3C6883CA}"/>
              </a:ext>
            </a:extLst>
          </p:cNvPr>
          <p:cNvSpPr txBox="1"/>
          <p:nvPr/>
        </p:nvSpPr>
        <p:spPr>
          <a:xfrm>
            <a:off x="1814839" y="123796"/>
            <a:ext cx="254447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accent1"/>
                </a:solidFill>
                <a:latin typeface="+mj-lt"/>
              </a:rPr>
              <a:t>Tamao Explanation </a:t>
            </a: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D909AB41-04A6-4783-EE8A-E96609B1BA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55075" y="234315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10" name="Object 9">
            <a:extLst>
              <a:ext uri="{FF2B5EF4-FFF2-40B4-BE49-F238E27FC236}">
                <a16:creationId xmlns:a16="http://schemas.microsoft.com/office/drawing/2014/main" id="{446AAACE-E927-0D66-6C80-97E4A1A9092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77141649"/>
              </p:ext>
            </p:extLst>
          </p:nvPr>
        </p:nvGraphicFramePr>
        <p:xfrm>
          <a:off x="2796509" y="3025581"/>
          <a:ext cx="6598981" cy="29278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4" imgW="5076139" imgH="2252230" progId="ChemDraw.Document.6.0">
                  <p:embed/>
                </p:oleObj>
              </mc:Choice>
              <mc:Fallback>
                <p:oleObj name="CS ChemDraw Drawing" r:id="rId4" imgW="5076139" imgH="2252230" progId="ChemDraw.Document.6.0">
                  <p:embed/>
                  <p:pic>
                    <p:nvPicPr>
                      <p:cNvPr id="10" name="Object 9">
                        <a:extLst>
                          <a:ext uri="{FF2B5EF4-FFF2-40B4-BE49-F238E27FC236}">
                            <a16:creationId xmlns:a16="http://schemas.microsoft.com/office/drawing/2014/main" id="{446AAACE-E927-0D66-6C80-97E4A1A9092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96509" y="3025581"/>
                        <a:ext cx="6598981" cy="2927899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EFC36A97-A042-1208-2309-40EB9D56F22C}"/>
              </a:ext>
            </a:extLst>
          </p:cNvPr>
          <p:cNvSpPr txBox="1"/>
          <p:nvPr/>
        </p:nvSpPr>
        <p:spPr>
          <a:xfrm>
            <a:off x="1450977" y="1271255"/>
            <a:ext cx="91440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Times New Roman" panose="02020603050405020304" pitchFamily="18" charset="0"/>
              </a:rPr>
              <a:t>Possible explanation for the low yielding </a:t>
            </a:r>
            <a:r>
              <a:rPr lang="en-GB" dirty="0" err="1">
                <a:latin typeface="Calibri" panose="020F0502020204030204" pitchFamily="34" charset="0"/>
                <a:ea typeface="Times New Roman" panose="02020603050405020304" pitchFamily="18" charset="0"/>
              </a:rPr>
              <a:t>Tamao</a:t>
            </a:r>
            <a:r>
              <a:rPr lang="en-GB" dirty="0">
                <a:latin typeface="Calibri" panose="020F0502020204030204" pitchFamily="34" charset="0"/>
                <a:ea typeface="Times New Roman" panose="02020603050405020304" pitchFamily="18" charset="0"/>
              </a:rPr>
              <a:t> oxidation.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800" i="1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Anti</a:t>
            </a:r>
            <a:r>
              <a:rPr lang="en-GB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 conformation of pentavalent silicon </a:t>
            </a:r>
            <a:r>
              <a:rPr lang="en-GB" dirty="0">
                <a:latin typeface="Calibri" panose="020F0502020204030204" pitchFamily="34" charset="0"/>
                <a:ea typeface="Times New Roman" panose="02020603050405020304" pitchFamily="18" charset="0"/>
              </a:rPr>
              <a:t>could increase the likelihood of</a:t>
            </a:r>
            <a:r>
              <a:rPr lang="en-GB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 </a:t>
            </a:r>
            <a:r>
              <a:rPr lang="en-GB" dirty="0">
                <a:latin typeface="Calibri" panose="020F0502020204030204" pitchFamily="34" charset="0"/>
                <a:ea typeface="Times New Roman" panose="02020603050405020304" pitchFamily="18" charset="0"/>
              </a:rPr>
              <a:t>the</a:t>
            </a:r>
            <a:r>
              <a:rPr lang="en-GB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 elimination </a:t>
            </a:r>
            <a:r>
              <a:rPr lang="en-GB" sz="180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rxn</a:t>
            </a:r>
            <a:r>
              <a:rPr lang="en-GB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 we observed.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If electrostatics attraction (</a:t>
            </a:r>
            <a:r>
              <a:rPr lang="en-US" sz="180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Si</a:t>
            </a:r>
            <a:r>
              <a:rPr lang="en-US" sz="1800" baseline="3000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δ</a:t>
            </a:r>
            <a:r>
              <a:rPr lang="en-US" sz="1800" baseline="300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+ </a:t>
            </a:r>
            <a:r>
              <a:rPr lang="en-US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and </a:t>
            </a:r>
            <a:r>
              <a:rPr lang="en-US" sz="180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F</a:t>
            </a:r>
            <a:r>
              <a:rPr lang="en-US" sz="1800" baseline="3000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δ</a:t>
            </a:r>
            <a:r>
              <a:rPr lang="en-US" sz="1800" baseline="300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-</a:t>
            </a:r>
            <a:r>
              <a:rPr lang="en-US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) is what controls the observed Si-F gauche effect in the neutral compound, upon activation of silicon to form the corresponding silicate (</a:t>
            </a:r>
            <a:r>
              <a:rPr lang="en-US" sz="180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Si</a:t>
            </a:r>
            <a:r>
              <a:rPr lang="en-US" sz="1800" baseline="3000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δ</a:t>
            </a:r>
            <a:r>
              <a:rPr lang="en-US" sz="1800" baseline="300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-</a:t>
            </a:r>
            <a:r>
              <a:rPr lang="en-US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) during Tamao-Fleming oxidation, this attraction would then become a repulsion.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78368BE-5AA9-241D-A46E-C9B8CA631067}"/>
              </a:ext>
            </a:extLst>
          </p:cNvPr>
          <p:cNvSpPr txBox="1"/>
          <p:nvPr/>
        </p:nvSpPr>
        <p:spPr>
          <a:xfrm>
            <a:off x="11814628" y="6518740"/>
            <a:ext cx="34176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67</a:t>
            </a:r>
          </a:p>
        </p:txBody>
      </p:sp>
    </p:spTree>
    <p:extLst>
      <p:ext uri="{BB962C8B-B14F-4D97-AF65-F5344CB8AC3E}">
        <p14:creationId xmlns:p14="http://schemas.microsoft.com/office/powerpoint/2010/main" val="153940338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0BFDFC6D-8E6A-4EB3-693B-D979CC476DA7}"/>
              </a:ext>
            </a:extLst>
          </p:cNvPr>
          <p:cNvSpPr/>
          <p:nvPr/>
        </p:nvSpPr>
        <p:spPr>
          <a:xfrm>
            <a:off x="3888711" y="1928069"/>
            <a:ext cx="1276141" cy="503631"/>
          </a:xfrm>
          <a:prstGeom prst="rect">
            <a:avLst/>
          </a:prstGeom>
          <a:solidFill>
            <a:schemeClr val="bg2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9E8439D-B692-15AD-2862-88C751507AA1}"/>
              </a:ext>
            </a:extLst>
          </p:cNvPr>
          <p:cNvSpPr/>
          <p:nvPr/>
        </p:nvSpPr>
        <p:spPr>
          <a:xfrm>
            <a:off x="5315578" y="1928070"/>
            <a:ext cx="1155559" cy="436806"/>
          </a:xfrm>
          <a:prstGeom prst="rect">
            <a:avLst/>
          </a:prstGeom>
          <a:solidFill>
            <a:schemeClr val="bg2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2" name="Group 14">
            <a:extLst>
              <a:ext uri="{FF2B5EF4-FFF2-40B4-BE49-F238E27FC236}">
                <a16:creationId xmlns:a16="http://schemas.microsoft.com/office/drawing/2014/main" id="{51738637-3B48-4AB2-9C36-E67B2E71945F}"/>
              </a:ext>
            </a:extLst>
          </p:cNvPr>
          <p:cNvGrpSpPr>
            <a:grpSpLocks/>
          </p:cNvGrpSpPr>
          <p:nvPr/>
        </p:nvGrpSpPr>
        <p:grpSpPr bwMode="auto">
          <a:xfrm>
            <a:off x="1" y="268804"/>
            <a:ext cx="9144000" cy="1143000"/>
            <a:chOff x="1" y="76200"/>
            <a:chExt cx="9144000" cy="1143000"/>
          </a:xfrm>
        </p:grpSpPr>
        <p:grpSp>
          <p:nvGrpSpPr>
            <p:cNvPr id="3" name="Group 15">
              <a:extLst>
                <a:ext uri="{FF2B5EF4-FFF2-40B4-BE49-F238E27FC236}">
                  <a16:creationId xmlns:a16="http://schemas.microsoft.com/office/drawing/2014/main" id="{716EF6B6-3437-F151-2583-677DBF35D67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" y="161928"/>
              <a:ext cx="9144000" cy="993788"/>
              <a:chOff x="0" y="102"/>
              <a:chExt cx="5760" cy="626"/>
            </a:xfrm>
          </p:grpSpPr>
          <p:sp>
            <p:nvSpPr>
              <p:cNvPr id="6" name="Rectangle 3">
                <a:extLst>
                  <a:ext uri="{FF2B5EF4-FFF2-40B4-BE49-F238E27FC236}">
                    <a16:creationId xmlns:a16="http://schemas.microsoft.com/office/drawing/2014/main" id="{ED0422D7-5BF9-A45A-53BB-350986F413E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0" y="332"/>
                <a:ext cx="5760" cy="233"/>
              </a:xfrm>
              <a:prstGeom prst="rect">
                <a:avLst/>
              </a:prstGeom>
              <a:gradFill rotWithShape="1">
                <a:gsLst>
                  <a:gs pos="0">
                    <a:srgbClr val="DDDDDD"/>
                  </a:gs>
                  <a:gs pos="100000">
                    <a:schemeClr val="tx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800">
                  <a:latin typeface="Helvetica" panose="020B0604020202020204" pitchFamily="34" charset="0"/>
                  <a:cs typeface="Helvetica" panose="020B0604020202020204" pitchFamily="34" charset="0"/>
                </a:endParaRPr>
              </a:p>
            </p:txBody>
          </p:sp>
          <p:pic>
            <p:nvPicPr>
              <p:cNvPr id="7" name="Picture 5" descr="images">
                <a:extLst>
                  <a:ext uri="{FF2B5EF4-FFF2-40B4-BE49-F238E27FC236}">
                    <a16:creationId xmlns:a16="http://schemas.microsoft.com/office/drawing/2014/main" id="{CED530B3-4ED1-8282-6E47-CC6366C056C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92" y="102"/>
                <a:ext cx="626" cy="6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B6EBA18D-3FF1-35C1-365A-06C53D8E8AFD}"/>
                </a:ext>
              </a:extLst>
            </p:cNvPr>
            <p:cNvSpPr/>
            <p:nvPr/>
          </p:nvSpPr>
          <p:spPr>
            <a:xfrm>
              <a:off x="152400" y="76200"/>
              <a:ext cx="1676400" cy="1143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US">
                <a:latin typeface="Helvetica" panose="020B0604020202020204" pitchFamily="34" charset="0"/>
                <a:cs typeface="Helvetica" panose="020B0604020202020204" pitchFamily="34" charset="0"/>
              </a:endParaRPr>
            </a:p>
          </p:txBody>
        </p:sp>
        <p:pic>
          <p:nvPicPr>
            <p:cNvPr id="5" name="Picture 4" descr="http://images.wikia.com/logopedia/images/4/4a/Western_Washington_University_2010.png">
              <a:extLst>
                <a:ext uri="{FF2B5EF4-FFF2-40B4-BE49-F238E27FC236}">
                  <a16:creationId xmlns:a16="http://schemas.microsoft.com/office/drawing/2014/main" id="{2EC3E560-7819-6B5C-6FBC-668F3CD7F22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1237" y="76200"/>
              <a:ext cx="1663602" cy="838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8AE07615-3D8F-7CBE-1006-6680CB2FDA82}"/>
              </a:ext>
            </a:extLst>
          </p:cNvPr>
          <p:cNvSpPr txBox="1"/>
          <p:nvPr/>
        </p:nvSpPr>
        <p:spPr>
          <a:xfrm>
            <a:off x="1814839" y="123796"/>
            <a:ext cx="158088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accent1"/>
                </a:solidFill>
                <a:latin typeface="+mj-lt"/>
              </a:rPr>
              <a:t>Conclusion </a:t>
            </a:r>
          </a:p>
        </p:txBody>
      </p:sp>
      <p:graphicFrame>
        <p:nvGraphicFramePr>
          <p:cNvPr id="10" name="Object 9">
            <a:extLst>
              <a:ext uri="{FF2B5EF4-FFF2-40B4-BE49-F238E27FC236}">
                <a16:creationId xmlns:a16="http://schemas.microsoft.com/office/drawing/2014/main" id="{6D451541-C4FA-8D58-5508-8913DDC9634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24006003"/>
              </p:ext>
            </p:extLst>
          </p:nvPr>
        </p:nvGraphicFramePr>
        <p:xfrm>
          <a:off x="6991686" y="1928070"/>
          <a:ext cx="4304629" cy="6692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4" imgW="3587191" imgH="557680" progId="ChemDraw.Document.6.0">
                  <p:embed/>
                </p:oleObj>
              </mc:Choice>
              <mc:Fallback>
                <p:oleObj name="CS ChemDraw Drawing" r:id="rId4" imgW="3587191" imgH="557680" progId="ChemDraw.Document.6.0">
                  <p:embed/>
                  <p:pic>
                    <p:nvPicPr>
                      <p:cNvPr id="10" name="Object 9">
                        <a:extLst>
                          <a:ext uri="{FF2B5EF4-FFF2-40B4-BE49-F238E27FC236}">
                            <a16:creationId xmlns:a16="http://schemas.microsoft.com/office/drawing/2014/main" id="{6D451541-C4FA-8D58-5508-8913DDC9634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991686" y="1928070"/>
                        <a:ext cx="4304629" cy="6692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84754282-8AA3-FBB3-8188-84B7BFA6AA04}"/>
              </a:ext>
            </a:extLst>
          </p:cNvPr>
          <p:cNvSpPr txBox="1"/>
          <p:nvPr/>
        </p:nvSpPr>
        <p:spPr>
          <a:xfrm>
            <a:off x="3177320" y="1531249"/>
            <a:ext cx="7453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Scope</a:t>
            </a:r>
            <a:endParaRPr lang="en-GB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8204308-0608-F9E1-E16A-382DC14C4A01}"/>
              </a:ext>
            </a:extLst>
          </p:cNvPr>
          <p:cNvSpPr txBox="1"/>
          <p:nvPr/>
        </p:nvSpPr>
        <p:spPr>
          <a:xfrm>
            <a:off x="8452216" y="1544983"/>
            <a:ext cx="17661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Tamao Oxidation</a:t>
            </a:r>
            <a:endParaRPr lang="en-GB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61F2091-4D27-E8AF-9CA2-4F488B431EE1}"/>
              </a:ext>
            </a:extLst>
          </p:cNvPr>
          <p:cNvCxnSpPr>
            <a:cxnSpLocks/>
          </p:cNvCxnSpPr>
          <p:nvPr/>
        </p:nvCxnSpPr>
        <p:spPr>
          <a:xfrm>
            <a:off x="199112" y="3761392"/>
            <a:ext cx="6393217" cy="508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7" name="Object 16">
            <a:extLst>
              <a:ext uri="{FF2B5EF4-FFF2-40B4-BE49-F238E27FC236}">
                <a16:creationId xmlns:a16="http://schemas.microsoft.com/office/drawing/2014/main" id="{4B3E713C-5891-BC06-4ED5-1EABEACFCED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05726878"/>
              </p:ext>
            </p:extLst>
          </p:nvPr>
        </p:nvGraphicFramePr>
        <p:xfrm>
          <a:off x="8582025" y="3741738"/>
          <a:ext cx="1508125" cy="1722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6" imgW="1256995" imgH="1435192" progId="ChemDraw.Document.6.0">
                  <p:embed/>
                </p:oleObj>
              </mc:Choice>
              <mc:Fallback>
                <p:oleObj name="CS ChemDraw Drawing" r:id="rId6" imgW="1256995" imgH="1435192" progId="ChemDraw.Document.6.0">
                  <p:embed/>
                  <p:pic>
                    <p:nvPicPr>
                      <p:cNvPr id="17" name="Object 16">
                        <a:extLst>
                          <a:ext uri="{FF2B5EF4-FFF2-40B4-BE49-F238E27FC236}">
                            <a16:creationId xmlns:a16="http://schemas.microsoft.com/office/drawing/2014/main" id="{4B3E713C-5891-BC06-4ED5-1EABEACFCED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8582025" y="3741738"/>
                        <a:ext cx="1508125" cy="17224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28D0922E-62C2-030F-D1BD-9EF71E9BC747}"/>
              </a:ext>
            </a:extLst>
          </p:cNvPr>
          <p:cNvSpPr txBox="1"/>
          <p:nvPr/>
        </p:nvSpPr>
        <p:spPr>
          <a:xfrm>
            <a:off x="8070713" y="3123576"/>
            <a:ext cx="2529191" cy="669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First report of a silicon-fluorine </a:t>
            </a:r>
            <a:r>
              <a:rPr lang="en-US" i="1" dirty="0"/>
              <a:t>gauche</a:t>
            </a:r>
            <a:r>
              <a:rPr lang="en-US" dirty="0"/>
              <a:t> effect</a:t>
            </a:r>
            <a:endParaRPr lang="en-GB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19CD0B2-952B-8C28-85DF-64194AB2D67C}"/>
              </a:ext>
            </a:extLst>
          </p:cNvPr>
          <p:cNvSpPr txBox="1"/>
          <p:nvPr/>
        </p:nvSpPr>
        <p:spPr>
          <a:xfrm>
            <a:off x="11814628" y="6518740"/>
            <a:ext cx="34176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68</a:t>
            </a:r>
          </a:p>
        </p:txBody>
      </p:sp>
      <p:graphicFrame>
        <p:nvGraphicFramePr>
          <p:cNvPr id="9" name="Object 8">
            <a:extLst>
              <a:ext uri="{FF2B5EF4-FFF2-40B4-BE49-F238E27FC236}">
                <a16:creationId xmlns:a16="http://schemas.microsoft.com/office/drawing/2014/main" id="{8B1918FB-7483-226C-4FD9-CD291A95F90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05785579"/>
              </p:ext>
            </p:extLst>
          </p:nvPr>
        </p:nvGraphicFramePr>
        <p:xfrm>
          <a:off x="198438" y="1909763"/>
          <a:ext cx="6396037" cy="3663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8" imgW="5329123" imgH="3053680" progId="ChemDraw.Document.6.0">
                  <p:embed/>
                </p:oleObj>
              </mc:Choice>
              <mc:Fallback>
                <p:oleObj name="CS ChemDraw Drawing" r:id="rId8" imgW="5329123" imgH="3053680" progId="ChemDraw.Document.6.0">
                  <p:embed/>
                  <p:pic>
                    <p:nvPicPr>
                      <p:cNvPr id="9" name="Object 8">
                        <a:extLst>
                          <a:ext uri="{FF2B5EF4-FFF2-40B4-BE49-F238E27FC236}">
                            <a16:creationId xmlns:a16="http://schemas.microsoft.com/office/drawing/2014/main" id="{8B1918FB-7483-226C-4FD9-CD291A95F90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98438" y="1909763"/>
                        <a:ext cx="6396037" cy="36639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1083191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13C7E5-5F83-1C36-2111-220FE0F7C2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70546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chemeClr val="accent1">
                    <a:lumMod val="75000"/>
                  </a:schemeClr>
                </a:solidFill>
              </a:rPr>
              <a:t>Advisor:</a:t>
            </a:r>
          </a:p>
          <a:p>
            <a:pPr marL="0" indent="0">
              <a:buNone/>
            </a:pPr>
            <a:r>
              <a:rPr lang="en-US" sz="1800" dirty="0"/>
              <a:t>Dr. Gregory O’Neil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chemeClr val="accent1">
                    <a:lumMod val="75000"/>
                  </a:schemeClr>
                </a:solidFill>
              </a:rPr>
              <a:t>Group Members:</a:t>
            </a:r>
          </a:p>
          <a:p>
            <a:pPr marL="0" indent="0">
              <a:buNone/>
            </a:pPr>
            <a:r>
              <a:rPr lang="en-US" sz="1800" b="1" dirty="0"/>
              <a:t>Adam Jones</a:t>
            </a:r>
          </a:p>
          <a:p>
            <a:pPr marL="0" indent="0">
              <a:buNone/>
            </a:pPr>
            <a:r>
              <a:rPr lang="en-US" sz="1800" dirty="0"/>
              <a:t>Dr. Berger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grpSp>
        <p:nvGrpSpPr>
          <p:cNvPr id="5" name="Group 14">
            <a:extLst>
              <a:ext uri="{FF2B5EF4-FFF2-40B4-BE49-F238E27FC236}">
                <a16:creationId xmlns:a16="http://schemas.microsoft.com/office/drawing/2014/main" id="{D3D0B858-F11F-8490-FA15-A1989F06C6A7}"/>
              </a:ext>
            </a:extLst>
          </p:cNvPr>
          <p:cNvGrpSpPr>
            <a:grpSpLocks/>
          </p:cNvGrpSpPr>
          <p:nvPr/>
        </p:nvGrpSpPr>
        <p:grpSpPr bwMode="auto">
          <a:xfrm>
            <a:off x="0" y="268804"/>
            <a:ext cx="9144000" cy="1143000"/>
            <a:chOff x="0" y="76200"/>
            <a:chExt cx="9144000" cy="1143000"/>
          </a:xfrm>
        </p:grpSpPr>
        <p:grpSp>
          <p:nvGrpSpPr>
            <p:cNvPr id="6" name="Group 15">
              <a:extLst>
                <a:ext uri="{FF2B5EF4-FFF2-40B4-BE49-F238E27FC236}">
                  <a16:creationId xmlns:a16="http://schemas.microsoft.com/office/drawing/2014/main" id="{6405DECB-8BA5-0DAA-0F22-C447961FF9B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161928"/>
              <a:ext cx="9144000" cy="993788"/>
              <a:chOff x="0" y="102"/>
              <a:chExt cx="5760" cy="626"/>
            </a:xfrm>
          </p:grpSpPr>
          <p:sp>
            <p:nvSpPr>
              <p:cNvPr id="9" name="Rectangle 3">
                <a:extLst>
                  <a:ext uri="{FF2B5EF4-FFF2-40B4-BE49-F238E27FC236}">
                    <a16:creationId xmlns:a16="http://schemas.microsoft.com/office/drawing/2014/main" id="{AD48A1AF-79E3-C1B6-58DE-5B1DFE5B2A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0" y="435"/>
                <a:ext cx="5760" cy="27"/>
              </a:xfrm>
              <a:prstGeom prst="rect">
                <a:avLst/>
              </a:prstGeom>
              <a:gradFill rotWithShape="1">
                <a:gsLst>
                  <a:gs pos="0">
                    <a:srgbClr val="DDDDDD"/>
                  </a:gs>
                  <a:gs pos="100000">
                    <a:schemeClr val="tx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800"/>
              </a:p>
            </p:txBody>
          </p:sp>
          <p:sp>
            <p:nvSpPr>
              <p:cNvPr id="10" name="Rectangle 4">
                <a:extLst>
                  <a:ext uri="{FF2B5EF4-FFF2-40B4-BE49-F238E27FC236}">
                    <a16:creationId xmlns:a16="http://schemas.microsoft.com/office/drawing/2014/main" id="{57947C01-26F5-5AE8-DEFD-CDCCFC03751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0" y="362"/>
                <a:ext cx="5760" cy="66"/>
              </a:xfrm>
              <a:prstGeom prst="rect">
                <a:avLst/>
              </a:prstGeom>
              <a:gradFill rotWithShape="1">
                <a:gsLst>
                  <a:gs pos="0">
                    <a:srgbClr val="DDDDDD"/>
                  </a:gs>
                  <a:gs pos="100000">
                    <a:schemeClr val="tx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800"/>
              </a:p>
            </p:txBody>
          </p:sp>
          <p:pic>
            <p:nvPicPr>
              <p:cNvPr id="11" name="Picture 5" descr="images">
                <a:extLst>
                  <a:ext uri="{FF2B5EF4-FFF2-40B4-BE49-F238E27FC236}">
                    <a16:creationId xmlns:a16="http://schemas.microsoft.com/office/drawing/2014/main" id="{58FB8A77-E05D-F490-E6E4-CE73263A47E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92" y="102"/>
                <a:ext cx="626" cy="6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DD37A5A5-A93E-8432-E1A6-5897D9DA8321}"/>
                </a:ext>
              </a:extLst>
            </p:cNvPr>
            <p:cNvSpPr/>
            <p:nvPr/>
          </p:nvSpPr>
          <p:spPr>
            <a:xfrm>
              <a:off x="152400" y="76200"/>
              <a:ext cx="1676400" cy="1143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US"/>
            </a:p>
          </p:txBody>
        </p:sp>
        <p:pic>
          <p:nvPicPr>
            <p:cNvPr id="8" name="Picture 4" descr="http://images.wikia.com/logopedia/images/4/4a/Western_Washington_University_2010.png">
              <a:extLst>
                <a:ext uri="{FF2B5EF4-FFF2-40B4-BE49-F238E27FC236}">
                  <a16:creationId xmlns:a16="http://schemas.microsoft.com/office/drawing/2014/main" id="{3F98727F-5FB8-37D4-AB7C-6A9950C94D4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1237" y="76200"/>
              <a:ext cx="1663602" cy="838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2" name="Text Box 7">
            <a:extLst>
              <a:ext uri="{FF2B5EF4-FFF2-40B4-BE49-F238E27FC236}">
                <a16:creationId xmlns:a16="http://schemas.microsoft.com/office/drawing/2014/main" id="{BD7703B7-278E-085D-0B20-09A057EE81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66076" y="362598"/>
            <a:ext cx="235192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lvl="0" fontAlgn="base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800" b="1" i="1" dirty="0">
                <a:solidFill>
                  <a:srgbClr val="1F497D"/>
                </a:solidFill>
                <a:latin typeface="Helvetica" panose="020B0604020202020204" pitchFamily="34" charset="0"/>
                <a:cs typeface="Arial" panose="020B0604020202020204" pitchFamily="34" charset="0"/>
              </a:rPr>
              <a:t>Acknowledgements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41CCC96-CBE1-95B5-62FE-507CFC4DC6C0}"/>
              </a:ext>
            </a:extLst>
          </p:cNvPr>
          <p:cNvSpPr txBox="1"/>
          <p:nvPr/>
        </p:nvSpPr>
        <p:spPr>
          <a:xfrm>
            <a:off x="4843317" y="1942679"/>
            <a:ext cx="100219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accent1">
                    <a:lumMod val="75000"/>
                  </a:schemeClr>
                </a:solidFill>
              </a:rPr>
              <a:t>Funding:</a:t>
            </a:r>
          </a:p>
          <a:p>
            <a:endParaRPr lang="en-US" dirty="0"/>
          </a:p>
        </p:txBody>
      </p:sp>
      <p:pic>
        <p:nvPicPr>
          <p:cNvPr id="13" name="Picture 2">
            <a:extLst>
              <a:ext uri="{FF2B5EF4-FFF2-40B4-BE49-F238E27FC236}">
                <a16:creationId xmlns:a16="http://schemas.microsoft.com/office/drawing/2014/main" id="{48617D62-6DDC-487C-1879-29E6A21109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8002" y="2321552"/>
            <a:ext cx="1992239" cy="15318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56CF5DF3-FD3B-9840-6F28-652310A58053}"/>
              </a:ext>
            </a:extLst>
          </p:cNvPr>
          <p:cNvSpPr txBox="1"/>
          <p:nvPr/>
        </p:nvSpPr>
        <p:spPr>
          <a:xfrm>
            <a:off x="11814628" y="6518740"/>
            <a:ext cx="34176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69</a:t>
            </a:r>
          </a:p>
        </p:txBody>
      </p:sp>
    </p:spTree>
    <p:extLst>
      <p:ext uri="{BB962C8B-B14F-4D97-AF65-F5344CB8AC3E}">
        <p14:creationId xmlns:p14="http://schemas.microsoft.com/office/powerpoint/2010/main" val="22090470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8552</TotalTime>
  <Words>2791</Words>
  <Application>Microsoft Office PowerPoint</Application>
  <PresentationFormat>Widescreen</PresentationFormat>
  <Paragraphs>439</Paragraphs>
  <Slides>39</Slides>
  <Notes>2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7" baseType="lpstr">
      <vt:lpstr>Arial</vt:lpstr>
      <vt:lpstr>Calibri</vt:lpstr>
      <vt:lpstr>Calibri Light</vt:lpstr>
      <vt:lpstr>Cambria Math</vt:lpstr>
      <vt:lpstr>Helvetica</vt:lpstr>
      <vt:lpstr>Times New Roman</vt:lpstr>
      <vt:lpstr>Office Theme</vt:lpstr>
      <vt:lpstr>CS ChemDraw Drawing</vt:lpstr>
      <vt:lpstr>Regioselective Fluorohydrin Synthesis from Allylsilanes and Evidence for a Silicon-Fluorine Gauche Effect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New Synthetic Methods Based on Silicon-Tethered Nucleophilic Addition Reactions</dc:title>
  <dc:creator>Alexie Clover</dc:creator>
  <cp:lastModifiedBy>Alexie Clover</cp:lastModifiedBy>
  <cp:revision>8</cp:revision>
  <dcterms:created xsi:type="dcterms:W3CDTF">2023-05-18T17:37:39Z</dcterms:created>
  <dcterms:modified xsi:type="dcterms:W3CDTF">2024-01-08T05:38:10Z</dcterms:modified>
</cp:coreProperties>
</file>